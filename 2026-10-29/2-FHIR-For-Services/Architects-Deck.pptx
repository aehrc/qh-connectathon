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A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AU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AU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A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AU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AU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AU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AU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AU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AU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AU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" name=""/>
          <p:cNvSpPr txBox="1"/>
          <p:nvPr/>
        </p:nvSpPr>
        <p:spPr>
          <a:xfrm>
            <a:off x="666720" y="2282040"/>
            <a:ext cx="5752440" cy="629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4050" spc="-1" strike="noStrike">
                <a:solidFill>
                  <a:srgbClr val="ffffff"/>
                </a:solidFill>
                <a:latin typeface="Calibri"/>
                <a:ea typeface="Calibri"/>
              </a:rPr>
              <a:t>FHIR services for architects</a:t>
            </a:r>
            <a:endParaRPr b="0" lang="en-AU" sz="4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"/>
          <p:cNvSpPr txBox="1"/>
          <p:nvPr/>
        </p:nvSpPr>
        <p:spPr>
          <a:xfrm>
            <a:off x="666720" y="3318840"/>
            <a:ext cx="580860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250" spc="-1" strike="noStrike">
                <a:solidFill>
                  <a:srgbClr val="00a9ce"/>
                </a:solidFill>
                <a:latin typeface="Calibri"/>
                <a:ea typeface="Calibri"/>
              </a:rPr>
              <a:t>What do I need, what exists, and how does it ﬁt?</a:t>
            </a:r>
            <a:endParaRPr b="0" lang="en-AU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666720" y="3916080"/>
            <a:ext cx="26722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c7d0d6"/>
                </a:solidFill>
                <a:latin typeface="Calibri"/>
                <a:ea typeface="Calibri"/>
              </a:rPr>
              <a:t>Jörn Guy Süß · AEHRC, CSIRO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666720" y="4259160"/>
            <a:ext cx="45529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c7d0d6"/>
                </a:solidFill>
                <a:latin typeface="Calibri"/>
                <a:ea typeface="Calibri"/>
              </a:rPr>
              <a:t>Track 2: FHIR for Services · Architecture breakout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666720" y="247644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666720" y="2006280"/>
            <a:ext cx="398916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The architect's four questions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918000" y="2688480"/>
            <a:ext cx="60282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1.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Find.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Who oﬀers what, and which codes do we agree on?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918000" y="3116880"/>
            <a:ext cx="54928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2.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Do.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How is work requested, tracked and scheduled?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918000" y="3555360"/>
            <a:ext cx="47768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3.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Connect.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How does the legacy estate join in?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918000" y="3983760"/>
            <a:ext cx="34434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4.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Prove.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How do I know it works?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666720" y="4507560"/>
            <a:ext cx="84697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And for each one: </a:t>
            </a:r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what is there to reuse, what is mine to build, and where do I look?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2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666720" y="1828440"/>
            <a:ext cx="10858680" cy="29160"/>
          </a:xfrm>
          <a:custGeom>
            <a:avLst/>
            <a:gdLst/>
            <a:ahLst/>
            <a:rect l="0" t="0" r="r" b="b"/>
            <a:pathLst>
              <a:path w="30163" h="81">
                <a:moveTo>
                  <a:pt x="0" y="0"/>
                </a:moveTo>
                <a:lnTo>
                  <a:pt x="30163" y="0"/>
                </a:lnTo>
                <a:lnTo>
                  <a:pt x="3016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" name=""/>
          <p:cNvSpPr/>
          <p:nvPr/>
        </p:nvSpPr>
        <p:spPr>
          <a:xfrm>
            <a:off x="755640" y="2369160"/>
            <a:ext cx="2499840" cy="2162160"/>
          </a:xfrm>
          <a:custGeom>
            <a:avLst/>
            <a:gdLst/>
            <a:ahLst/>
            <a:rect l="0" t="0" r="r" b="b"/>
            <a:pathLst>
              <a:path w="6944" h="6006">
                <a:moveTo>
                  <a:pt x="177" y="0"/>
                </a:moveTo>
                <a:lnTo>
                  <a:pt x="6767" y="0"/>
                </a:lnTo>
                <a:cubicBezTo>
                  <a:pt x="6779" y="0"/>
                  <a:pt x="6791" y="1"/>
                  <a:pt x="6802" y="3"/>
                </a:cubicBezTo>
                <a:cubicBezTo>
                  <a:pt x="6813" y="5"/>
                  <a:pt x="6824" y="9"/>
                  <a:pt x="6835" y="13"/>
                </a:cubicBezTo>
                <a:cubicBezTo>
                  <a:pt x="6846" y="18"/>
                  <a:pt x="6856" y="23"/>
                  <a:pt x="6866" y="29"/>
                </a:cubicBezTo>
                <a:cubicBezTo>
                  <a:pt x="6875" y="36"/>
                  <a:pt x="6884" y="43"/>
                  <a:pt x="6892" y="51"/>
                </a:cubicBezTo>
                <a:cubicBezTo>
                  <a:pt x="6901" y="60"/>
                  <a:pt x="6908" y="69"/>
                  <a:pt x="6914" y="78"/>
                </a:cubicBezTo>
                <a:cubicBezTo>
                  <a:pt x="6921" y="88"/>
                  <a:pt x="6926" y="98"/>
                  <a:pt x="6931" y="109"/>
                </a:cubicBezTo>
                <a:cubicBezTo>
                  <a:pt x="6935" y="120"/>
                  <a:pt x="6939" y="131"/>
                  <a:pt x="6941" y="142"/>
                </a:cubicBezTo>
                <a:cubicBezTo>
                  <a:pt x="6943" y="153"/>
                  <a:pt x="6944" y="165"/>
                  <a:pt x="6944" y="176"/>
                </a:cubicBezTo>
                <a:lnTo>
                  <a:pt x="6944" y="5829"/>
                </a:lnTo>
                <a:cubicBezTo>
                  <a:pt x="6944" y="5840"/>
                  <a:pt x="6943" y="5852"/>
                  <a:pt x="6941" y="5863"/>
                </a:cubicBezTo>
                <a:cubicBezTo>
                  <a:pt x="6939" y="5875"/>
                  <a:pt x="6935" y="5886"/>
                  <a:pt x="6931" y="5896"/>
                </a:cubicBezTo>
                <a:cubicBezTo>
                  <a:pt x="6926" y="5907"/>
                  <a:pt x="6921" y="5917"/>
                  <a:pt x="6914" y="5927"/>
                </a:cubicBezTo>
                <a:cubicBezTo>
                  <a:pt x="6908" y="5937"/>
                  <a:pt x="6901" y="5946"/>
                  <a:pt x="6892" y="5954"/>
                </a:cubicBezTo>
                <a:cubicBezTo>
                  <a:pt x="6884" y="5962"/>
                  <a:pt x="6875" y="5969"/>
                  <a:pt x="6866" y="5976"/>
                </a:cubicBezTo>
                <a:cubicBezTo>
                  <a:pt x="6856" y="5982"/>
                  <a:pt x="6846" y="5988"/>
                  <a:pt x="6835" y="5992"/>
                </a:cubicBezTo>
                <a:cubicBezTo>
                  <a:pt x="6824" y="5997"/>
                  <a:pt x="6813" y="6000"/>
                  <a:pt x="6802" y="6002"/>
                </a:cubicBezTo>
                <a:cubicBezTo>
                  <a:pt x="6791" y="6004"/>
                  <a:pt x="6779" y="6006"/>
                  <a:pt x="6767" y="6006"/>
                </a:cubicBezTo>
                <a:lnTo>
                  <a:pt x="177" y="6006"/>
                </a:lnTo>
                <a:cubicBezTo>
                  <a:pt x="165" y="6006"/>
                  <a:pt x="154" y="6004"/>
                  <a:pt x="142" y="6002"/>
                </a:cubicBezTo>
                <a:cubicBezTo>
                  <a:pt x="131" y="6000"/>
                  <a:pt x="120" y="5997"/>
                  <a:pt x="109" y="5992"/>
                </a:cubicBezTo>
                <a:cubicBezTo>
                  <a:pt x="99" y="5988"/>
                  <a:pt x="88" y="5982"/>
                  <a:pt x="79" y="5976"/>
                </a:cubicBezTo>
                <a:cubicBezTo>
                  <a:pt x="69" y="5969"/>
                  <a:pt x="60" y="5962"/>
                  <a:pt x="52" y="5954"/>
                </a:cubicBezTo>
                <a:cubicBezTo>
                  <a:pt x="44" y="5946"/>
                  <a:pt x="36" y="5937"/>
                  <a:pt x="30" y="5927"/>
                </a:cubicBezTo>
                <a:cubicBezTo>
                  <a:pt x="23" y="5917"/>
                  <a:pt x="18" y="5907"/>
                  <a:pt x="14" y="5896"/>
                </a:cubicBezTo>
                <a:cubicBezTo>
                  <a:pt x="9" y="5886"/>
                  <a:pt x="6" y="5875"/>
                  <a:pt x="4" y="5863"/>
                </a:cubicBezTo>
                <a:cubicBezTo>
                  <a:pt x="1" y="5852"/>
                  <a:pt x="0" y="5840"/>
                  <a:pt x="0" y="5829"/>
                </a:cubicBezTo>
                <a:lnTo>
                  <a:pt x="0" y="176"/>
                </a:lnTo>
                <a:cubicBezTo>
                  <a:pt x="0" y="165"/>
                  <a:pt x="1" y="153"/>
                  <a:pt x="4" y="142"/>
                </a:cubicBezTo>
                <a:cubicBezTo>
                  <a:pt x="6" y="131"/>
                  <a:pt x="9" y="120"/>
                  <a:pt x="14" y="109"/>
                </a:cubicBezTo>
                <a:cubicBezTo>
                  <a:pt x="18" y="98"/>
                  <a:pt x="23" y="88"/>
                  <a:pt x="30" y="78"/>
                </a:cubicBezTo>
                <a:cubicBezTo>
                  <a:pt x="36" y="69"/>
                  <a:pt x="44" y="60"/>
                  <a:pt x="52" y="51"/>
                </a:cubicBezTo>
                <a:cubicBezTo>
                  <a:pt x="60" y="43"/>
                  <a:pt x="69" y="36"/>
                  <a:pt x="79" y="29"/>
                </a:cubicBezTo>
                <a:cubicBezTo>
                  <a:pt x="88" y="23"/>
                  <a:pt x="99" y="18"/>
                  <a:pt x="109" y="13"/>
                </a:cubicBezTo>
                <a:cubicBezTo>
                  <a:pt x="120" y="9"/>
                  <a:pt x="131" y="5"/>
                  <a:pt x="142" y="3"/>
                </a:cubicBezTo>
                <a:cubicBezTo>
                  <a:pt x="154" y="1"/>
                  <a:pt x="165" y="0"/>
                  <a:pt x="177" y="0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755640" y="2369160"/>
            <a:ext cx="2499840" cy="2162160"/>
          </a:xfrm>
          <a:custGeom>
            <a:avLst/>
            <a:gdLst/>
            <a:ahLst/>
            <a:rect l="0" t="0" r="r" b="b"/>
            <a:pathLst>
              <a:path w="6944" h="6006">
                <a:moveTo>
                  <a:pt x="177" y="0"/>
                </a:moveTo>
                <a:lnTo>
                  <a:pt x="6767" y="0"/>
                </a:lnTo>
                <a:cubicBezTo>
                  <a:pt x="6779" y="0"/>
                  <a:pt x="6791" y="1"/>
                  <a:pt x="6802" y="3"/>
                </a:cubicBezTo>
                <a:cubicBezTo>
                  <a:pt x="6813" y="5"/>
                  <a:pt x="6824" y="9"/>
                  <a:pt x="6835" y="13"/>
                </a:cubicBezTo>
                <a:cubicBezTo>
                  <a:pt x="6846" y="18"/>
                  <a:pt x="6856" y="23"/>
                  <a:pt x="6866" y="29"/>
                </a:cubicBezTo>
                <a:cubicBezTo>
                  <a:pt x="6875" y="36"/>
                  <a:pt x="6884" y="43"/>
                  <a:pt x="6892" y="51"/>
                </a:cubicBezTo>
                <a:cubicBezTo>
                  <a:pt x="6901" y="60"/>
                  <a:pt x="6908" y="69"/>
                  <a:pt x="6914" y="78"/>
                </a:cubicBezTo>
                <a:cubicBezTo>
                  <a:pt x="6921" y="88"/>
                  <a:pt x="6926" y="98"/>
                  <a:pt x="6931" y="109"/>
                </a:cubicBezTo>
                <a:cubicBezTo>
                  <a:pt x="6935" y="120"/>
                  <a:pt x="6939" y="131"/>
                  <a:pt x="6941" y="142"/>
                </a:cubicBezTo>
                <a:cubicBezTo>
                  <a:pt x="6943" y="153"/>
                  <a:pt x="6944" y="165"/>
                  <a:pt x="6944" y="176"/>
                </a:cubicBezTo>
                <a:lnTo>
                  <a:pt x="6944" y="5829"/>
                </a:lnTo>
                <a:cubicBezTo>
                  <a:pt x="6944" y="5840"/>
                  <a:pt x="6943" y="5852"/>
                  <a:pt x="6941" y="5863"/>
                </a:cubicBezTo>
                <a:cubicBezTo>
                  <a:pt x="6939" y="5875"/>
                  <a:pt x="6935" y="5886"/>
                  <a:pt x="6931" y="5896"/>
                </a:cubicBezTo>
                <a:cubicBezTo>
                  <a:pt x="6926" y="5907"/>
                  <a:pt x="6921" y="5917"/>
                  <a:pt x="6914" y="5927"/>
                </a:cubicBezTo>
                <a:cubicBezTo>
                  <a:pt x="6908" y="5937"/>
                  <a:pt x="6901" y="5946"/>
                  <a:pt x="6892" y="5954"/>
                </a:cubicBezTo>
                <a:cubicBezTo>
                  <a:pt x="6884" y="5962"/>
                  <a:pt x="6875" y="5969"/>
                  <a:pt x="6866" y="5976"/>
                </a:cubicBezTo>
                <a:cubicBezTo>
                  <a:pt x="6856" y="5982"/>
                  <a:pt x="6846" y="5988"/>
                  <a:pt x="6835" y="5992"/>
                </a:cubicBezTo>
                <a:cubicBezTo>
                  <a:pt x="6824" y="5997"/>
                  <a:pt x="6813" y="6000"/>
                  <a:pt x="6802" y="6002"/>
                </a:cubicBezTo>
                <a:cubicBezTo>
                  <a:pt x="6791" y="6004"/>
                  <a:pt x="6779" y="6006"/>
                  <a:pt x="6767" y="6006"/>
                </a:cubicBezTo>
                <a:lnTo>
                  <a:pt x="177" y="6006"/>
                </a:lnTo>
                <a:cubicBezTo>
                  <a:pt x="165" y="6006"/>
                  <a:pt x="154" y="6004"/>
                  <a:pt x="142" y="6002"/>
                </a:cubicBezTo>
                <a:cubicBezTo>
                  <a:pt x="131" y="6000"/>
                  <a:pt x="120" y="5997"/>
                  <a:pt x="109" y="5992"/>
                </a:cubicBezTo>
                <a:cubicBezTo>
                  <a:pt x="99" y="5988"/>
                  <a:pt x="88" y="5982"/>
                  <a:pt x="79" y="5976"/>
                </a:cubicBezTo>
                <a:cubicBezTo>
                  <a:pt x="69" y="5969"/>
                  <a:pt x="60" y="5962"/>
                  <a:pt x="52" y="5954"/>
                </a:cubicBezTo>
                <a:cubicBezTo>
                  <a:pt x="44" y="5946"/>
                  <a:pt x="36" y="5937"/>
                  <a:pt x="30" y="5927"/>
                </a:cubicBezTo>
                <a:cubicBezTo>
                  <a:pt x="23" y="5917"/>
                  <a:pt x="18" y="5907"/>
                  <a:pt x="14" y="5896"/>
                </a:cubicBezTo>
                <a:cubicBezTo>
                  <a:pt x="9" y="5886"/>
                  <a:pt x="6" y="5875"/>
                  <a:pt x="4" y="5863"/>
                </a:cubicBezTo>
                <a:cubicBezTo>
                  <a:pt x="1" y="5852"/>
                  <a:pt x="0" y="5840"/>
                  <a:pt x="0" y="5829"/>
                </a:cubicBezTo>
                <a:lnTo>
                  <a:pt x="0" y="176"/>
                </a:lnTo>
                <a:cubicBezTo>
                  <a:pt x="0" y="165"/>
                  <a:pt x="1" y="153"/>
                  <a:pt x="4" y="142"/>
                </a:cubicBezTo>
                <a:cubicBezTo>
                  <a:pt x="6" y="131"/>
                  <a:pt x="9" y="120"/>
                  <a:pt x="14" y="109"/>
                </a:cubicBezTo>
                <a:cubicBezTo>
                  <a:pt x="18" y="98"/>
                  <a:pt x="23" y="88"/>
                  <a:pt x="30" y="78"/>
                </a:cubicBezTo>
                <a:cubicBezTo>
                  <a:pt x="36" y="69"/>
                  <a:pt x="44" y="60"/>
                  <a:pt x="52" y="51"/>
                </a:cubicBezTo>
                <a:cubicBezTo>
                  <a:pt x="60" y="43"/>
                  <a:pt x="69" y="36"/>
                  <a:pt x="79" y="29"/>
                </a:cubicBezTo>
                <a:cubicBezTo>
                  <a:pt x="88" y="23"/>
                  <a:pt x="99" y="18"/>
                  <a:pt x="109" y="13"/>
                </a:cubicBezTo>
                <a:cubicBezTo>
                  <a:pt x="120" y="9"/>
                  <a:pt x="131" y="5"/>
                  <a:pt x="142" y="3"/>
                </a:cubicBezTo>
                <a:cubicBezTo>
                  <a:pt x="154" y="1"/>
                  <a:pt x="165" y="0"/>
                  <a:pt x="177" y="0"/>
                </a:cubicBezTo>
                <a:close/>
              </a:path>
            </a:pathLst>
          </a:custGeom>
          <a:noFill/>
          <a:ln w="6120">
            <a:solidFill>
              <a:srgbClr val="757579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666720" y="1358640"/>
            <a:ext cx="310968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Four families of service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883080" y="2529360"/>
            <a:ext cx="703440" cy="34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210" spc="-1" strike="noStrike">
                <a:solidFill>
                  <a:srgbClr val="001d34"/>
                </a:solidFill>
                <a:latin typeface="Calibri"/>
                <a:ea typeface="Calibri"/>
              </a:rPr>
              <a:t>1 Find</a:t>
            </a:r>
            <a:endParaRPr b="0" lang="en-AU" sz="22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883080" y="2910600"/>
            <a:ext cx="279720" cy="34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221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endParaRPr b="0" lang="en-AU" sz="22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883080" y="3292200"/>
            <a:ext cx="1975680" cy="34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2210" spc="-1" strike="noStrike">
                <a:solidFill>
                  <a:srgbClr val="001d34"/>
                </a:solidFill>
                <a:latin typeface="Calibri"/>
                <a:ea typeface="Calibri"/>
              </a:rPr>
              <a:t>Who oﬀers what,</a:t>
            </a:r>
            <a:endParaRPr b="0" lang="en-AU" sz="22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883080" y="3673440"/>
            <a:ext cx="1896480" cy="34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2210" spc="-1" strike="noStrike">
                <a:solidFill>
                  <a:srgbClr val="001d34"/>
                </a:solidFill>
                <a:latin typeface="Calibri"/>
                <a:ea typeface="Calibri"/>
              </a:rPr>
              <a:t>and which codes</a:t>
            </a:r>
            <a:endParaRPr b="0" lang="en-AU" sz="22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3702600" y="2369160"/>
            <a:ext cx="3349080" cy="2162160"/>
          </a:xfrm>
          <a:custGeom>
            <a:avLst/>
            <a:gdLst/>
            <a:ahLst/>
            <a:rect l="0" t="0" r="r" b="b"/>
            <a:pathLst>
              <a:path w="9303" h="6006">
                <a:moveTo>
                  <a:pt x="177" y="0"/>
                </a:moveTo>
                <a:lnTo>
                  <a:pt x="9126" y="0"/>
                </a:lnTo>
                <a:cubicBezTo>
                  <a:pt x="9138" y="0"/>
                  <a:pt x="9149" y="1"/>
                  <a:pt x="9161" y="3"/>
                </a:cubicBezTo>
                <a:cubicBezTo>
                  <a:pt x="9172" y="5"/>
                  <a:pt x="9183" y="9"/>
                  <a:pt x="9194" y="13"/>
                </a:cubicBezTo>
                <a:cubicBezTo>
                  <a:pt x="9204" y="18"/>
                  <a:pt x="9215" y="23"/>
                  <a:pt x="9224" y="29"/>
                </a:cubicBezTo>
                <a:cubicBezTo>
                  <a:pt x="9234" y="36"/>
                  <a:pt x="9243" y="43"/>
                  <a:pt x="9251" y="51"/>
                </a:cubicBezTo>
                <a:cubicBezTo>
                  <a:pt x="9259" y="60"/>
                  <a:pt x="9267" y="69"/>
                  <a:pt x="9273" y="78"/>
                </a:cubicBezTo>
                <a:cubicBezTo>
                  <a:pt x="9280" y="88"/>
                  <a:pt x="9285" y="98"/>
                  <a:pt x="9289" y="109"/>
                </a:cubicBezTo>
                <a:cubicBezTo>
                  <a:pt x="9294" y="120"/>
                  <a:pt x="9297" y="131"/>
                  <a:pt x="9299" y="142"/>
                </a:cubicBezTo>
                <a:cubicBezTo>
                  <a:pt x="9302" y="153"/>
                  <a:pt x="9303" y="165"/>
                  <a:pt x="9303" y="176"/>
                </a:cubicBezTo>
                <a:lnTo>
                  <a:pt x="9303" y="5829"/>
                </a:lnTo>
                <a:cubicBezTo>
                  <a:pt x="9303" y="5840"/>
                  <a:pt x="9302" y="5852"/>
                  <a:pt x="9299" y="5863"/>
                </a:cubicBezTo>
                <a:cubicBezTo>
                  <a:pt x="9297" y="5875"/>
                  <a:pt x="9294" y="5886"/>
                  <a:pt x="9289" y="5896"/>
                </a:cubicBezTo>
                <a:cubicBezTo>
                  <a:pt x="9285" y="5907"/>
                  <a:pt x="9280" y="5917"/>
                  <a:pt x="9273" y="5927"/>
                </a:cubicBezTo>
                <a:cubicBezTo>
                  <a:pt x="9267" y="5937"/>
                  <a:pt x="9259" y="5946"/>
                  <a:pt x="9251" y="5954"/>
                </a:cubicBezTo>
                <a:cubicBezTo>
                  <a:pt x="9243" y="5962"/>
                  <a:pt x="9234" y="5969"/>
                  <a:pt x="9224" y="5976"/>
                </a:cubicBezTo>
                <a:cubicBezTo>
                  <a:pt x="9215" y="5982"/>
                  <a:pt x="9204" y="5988"/>
                  <a:pt x="9194" y="5992"/>
                </a:cubicBezTo>
                <a:cubicBezTo>
                  <a:pt x="9183" y="5997"/>
                  <a:pt x="9172" y="6000"/>
                  <a:pt x="9161" y="6002"/>
                </a:cubicBezTo>
                <a:cubicBezTo>
                  <a:pt x="9149" y="6004"/>
                  <a:pt x="9138" y="6006"/>
                  <a:pt x="9126" y="6006"/>
                </a:cubicBezTo>
                <a:lnTo>
                  <a:pt x="177" y="6006"/>
                </a:lnTo>
                <a:cubicBezTo>
                  <a:pt x="165" y="6006"/>
                  <a:pt x="154" y="6004"/>
                  <a:pt x="142" y="6002"/>
                </a:cubicBezTo>
                <a:cubicBezTo>
                  <a:pt x="131" y="6000"/>
                  <a:pt x="120" y="5997"/>
                  <a:pt x="109" y="5992"/>
                </a:cubicBezTo>
                <a:cubicBezTo>
                  <a:pt x="98" y="5988"/>
                  <a:pt x="88" y="5982"/>
                  <a:pt x="79" y="5976"/>
                </a:cubicBezTo>
                <a:cubicBezTo>
                  <a:pt x="69" y="5969"/>
                  <a:pt x="60" y="5962"/>
                  <a:pt x="52" y="5954"/>
                </a:cubicBezTo>
                <a:cubicBezTo>
                  <a:pt x="44" y="5946"/>
                  <a:pt x="36" y="5937"/>
                  <a:pt x="30" y="5927"/>
                </a:cubicBezTo>
                <a:cubicBezTo>
                  <a:pt x="23" y="5917"/>
                  <a:pt x="18" y="5907"/>
                  <a:pt x="14" y="5896"/>
                </a:cubicBezTo>
                <a:cubicBezTo>
                  <a:pt x="9" y="5886"/>
                  <a:pt x="6" y="5875"/>
                  <a:pt x="3" y="5863"/>
                </a:cubicBezTo>
                <a:cubicBezTo>
                  <a:pt x="1" y="5852"/>
                  <a:pt x="0" y="5840"/>
                  <a:pt x="0" y="5829"/>
                </a:cubicBezTo>
                <a:lnTo>
                  <a:pt x="0" y="176"/>
                </a:lnTo>
                <a:cubicBezTo>
                  <a:pt x="0" y="165"/>
                  <a:pt x="1" y="153"/>
                  <a:pt x="3" y="142"/>
                </a:cubicBezTo>
                <a:cubicBezTo>
                  <a:pt x="6" y="131"/>
                  <a:pt x="9" y="120"/>
                  <a:pt x="14" y="109"/>
                </a:cubicBezTo>
                <a:cubicBezTo>
                  <a:pt x="18" y="98"/>
                  <a:pt x="23" y="88"/>
                  <a:pt x="30" y="78"/>
                </a:cubicBezTo>
                <a:cubicBezTo>
                  <a:pt x="36" y="69"/>
                  <a:pt x="44" y="60"/>
                  <a:pt x="52" y="51"/>
                </a:cubicBezTo>
                <a:cubicBezTo>
                  <a:pt x="60" y="43"/>
                  <a:pt x="69" y="36"/>
                  <a:pt x="79" y="29"/>
                </a:cubicBezTo>
                <a:cubicBezTo>
                  <a:pt x="88" y="23"/>
                  <a:pt x="98" y="18"/>
                  <a:pt x="109" y="13"/>
                </a:cubicBezTo>
                <a:cubicBezTo>
                  <a:pt x="120" y="9"/>
                  <a:pt x="131" y="5"/>
                  <a:pt x="142" y="3"/>
                </a:cubicBezTo>
                <a:cubicBezTo>
                  <a:pt x="154" y="1"/>
                  <a:pt x="165" y="0"/>
                  <a:pt x="177" y="0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3702600" y="2369160"/>
            <a:ext cx="3349080" cy="2162160"/>
          </a:xfrm>
          <a:custGeom>
            <a:avLst/>
            <a:gdLst/>
            <a:ahLst/>
            <a:rect l="0" t="0" r="r" b="b"/>
            <a:pathLst>
              <a:path w="9303" h="6006">
                <a:moveTo>
                  <a:pt x="177" y="0"/>
                </a:moveTo>
                <a:lnTo>
                  <a:pt x="9126" y="0"/>
                </a:lnTo>
                <a:cubicBezTo>
                  <a:pt x="9138" y="0"/>
                  <a:pt x="9149" y="1"/>
                  <a:pt x="9161" y="3"/>
                </a:cubicBezTo>
                <a:cubicBezTo>
                  <a:pt x="9172" y="5"/>
                  <a:pt x="9183" y="9"/>
                  <a:pt x="9194" y="13"/>
                </a:cubicBezTo>
                <a:cubicBezTo>
                  <a:pt x="9204" y="18"/>
                  <a:pt x="9215" y="23"/>
                  <a:pt x="9224" y="29"/>
                </a:cubicBezTo>
                <a:cubicBezTo>
                  <a:pt x="9234" y="36"/>
                  <a:pt x="9243" y="43"/>
                  <a:pt x="9251" y="51"/>
                </a:cubicBezTo>
                <a:cubicBezTo>
                  <a:pt x="9259" y="60"/>
                  <a:pt x="9267" y="69"/>
                  <a:pt x="9273" y="78"/>
                </a:cubicBezTo>
                <a:cubicBezTo>
                  <a:pt x="9280" y="88"/>
                  <a:pt x="9285" y="98"/>
                  <a:pt x="9289" y="109"/>
                </a:cubicBezTo>
                <a:cubicBezTo>
                  <a:pt x="9294" y="120"/>
                  <a:pt x="9297" y="131"/>
                  <a:pt x="9299" y="142"/>
                </a:cubicBezTo>
                <a:cubicBezTo>
                  <a:pt x="9302" y="153"/>
                  <a:pt x="9303" y="165"/>
                  <a:pt x="9303" y="176"/>
                </a:cubicBezTo>
                <a:lnTo>
                  <a:pt x="9303" y="5829"/>
                </a:lnTo>
                <a:cubicBezTo>
                  <a:pt x="9303" y="5840"/>
                  <a:pt x="9302" y="5852"/>
                  <a:pt x="9299" y="5863"/>
                </a:cubicBezTo>
                <a:cubicBezTo>
                  <a:pt x="9297" y="5875"/>
                  <a:pt x="9294" y="5886"/>
                  <a:pt x="9289" y="5896"/>
                </a:cubicBezTo>
                <a:cubicBezTo>
                  <a:pt x="9285" y="5907"/>
                  <a:pt x="9280" y="5917"/>
                  <a:pt x="9273" y="5927"/>
                </a:cubicBezTo>
                <a:cubicBezTo>
                  <a:pt x="9267" y="5937"/>
                  <a:pt x="9259" y="5946"/>
                  <a:pt x="9251" y="5954"/>
                </a:cubicBezTo>
                <a:cubicBezTo>
                  <a:pt x="9243" y="5962"/>
                  <a:pt x="9234" y="5969"/>
                  <a:pt x="9224" y="5976"/>
                </a:cubicBezTo>
                <a:cubicBezTo>
                  <a:pt x="9215" y="5982"/>
                  <a:pt x="9204" y="5988"/>
                  <a:pt x="9194" y="5992"/>
                </a:cubicBezTo>
                <a:cubicBezTo>
                  <a:pt x="9183" y="5997"/>
                  <a:pt x="9172" y="6000"/>
                  <a:pt x="9161" y="6002"/>
                </a:cubicBezTo>
                <a:cubicBezTo>
                  <a:pt x="9149" y="6004"/>
                  <a:pt x="9138" y="6006"/>
                  <a:pt x="9126" y="6006"/>
                </a:cubicBezTo>
                <a:lnTo>
                  <a:pt x="177" y="6006"/>
                </a:lnTo>
                <a:cubicBezTo>
                  <a:pt x="165" y="6006"/>
                  <a:pt x="154" y="6004"/>
                  <a:pt x="142" y="6002"/>
                </a:cubicBezTo>
                <a:cubicBezTo>
                  <a:pt x="131" y="6000"/>
                  <a:pt x="120" y="5997"/>
                  <a:pt x="109" y="5992"/>
                </a:cubicBezTo>
                <a:cubicBezTo>
                  <a:pt x="98" y="5988"/>
                  <a:pt x="88" y="5982"/>
                  <a:pt x="79" y="5976"/>
                </a:cubicBezTo>
                <a:cubicBezTo>
                  <a:pt x="69" y="5969"/>
                  <a:pt x="60" y="5962"/>
                  <a:pt x="52" y="5954"/>
                </a:cubicBezTo>
                <a:cubicBezTo>
                  <a:pt x="44" y="5946"/>
                  <a:pt x="36" y="5937"/>
                  <a:pt x="30" y="5927"/>
                </a:cubicBezTo>
                <a:cubicBezTo>
                  <a:pt x="23" y="5917"/>
                  <a:pt x="18" y="5907"/>
                  <a:pt x="14" y="5896"/>
                </a:cubicBezTo>
                <a:cubicBezTo>
                  <a:pt x="9" y="5886"/>
                  <a:pt x="6" y="5875"/>
                  <a:pt x="3" y="5863"/>
                </a:cubicBezTo>
                <a:cubicBezTo>
                  <a:pt x="1" y="5852"/>
                  <a:pt x="0" y="5840"/>
                  <a:pt x="0" y="5829"/>
                </a:cubicBezTo>
                <a:lnTo>
                  <a:pt x="0" y="176"/>
                </a:lnTo>
                <a:cubicBezTo>
                  <a:pt x="0" y="165"/>
                  <a:pt x="1" y="153"/>
                  <a:pt x="3" y="142"/>
                </a:cubicBezTo>
                <a:cubicBezTo>
                  <a:pt x="6" y="131"/>
                  <a:pt x="9" y="120"/>
                  <a:pt x="14" y="109"/>
                </a:cubicBezTo>
                <a:cubicBezTo>
                  <a:pt x="18" y="98"/>
                  <a:pt x="23" y="88"/>
                  <a:pt x="30" y="78"/>
                </a:cubicBezTo>
                <a:cubicBezTo>
                  <a:pt x="36" y="69"/>
                  <a:pt x="44" y="60"/>
                  <a:pt x="52" y="51"/>
                </a:cubicBezTo>
                <a:cubicBezTo>
                  <a:pt x="60" y="43"/>
                  <a:pt x="69" y="36"/>
                  <a:pt x="79" y="29"/>
                </a:cubicBezTo>
                <a:cubicBezTo>
                  <a:pt x="88" y="23"/>
                  <a:pt x="98" y="18"/>
                  <a:pt x="109" y="13"/>
                </a:cubicBezTo>
                <a:cubicBezTo>
                  <a:pt x="120" y="9"/>
                  <a:pt x="131" y="5"/>
                  <a:pt x="142" y="3"/>
                </a:cubicBezTo>
                <a:cubicBezTo>
                  <a:pt x="154" y="1"/>
                  <a:pt x="165" y="0"/>
                  <a:pt x="177" y="0"/>
                </a:cubicBezTo>
                <a:close/>
              </a:path>
            </a:pathLst>
          </a:custGeom>
          <a:noFill/>
          <a:ln w="6120">
            <a:solidFill>
              <a:srgbClr val="757579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883080" y="4055040"/>
            <a:ext cx="1893600" cy="34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2210" spc="-1" strike="noStrike">
                <a:solidFill>
                  <a:srgbClr val="001d34"/>
                </a:solidFill>
                <a:latin typeface="Calibri"/>
                <a:ea typeface="Calibri"/>
              </a:rPr>
              <a:t>do we agree on?</a:t>
            </a:r>
            <a:endParaRPr b="0" lang="en-AU" sz="22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3830040" y="2529360"/>
            <a:ext cx="532440" cy="34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210" spc="-1" strike="noStrike">
                <a:solidFill>
                  <a:srgbClr val="001d34"/>
                </a:solidFill>
                <a:latin typeface="Calibri"/>
                <a:ea typeface="Calibri"/>
              </a:rPr>
              <a:t>2 Do</a:t>
            </a:r>
            <a:endParaRPr b="0" lang="en-AU" sz="22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3830040" y="2910600"/>
            <a:ext cx="279720" cy="34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221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endParaRPr b="0" lang="en-AU" sz="22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3830040" y="3292200"/>
            <a:ext cx="2692080" cy="34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2210" spc="-1" strike="noStrike">
                <a:solidFill>
                  <a:srgbClr val="001d34"/>
                </a:solidFill>
                <a:latin typeface="Calibri"/>
                <a:ea typeface="Calibri"/>
              </a:rPr>
              <a:t>How is work requested,</a:t>
            </a:r>
            <a:endParaRPr b="0" lang="en-AU" sz="22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3830040" y="3673440"/>
            <a:ext cx="1351080" cy="34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2210" spc="-1" strike="noStrike">
                <a:solidFill>
                  <a:srgbClr val="001d34"/>
                </a:solidFill>
                <a:latin typeface="Calibri"/>
                <a:ea typeface="Calibri"/>
              </a:rPr>
              <a:t>tracked and</a:t>
            </a:r>
            <a:endParaRPr b="0" lang="en-AU" sz="22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7502400" y="2369160"/>
            <a:ext cx="2063520" cy="2162160"/>
          </a:xfrm>
          <a:custGeom>
            <a:avLst/>
            <a:gdLst/>
            <a:ahLst/>
            <a:rect l="0" t="0" r="r" b="b"/>
            <a:pathLst>
              <a:path w="5732" h="6006">
                <a:moveTo>
                  <a:pt x="177" y="0"/>
                </a:moveTo>
                <a:lnTo>
                  <a:pt x="5555" y="0"/>
                </a:lnTo>
                <a:cubicBezTo>
                  <a:pt x="5567" y="0"/>
                  <a:pt x="5579" y="1"/>
                  <a:pt x="5590" y="3"/>
                </a:cubicBezTo>
                <a:cubicBezTo>
                  <a:pt x="5601" y="5"/>
                  <a:pt x="5612" y="9"/>
                  <a:pt x="5623" y="13"/>
                </a:cubicBezTo>
                <a:cubicBezTo>
                  <a:pt x="5634" y="18"/>
                  <a:pt x="5644" y="23"/>
                  <a:pt x="5654" y="29"/>
                </a:cubicBezTo>
                <a:cubicBezTo>
                  <a:pt x="5663" y="36"/>
                  <a:pt x="5672" y="43"/>
                  <a:pt x="5680" y="51"/>
                </a:cubicBezTo>
                <a:cubicBezTo>
                  <a:pt x="5689" y="60"/>
                  <a:pt x="5696" y="69"/>
                  <a:pt x="5702" y="78"/>
                </a:cubicBezTo>
                <a:cubicBezTo>
                  <a:pt x="5709" y="88"/>
                  <a:pt x="5714" y="98"/>
                  <a:pt x="5719" y="109"/>
                </a:cubicBezTo>
                <a:cubicBezTo>
                  <a:pt x="5723" y="120"/>
                  <a:pt x="5727" y="131"/>
                  <a:pt x="5729" y="142"/>
                </a:cubicBezTo>
                <a:cubicBezTo>
                  <a:pt x="5731" y="153"/>
                  <a:pt x="5732" y="165"/>
                  <a:pt x="5732" y="176"/>
                </a:cubicBezTo>
                <a:lnTo>
                  <a:pt x="5732" y="5829"/>
                </a:lnTo>
                <a:cubicBezTo>
                  <a:pt x="5732" y="5840"/>
                  <a:pt x="5731" y="5852"/>
                  <a:pt x="5729" y="5863"/>
                </a:cubicBezTo>
                <a:cubicBezTo>
                  <a:pt x="5727" y="5875"/>
                  <a:pt x="5723" y="5886"/>
                  <a:pt x="5719" y="5896"/>
                </a:cubicBezTo>
                <a:cubicBezTo>
                  <a:pt x="5714" y="5907"/>
                  <a:pt x="5709" y="5917"/>
                  <a:pt x="5702" y="5927"/>
                </a:cubicBezTo>
                <a:cubicBezTo>
                  <a:pt x="5696" y="5937"/>
                  <a:pt x="5689" y="5946"/>
                  <a:pt x="5680" y="5954"/>
                </a:cubicBezTo>
                <a:cubicBezTo>
                  <a:pt x="5672" y="5962"/>
                  <a:pt x="5663" y="5969"/>
                  <a:pt x="5654" y="5976"/>
                </a:cubicBezTo>
                <a:cubicBezTo>
                  <a:pt x="5644" y="5982"/>
                  <a:pt x="5634" y="5988"/>
                  <a:pt x="5623" y="5992"/>
                </a:cubicBezTo>
                <a:cubicBezTo>
                  <a:pt x="5612" y="5997"/>
                  <a:pt x="5601" y="6000"/>
                  <a:pt x="5590" y="6002"/>
                </a:cubicBezTo>
                <a:cubicBezTo>
                  <a:pt x="5579" y="6004"/>
                  <a:pt x="5567" y="6006"/>
                  <a:pt x="5555" y="6006"/>
                </a:cubicBezTo>
                <a:lnTo>
                  <a:pt x="177" y="6006"/>
                </a:lnTo>
                <a:cubicBezTo>
                  <a:pt x="165" y="6006"/>
                  <a:pt x="154" y="6004"/>
                  <a:pt x="142" y="6002"/>
                </a:cubicBezTo>
                <a:cubicBezTo>
                  <a:pt x="131" y="6000"/>
                  <a:pt x="120" y="5997"/>
                  <a:pt x="109" y="5992"/>
                </a:cubicBezTo>
                <a:cubicBezTo>
                  <a:pt x="99" y="5988"/>
                  <a:pt x="88" y="5982"/>
                  <a:pt x="79" y="5976"/>
                </a:cubicBezTo>
                <a:cubicBezTo>
                  <a:pt x="69" y="5969"/>
                  <a:pt x="60" y="5962"/>
                  <a:pt x="52" y="5954"/>
                </a:cubicBezTo>
                <a:cubicBezTo>
                  <a:pt x="44" y="5946"/>
                  <a:pt x="36" y="5937"/>
                  <a:pt x="30" y="5927"/>
                </a:cubicBezTo>
                <a:cubicBezTo>
                  <a:pt x="24" y="5917"/>
                  <a:pt x="18" y="5907"/>
                  <a:pt x="14" y="5896"/>
                </a:cubicBezTo>
                <a:cubicBezTo>
                  <a:pt x="9" y="5886"/>
                  <a:pt x="6" y="5875"/>
                  <a:pt x="4" y="5863"/>
                </a:cubicBezTo>
                <a:cubicBezTo>
                  <a:pt x="1" y="5852"/>
                  <a:pt x="0" y="5840"/>
                  <a:pt x="0" y="5829"/>
                </a:cubicBezTo>
                <a:lnTo>
                  <a:pt x="0" y="176"/>
                </a:lnTo>
                <a:cubicBezTo>
                  <a:pt x="0" y="165"/>
                  <a:pt x="1" y="153"/>
                  <a:pt x="4" y="142"/>
                </a:cubicBezTo>
                <a:cubicBezTo>
                  <a:pt x="6" y="131"/>
                  <a:pt x="9" y="120"/>
                  <a:pt x="14" y="109"/>
                </a:cubicBezTo>
                <a:cubicBezTo>
                  <a:pt x="18" y="98"/>
                  <a:pt x="24" y="88"/>
                  <a:pt x="30" y="78"/>
                </a:cubicBezTo>
                <a:cubicBezTo>
                  <a:pt x="36" y="69"/>
                  <a:pt x="44" y="60"/>
                  <a:pt x="52" y="51"/>
                </a:cubicBezTo>
                <a:cubicBezTo>
                  <a:pt x="60" y="43"/>
                  <a:pt x="69" y="36"/>
                  <a:pt x="79" y="29"/>
                </a:cubicBezTo>
                <a:cubicBezTo>
                  <a:pt x="88" y="23"/>
                  <a:pt x="99" y="18"/>
                  <a:pt x="109" y="13"/>
                </a:cubicBezTo>
                <a:cubicBezTo>
                  <a:pt x="120" y="9"/>
                  <a:pt x="131" y="5"/>
                  <a:pt x="142" y="3"/>
                </a:cubicBezTo>
                <a:cubicBezTo>
                  <a:pt x="154" y="1"/>
                  <a:pt x="165" y="0"/>
                  <a:pt x="177" y="0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"/>
          <p:cNvSpPr/>
          <p:nvPr/>
        </p:nvSpPr>
        <p:spPr>
          <a:xfrm>
            <a:off x="7502400" y="2369160"/>
            <a:ext cx="2063520" cy="2162160"/>
          </a:xfrm>
          <a:custGeom>
            <a:avLst/>
            <a:gdLst/>
            <a:ahLst/>
            <a:rect l="0" t="0" r="r" b="b"/>
            <a:pathLst>
              <a:path w="5732" h="6006">
                <a:moveTo>
                  <a:pt x="177" y="0"/>
                </a:moveTo>
                <a:lnTo>
                  <a:pt x="5555" y="0"/>
                </a:lnTo>
                <a:cubicBezTo>
                  <a:pt x="5567" y="0"/>
                  <a:pt x="5579" y="1"/>
                  <a:pt x="5590" y="3"/>
                </a:cubicBezTo>
                <a:cubicBezTo>
                  <a:pt x="5601" y="5"/>
                  <a:pt x="5612" y="9"/>
                  <a:pt x="5623" y="13"/>
                </a:cubicBezTo>
                <a:cubicBezTo>
                  <a:pt x="5634" y="18"/>
                  <a:pt x="5644" y="23"/>
                  <a:pt x="5654" y="29"/>
                </a:cubicBezTo>
                <a:cubicBezTo>
                  <a:pt x="5663" y="36"/>
                  <a:pt x="5672" y="43"/>
                  <a:pt x="5680" y="51"/>
                </a:cubicBezTo>
                <a:cubicBezTo>
                  <a:pt x="5689" y="60"/>
                  <a:pt x="5696" y="69"/>
                  <a:pt x="5702" y="78"/>
                </a:cubicBezTo>
                <a:cubicBezTo>
                  <a:pt x="5709" y="88"/>
                  <a:pt x="5714" y="98"/>
                  <a:pt x="5719" y="109"/>
                </a:cubicBezTo>
                <a:cubicBezTo>
                  <a:pt x="5723" y="120"/>
                  <a:pt x="5727" y="131"/>
                  <a:pt x="5729" y="142"/>
                </a:cubicBezTo>
                <a:cubicBezTo>
                  <a:pt x="5731" y="153"/>
                  <a:pt x="5732" y="165"/>
                  <a:pt x="5732" y="176"/>
                </a:cubicBezTo>
                <a:lnTo>
                  <a:pt x="5732" y="5829"/>
                </a:lnTo>
                <a:cubicBezTo>
                  <a:pt x="5732" y="5840"/>
                  <a:pt x="5731" y="5852"/>
                  <a:pt x="5729" y="5863"/>
                </a:cubicBezTo>
                <a:cubicBezTo>
                  <a:pt x="5727" y="5875"/>
                  <a:pt x="5723" y="5886"/>
                  <a:pt x="5719" y="5896"/>
                </a:cubicBezTo>
                <a:cubicBezTo>
                  <a:pt x="5714" y="5907"/>
                  <a:pt x="5709" y="5917"/>
                  <a:pt x="5702" y="5927"/>
                </a:cubicBezTo>
                <a:cubicBezTo>
                  <a:pt x="5696" y="5937"/>
                  <a:pt x="5689" y="5946"/>
                  <a:pt x="5680" y="5954"/>
                </a:cubicBezTo>
                <a:cubicBezTo>
                  <a:pt x="5672" y="5962"/>
                  <a:pt x="5663" y="5969"/>
                  <a:pt x="5654" y="5976"/>
                </a:cubicBezTo>
                <a:cubicBezTo>
                  <a:pt x="5644" y="5982"/>
                  <a:pt x="5634" y="5988"/>
                  <a:pt x="5623" y="5992"/>
                </a:cubicBezTo>
                <a:cubicBezTo>
                  <a:pt x="5612" y="5997"/>
                  <a:pt x="5601" y="6000"/>
                  <a:pt x="5590" y="6002"/>
                </a:cubicBezTo>
                <a:cubicBezTo>
                  <a:pt x="5579" y="6004"/>
                  <a:pt x="5567" y="6006"/>
                  <a:pt x="5555" y="6006"/>
                </a:cubicBezTo>
                <a:lnTo>
                  <a:pt x="177" y="6006"/>
                </a:lnTo>
                <a:cubicBezTo>
                  <a:pt x="165" y="6006"/>
                  <a:pt x="154" y="6004"/>
                  <a:pt x="142" y="6002"/>
                </a:cubicBezTo>
                <a:cubicBezTo>
                  <a:pt x="131" y="6000"/>
                  <a:pt x="120" y="5997"/>
                  <a:pt x="109" y="5992"/>
                </a:cubicBezTo>
                <a:cubicBezTo>
                  <a:pt x="99" y="5988"/>
                  <a:pt x="88" y="5982"/>
                  <a:pt x="79" y="5976"/>
                </a:cubicBezTo>
                <a:cubicBezTo>
                  <a:pt x="69" y="5969"/>
                  <a:pt x="60" y="5962"/>
                  <a:pt x="52" y="5954"/>
                </a:cubicBezTo>
                <a:cubicBezTo>
                  <a:pt x="44" y="5946"/>
                  <a:pt x="36" y="5937"/>
                  <a:pt x="30" y="5927"/>
                </a:cubicBezTo>
                <a:cubicBezTo>
                  <a:pt x="24" y="5917"/>
                  <a:pt x="18" y="5907"/>
                  <a:pt x="14" y="5896"/>
                </a:cubicBezTo>
                <a:cubicBezTo>
                  <a:pt x="9" y="5886"/>
                  <a:pt x="6" y="5875"/>
                  <a:pt x="4" y="5863"/>
                </a:cubicBezTo>
                <a:cubicBezTo>
                  <a:pt x="1" y="5852"/>
                  <a:pt x="0" y="5840"/>
                  <a:pt x="0" y="5829"/>
                </a:cubicBezTo>
                <a:lnTo>
                  <a:pt x="0" y="176"/>
                </a:lnTo>
                <a:cubicBezTo>
                  <a:pt x="0" y="165"/>
                  <a:pt x="1" y="153"/>
                  <a:pt x="4" y="142"/>
                </a:cubicBezTo>
                <a:cubicBezTo>
                  <a:pt x="6" y="131"/>
                  <a:pt x="9" y="120"/>
                  <a:pt x="14" y="109"/>
                </a:cubicBezTo>
                <a:cubicBezTo>
                  <a:pt x="18" y="98"/>
                  <a:pt x="24" y="88"/>
                  <a:pt x="30" y="78"/>
                </a:cubicBezTo>
                <a:cubicBezTo>
                  <a:pt x="36" y="69"/>
                  <a:pt x="44" y="60"/>
                  <a:pt x="52" y="51"/>
                </a:cubicBezTo>
                <a:cubicBezTo>
                  <a:pt x="60" y="43"/>
                  <a:pt x="69" y="36"/>
                  <a:pt x="79" y="29"/>
                </a:cubicBezTo>
                <a:cubicBezTo>
                  <a:pt x="88" y="23"/>
                  <a:pt x="99" y="18"/>
                  <a:pt x="109" y="13"/>
                </a:cubicBezTo>
                <a:cubicBezTo>
                  <a:pt x="120" y="9"/>
                  <a:pt x="131" y="5"/>
                  <a:pt x="142" y="3"/>
                </a:cubicBezTo>
                <a:cubicBezTo>
                  <a:pt x="154" y="1"/>
                  <a:pt x="165" y="0"/>
                  <a:pt x="177" y="0"/>
                </a:cubicBezTo>
                <a:close/>
              </a:path>
            </a:pathLst>
          </a:custGeom>
          <a:noFill/>
          <a:ln w="6120">
            <a:solidFill>
              <a:srgbClr val="757579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3830040" y="4055040"/>
            <a:ext cx="1291680" cy="34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2210" spc="-1" strike="noStrike">
                <a:solidFill>
                  <a:srgbClr val="001d34"/>
                </a:solidFill>
                <a:latin typeface="Calibri"/>
                <a:ea typeface="Calibri"/>
              </a:rPr>
              <a:t>scheduled?</a:t>
            </a:r>
            <a:endParaRPr b="0" lang="en-AU" sz="22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7629840" y="2529360"/>
            <a:ext cx="1162080" cy="34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210" spc="-1" strike="noStrike">
                <a:solidFill>
                  <a:srgbClr val="001d34"/>
                </a:solidFill>
                <a:latin typeface="Calibri"/>
                <a:ea typeface="Calibri"/>
              </a:rPr>
              <a:t>3 Connect</a:t>
            </a:r>
            <a:endParaRPr b="0" lang="en-AU" sz="22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7629840" y="2910600"/>
            <a:ext cx="279720" cy="34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221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endParaRPr b="0" lang="en-AU" sz="22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7629840" y="3292200"/>
            <a:ext cx="1575000" cy="34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2210" spc="-1" strike="noStrike">
                <a:solidFill>
                  <a:srgbClr val="001d34"/>
                </a:solidFill>
                <a:latin typeface="Calibri"/>
                <a:ea typeface="Calibri"/>
              </a:rPr>
              <a:t>How does the</a:t>
            </a:r>
            <a:endParaRPr b="0" lang="en-AU" sz="22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7629840" y="3673440"/>
            <a:ext cx="1489680" cy="34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2210" spc="-1" strike="noStrike">
                <a:solidFill>
                  <a:srgbClr val="001d34"/>
                </a:solidFill>
                <a:latin typeface="Calibri"/>
                <a:ea typeface="Calibri"/>
              </a:rPr>
              <a:t>legacy estate</a:t>
            </a:r>
            <a:endParaRPr b="0" lang="en-AU" sz="22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10016640" y="2369160"/>
            <a:ext cx="1434240" cy="2162160"/>
          </a:xfrm>
          <a:custGeom>
            <a:avLst/>
            <a:gdLst/>
            <a:ahLst/>
            <a:rect l="0" t="0" r="r" b="b"/>
            <a:pathLst>
              <a:path w="3984" h="6006">
                <a:moveTo>
                  <a:pt x="177" y="0"/>
                </a:moveTo>
                <a:lnTo>
                  <a:pt x="3807" y="0"/>
                </a:lnTo>
                <a:cubicBezTo>
                  <a:pt x="3819" y="0"/>
                  <a:pt x="3830" y="1"/>
                  <a:pt x="3842" y="3"/>
                </a:cubicBezTo>
                <a:cubicBezTo>
                  <a:pt x="3853" y="5"/>
                  <a:pt x="3864" y="9"/>
                  <a:pt x="3875" y="13"/>
                </a:cubicBezTo>
                <a:cubicBezTo>
                  <a:pt x="3886" y="18"/>
                  <a:pt x="3896" y="23"/>
                  <a:pt x="3905" y="29"/>
                </a:cubicBezTo>
                <a:cubicBezTo>
                  <a:pt x="3915" y="36"/>
                  <a:pt x="3924" y="43"/>
                  <a:pt x="3932" y="51"/>
                </a:cubicBezTo>
                <a:cubicBezTo>
                  <a:pt x="3940" y="60"/>
                  <a:pt x="3948" y="69"/>
                  <a:pt x="3954" y="78"/>
                </a:cubicBezTo>
                <a:cubicBezTo>
                  <a:pt x="3961" y="88"/>
                  <a:pt x="3966" y="98"/>
                  <a:pt x="3970" y="109"/>
                </a:cubicBezTo>
                <a:cubicBezTo>
                  <a:pt x="3975" y="120"/>
                  <a:pt x="3978" y="131"/>
                  <a:pt x="3981" y="142"/>
                </a:cubicBezTo>
                <a:cubicBezTo>
                  <a:pt x="3983" y="153"/>
                  <a:pt x="3984" y="165"/>
                  <a:pt x="3984" y="176"/>
                </a:cubicBezTo>
                <a:lnTo>
                  <a:pt x="3984" y="5829"/>
                </a:lnTo>
                <a:cubicBezTo>
                  <a:pt x="3984" y="5840"/>
                  <a:pt x="3983" y="5852"/>
                  <a:pt x="3981" y="5863"/>
                </a:cubicBezTo>
                <a:cubicBezTo>
                  <a:pt x="3978" y="5875"/>
                  <a:pt x="3975" y="5886"/>
                  <a:pt x="3970" y="5896"/>
                </a:cubicBezTo>
                <a:cubicBezTo>
                  <a:pt x="3966" y="5907"/>
                  <a:pt x="3961" y="5917"/>
                  <a:pt x="3954" y="5927"/>
                </a:cubicBezTo>
                <a:cubicBezTo>
                  <a:pt x="3948" y="5937"/>
                  <a:pt x="3940" y="5946"/>
                  <a:pt x="3932" y="5954"/>
                </a:cubicBezTo>
                <a:cubicBezTo>
                  <a:pt x="3924" y="5962"/>
                  <a:pt x="3915" y="5969"/>
                  <a:pt x="3905" y="5976"/>
                </a:cubicBezTo>
                <a:cubicBezTo>
                  <a:pt x="3896" y="5982"/>
                  <a:pt x="3886" y="5988"/>
                  <a:pt x="3875" y="5992"/>
                </a:cubicBezTo>
                <a:cubicBezTo>
                  <a:pt x="3864" y="5997"/>
                  <a:pt x="3853" y="6000"/>
                  <a:pt x="3842" y="6002"/>
                </a:cubicBezTo>
                <a:cubicBezTo>
                  <a:pt x="3830" y="6004"/>
                  <a:pt x="3819" y="6006"/>
                  <a:pt x="3807" y="6006"/>
                </a:cubicBezTo>
                <a:lnTo>
                  <a:pt x="177" y="6006"/>
                </a:lnTo>
                <a:cubicBezTo>
                  <a:pt x="165" y="6006"/>
                  <a:pt x="154" y="6004"/>
                  <a:pt x="142" y="6002"/>
                </a:cubicBezTo>
                <a:cubicBezTo>
                  <a:pt x="131" y="6000"/>
                  <a:pt x="120" y="5997"/>
                  <a:pt x="109" y="5992"/>
                </a:cubicBezTo>
                <a:cubicBezTo>
                  <a:pt x="98" y="5988"/>
                  <a:pt x="88" y="5982"/>
                  <a:pt x="78" y="5976"/>
                </a:cubicBezTo>
                <a:cubicBezTo>
                  <a:pt x="69" y="5969"/>
                  <a:pt x="60" y="5962"/>
                  <a:pt x="52" y="5954"/>
                </a:cubicBezTo>
                <a:cubicBezTo>
                  <a:pt x="43" y="5946"/>
                  <a:pt x="36" y="5937"/>
                  <a:pt x="30" y="5927"/>
                </a:cubicBezTo>
                <a:cubicBezTo>
                  <a:pt x="23" y="5917"/>
                  <a:pt x="18" y="5907"/>
                  <a:pt x="13" y="5896"/>
                </a:cubicBezTo>
                <a:cubicBezTo>
                  <a:pt x="9" y="5886"/>
                  <a:pt x="6" y="5875"/>
                  <a:pt x="3" y="5863"/>
                </a:cubicBezTo>
                <a:cubicBezTo>
                  <a:pt x="1" y="5852"/>
                  <a:pt x="0" y="5840"/>
                  <a:pt x="0" y="5829"/>
                </a:cubicBezTo>
                <a:lnTo>
                  <a:pt x="0" y="176"/>
                </a:lnTo>
                <a:cubicBezTo>
                  <a:pt x="0" y="165"/>
                  <a:pt x="1" y="153"/>
                  <a:pt x="3" y="142"/>
                </a:cubicBezTo>
                <a:cubicBezTo>
                  <a:pt x="6" y="131"/>
                  <a:pt x="9" y="120"/>
                  <a:pt x="13" y="109"/>
                </a:cubicBezTo>
                <a:cubicBezTo>
                  <a:pt x="18" y="98"/>
                  <a:pt x="23" y="88"/>
                  <a:pt x="30" y="78"/>
                </a:cubicBezTo>
                <a:cubicBezTo>
                  <a:pt x="36" y="69"/>
                  <a:pt x="43" y="60"/>
                  <a:pt x="52" y="51"/>
                </a:cubicBezTo>
                <a:cubicBezTo>
                  <a:pt x="60" y="43"/>
                  <a:pt x="69" y="36"/>
                  <a:pt x="78" y="29"/>
                </a:cubicBezTo>
                <a:cubicBezTo>
                  <a:pt x="88" y="23"/>
                  <a:pt x="98" y="18"/>
                  <a:pt x="109" y="13"/>
                </a:cubicBezTo>
                <a:cubicBezTo>
                  <a:pt x="120" y="9"/>
                  <a:pt x="131" y="5"/>
                  <a:pt x="142" y="3"/>
                </a:cubicBezTo>
                <a:cubicBezTo>
                  <a:pt x="154" y="1"/>
                  <a:pt x="165" y="0"/>
                  <a:pt x="177" y="0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10016640" y="2369160"/>
            <a:ext cx="1434240" cy="2162160"/>
          </a:xfrm>
          <a:custGeom>
            <a:avLst/>
            <a:gdLst/>
            <a:ahLst/>
            <a:rect l="0" t="0" r="r" b="b"/>
            <a:pathLst>
              <a:path w="3984" h="6006">
                <a:moveTo>
                  <a:pt x="177" y="0"/>
                </a:moveTo>
                <a:lnTo>
                  <a:pt x="3807" y="0"/>
                </a:lnTo>
                <a:cubicBezTo>
                  <a:pt x="3819" y="0"/>
                  <a:pt x="3830" y="1"/>
                  <a:pt x="3842" y="3"/>
                </a:cubicBezTo>
                <a:cubicBezTo>
                  <a:pt x="3853" y="5"/>
                  <a:pt x="3864" y="9"/>
                  <a:pt x="3875" y="13"/>
                </a:cubicBezTo>
                <a:cubicBezTo>
                  <a:pt x="3886" y="18"/>
                  <a:pt x="3896" y="23"/>
                  <a:pt x="3905" y="29"/>
                </a:cubicBezTo>
                <a:cubicBezTo>
                  <a:pt x="3915" y="36"/>
                  <a:pt x="3924" y="43"/>
                  <a:pt x="3932" y="51"/>
                </a:cubicBezTo>
                <a:cubicBezTo>
                  <a:pt x="3940" y="60"/>
                  <a:pt x="3948" y="69"/>
                  <a:pt x="3954" y="78"/>
                </a:cubicBezTo>
                <a:cubicBezTo>
                  <a:pt x="3961" y="88"/>
                  <a:pt x="3966" y="98"/>
                  <a:pt x="3970" y="109"/>
                </a:cubicBezTo>
                <a:cubicBezTo>
                  <a:pt x="3975" y="120"/>
                  <a:pt x="3978" y="131"/>
                  <a:pt x="3981" y="142"/>
                </a:cubicBezTo>
                <a:cubicBezTo>
                  <a:pt x="3983" y="153"/>
                  <a:pt x="3984" y="165"/>
                  <a:pt x="3984" y="176"/>
                </a:cubicBezTo>
                <a:lnTo>
                  <a:pt x="3984" y="5829"/>
                </a:lnTo>
                <a:cubicBezTo>
                  <a:pt x="3984" y="5840"/>
                  <a:pt x="3983" y="5852"/>
                  <a:pt x="3981" y="5863"/>
                </a:cubicBezTo>
                <a:cubicBezTo>
                  <a:pt x="3978" y="5875"/>
                  <a:pt x="3975" y="5886"/>
                  <a:pt x="3970" y="5896"/>
                </a:cubicBezTo>
                <a:cubicBezTo>
                  <a:pt x="3966" y="5907"/>
                  <a:pt x="3961" y="5917"/>
                  <a:pt x="3954" y="5927"/>
                </a:cubicBezTo>
                <a:cubicBezTo>
                  <a:pt x="3948" y="5937"/>
                  <a:pt x="3940" y="5946"/>
                  <a:pt x="3932" y="5954"/>
                </a:cubicBezTo>
                <a:cubicBezTo>
                  <a:pt x="3924" y="5962"/>
                  <a:pt x="3915" y="5969"/>
                  <a:pt x="3905" y="5976"/>
                </a:cubicBezTo>
                <a:cubicBezTo>
                  <a:pt x="3896" y="5982"/>
                  <a:pt x="3886" y="5988"/>
                  <a:pt x="3875" y="5992"/>
                </a:cubicBezTo>
                <a:cubicBezTo>
                  <a:pt x="3864" y="5997"/>
                  <a:pt x="3853" y="6000"/>
                  <a:pt x="3842" y="6002"/>
                </a:cubicBezTo>
                <a:cubicBezTo>
                  <a:pt x="3830" y="6004"/>
                  <a:pt x="3819" y="6006"/>
                  <a:pt x="3807" y="6006"/>
                </a:cubicBezTo>
                <a:lnTo>
                  <a:pt x="177" y="6006"/>
                </a:lnTo>
                <a:cubicBezTo>
                  <a:pt x="165" y="6006"/>
                  <a:pt x="154" y="6004"/>
                  <a:pt x="142" y="6002"/>
                </a:cubicBezTo>
                <a:cubicBezTo>
                  <a:pt x="131" y="6000"/>
                  <a:pt x="120" y="5997"/>
                  <a:pt x="109" y="5992"/>
                </a:cubicBezTo>
                <a:cubicBezTo>
                  <a:pt x="98" y="5988"/>
                  <a:pt x="88" y="5982"/>
                  <a:pt x="78" y="5976"/>
                </a:cubicBezTo>
                <a:cubicBezTo>
                  <a:pt x="69" y="5969"/>
                  <a:pt x="60" y="5962"/>
                  <a:pt x="52" y="5954"/>
                </a:cubicBezTo>
                <a:cubicBezTo>
                  <a:pt x="43" y="5946"/>
                  <a:pt x="36" y="5937"/>
                  <a:pt x="30" y="5927"/>
                </a:cubicBezTo>
                <a:cubicBezTo>
                  <a:pt x="23" y="5917"/>
                  <a:pt x="18" y="5907"/>
                  <a:pt x="13" y="5896"/>
                </a:cubicBezTo>
                <a:cubicBezTo>
                  <a:pt x="9" y="5886"/>
                  <a:pt x="6" y="5875"/>
                  <a:pt x="3" y="5863"/>
                </a:cubicBezTo>
                <a:cubicBezTo>
                  <a:pt x="1" y="5852"/>
                  <a:pt x="0" y="5840"/>
                  <a:pt x="0" y="5829"/>
                </a:cubicBezTo>
                <a:lnTo>
                  <a:pt x="0" y="176"/>
                </a:lnTo>
                <a:cubicBezTo>
                  <a:pt x="0" y="165"/>
                  <a:pt x="1" y="153"/>
                  <a:pt x="3" y="142"/>
                </a:cubicBezTo>
                <a:cubicBezTo>
                  <a:pt x="6" y="131"/>
                  <a:pt x="9" y="120"/>
                  <a:pt x="13" y="109"/>
                </a:cubicBezTo>
                <a:cubicBezTo>
                  <a:pt x="18" y="98"/>
                  <a:pt x="23" y="88"/>
                  <a:pt x="30" y="78"/>
                </a:cubicBezTo>
                <a:cubicBezTo>
                  <a:pt x="36" y="69"/>
                  <a:pt x="43" y="60"/>
                  <a:pt x="52" y="51"/>
                </a:cubicBezTo>
                <a:cubicBezTo>
                  <a:pt x="60" y="43"/>
                  <a:pt x="69" y="36"/>
                  <a:pt x="78" y="29"/>
                </a:cubicBezTo>
                <a:cubicBezTo>
                  <a:pt x="88" y="23"/>
                  <a:pt x="98" y="18"/>
                  <a:pt x="109" y="13"/>
                </a:cubicBezTo>
                <a:cubicBezTo>
                  <a:pt x="120" y="9"/>
                  <a:pt x="131" y="5"/>
                  <a:pt x="142" y="3"/>
                </a:cubicBezTo>
                <a:cubicBezTo>
                  <a:pt x="154" y="1"/>
                  <a:pt x="165" y="0"/>
                  <a:pt x="177" y="0"/>
                </a:cubicBezTo>
                <a:close/>
              </a:path>
            </a:pathLst>
          </a:custGeom>
          <a:noFill/>
          <a:ln w="6120">
            <a:solidFill>
              <a:srgbClr val="757579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7629840" y="4055040"/>
            <a:ext cx="831240" cy="34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2210" spc="-1" strike="noStrike">
                <a:solidFill>
                  <a:srgbClr val="001d34"/>
                </a:solidFill>
                <a:latin typeface="Calibri"/>
                <a:ea typeface="Calibri"/>
              </a:rPr>
              <a:t>join in?</a:t>
            </a:r>
            <a:endParaRPr b="0" lang="en-AU" sz="22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10144080" y="2529360"/>
            <a:ext cx="878400" cy="34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210" spc="-1" strike="noStrike">
                <a:solidFill>
                  <a:srgbClr val="001d34"/>
                </a:solidFill>
                <a:latin typeface="Calibri"/>
                <a:ea typeface="Calibri"/>
              </a:rPr>
              <a:t>4 Prove</a:t>
            </a:r>
            <a:endParaRPr b="0" lang="en-AU" sz="22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10144080" y="2910600"/>
            <a:ext cx="279720" cy="34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221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endParaRPr b="0" lang="en-AU" sz="22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10144080" y="3292200"/>
            <a:ext cx="1015560" cy="34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2210" spc="-1" strike="noStrike">
                <a:solidFill>
                  <a:srgbClr val="001d34"/>
                </a:solidFill>
                <a:latin typeface="Calibri"/>
                <a:ea typeface="Calibri"/>
              </a:rPr>
              <a:t>How do I</a:t>
            </a:r>
            <a:endParaRPr b="0" lang="en-AU" sz="22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10144080" y="3673440"/>
            <a:ext cx="844920" cy="34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2210" spc="-1" strike="noStrike">
                <a:solidFill>
                  <a:srgbClr val="001d34"/>
                </a:solidFill>
                <a:latin typeface="Calibri"/>
                <a:ea typeface="Calibri"/>
              </a:rPr>
              <a:t>know it</a:t>
            </a:r>
            <a:endParaRPr b="0" lang="en-AU" sz="22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10144080" y="4055040"/>
            <a:ext cx="812880" cy="34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2210" spc="-1" strike="noStrike">
                <a:solidFill>
                  <a:srgbClr val="001d34"/>
                </a:solidFill>
                <a:latin typeface="Calibri"/>
                <a:ea typeface="Calibri"/>
              </a:rPr>
              <a:t>works?</a:t>
            </a:r>
            <a:endParaRPr b="0" lang="en-AU" sz="22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666720" y="5155560"/>
            <a:ext cx="98517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Each family has a few ready-made services. We look at what is in each, and what it takes to use it.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3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666720" y="1447560"/>
            <a:ext cx="10858680" cy="29160"/>
          </a:xfrm>
          <a:custGeom>
            <a:avLst/>
            <a:gdLst/>
            <a:ahLst/>
            <a:rect l="0" t="0" r="r" b="b"/>
            <a:pathLst>
              <a:path w="30163" h="81">
                <a:moveTo>
                  <a:pt x="0" y="0"/>
                </a:moveTo>
                <a:lnTo>
                  <a:pt x="30163" y="0"/>
                </a:lnTo>
                <a:lnTo>
                  <a:pt x="3016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745920" y="2144880"/>
            <a:ext cx="3173040" cy="2607120"/>
          </a:xfrm>
          <a:custGeom>
            <a:avLst/>
            <a:gdLst/>
            <a:ahLst/>
            <a:rect l="0" t="0" r="r" b="b"/>
            <a:pathLst>
              <a:path w="8814" h="7242">
                <a:moveTo>
                  <a:pt x="158" y="0"/>
                </a:moveTo>
                <a:lnTo>
                  <a:pt x="8657" y="0"/>
                </a:lnTo>
                <a:cubicBezTo>
                  <a:pt x="8667" y="0"/>
                  <a:pt x="8677" y="1"/>
                  <a:pt x="8687" y="3"/>
                </a:cubicBezTo>
                <a:cubicBezTo>
                  <a:pt x="8698" y="5"/>
                  <a:pt x="8707" y="8"/>
                  <a:pt x="8717" y="12"/>
                </a:cubicBezTo>
                <a:cubicBezTo>
                  <a:pt x="8727" y="16"/>
                  <a:pt x="8736" y="21"/>
                  <a:pt x="8744" y="26"/>
                </a:cubicBezTo>
                <a:cubicBezTo>
                  <a:pt x="8753" y="32"/>
                  <a:pt x="8761" y="39"/>
                  <a:pt x="8768" y="46"/>
                </a:cubicBezTo>
                <a:cubicBezTo>
                  <a:pt x="8775" y="53"/>
                  <a:pt x="8782" y="61"/>
                  <a:pt x="8788" y="70"/>
                </a:cubicBezTo>
                <a:cubicBezTo>
                  <a:pt x="8793" y="79"/>
                  <a:pt x="8798" y="88"/>
                  <a:pt x="8802" y="97"/>
                </a:cubicBezTo>
                <a:cubicBezTo>
                  <a:pt x="8806" y="107"/>
                  <a:pt x="8809" y="117"/>
                  <a:pt x="8811" y="127"/>
                </a:cubicBezTo>
                <a:cubicBezTo>
                  <a:pt x="8813" y="137"/>
                  <a:pt x="8814" y="147"/>
                  <a:pt x="8814" y="158"/>
                </a:cubicBezTo>
                <a:lnTo>
                  <a:pt x="8814" y="7085"/>
                </a:lnTo>
                <a:cubicBezTo>
                  <a:pt x="8814" y="7095"/>
                  <a:pt x="8813" y="7105"/>
                  <a:pt x="8811" y="7115"/>
                </a:cubicBezTo>
                <a:cubicBezTo>
                  <a:pt x="8809" y="7125"/>
                  <a:pt x="8806" y="7135"/>
                  <a:pt x="8802" y="7145"/>
                </a:cubicBezTo>
                <a:cubicBezTo>
                  <a:pt x="8798" y="7154"/>
                  <a:pt x="8793" y="7163"/>
                  <a:pt x="8788" y="7172"/>
                </a:cubicBezTo>
                <a:cubicBezTo>
                  <a:pt x="8782" y="7181"/>
                  <a:pt x="8775" y="7189"/>
                  <a:pt x="8768" y="7196"/>
                </a:cubicBezTo>
                <a:cubicBezTo>
                  <a:pt x="8761" y="7203"/>
                  <a:pt x="8753" y="7210"/>
                  <a:pt x="8744" y="7216"/>
                </a:cubicBezTo>
                <a:cubicBezTo>
                  <a:pt x="8736" y="7221"/>
                  <a:pt x="8727" y="7226"/>
                  <a:pt x="8717" y="7230"/>
                </a:cubicBezTo>
                <a:cubicBezTo>
                  <a:pt x="8707" y="7234"/>
                  <a:pt x="8698" y="7237"/>
                  <a:pt x="8687" y="7239"/>
                </a:cubicBezTo>
                <a:cubicBezTo>
                  <a:pt x="8677" y="7241"/>
                  <a:pt x="8667" y="7242"/>
                  <a:pt x="8657" y="7242"/>
                </a:cubicBezTo>
                <a:lnTo>
                  <a:pt x="158" y="7242"/>
                </a:lnTo>
                <a:cubicBezTo>
                  <a:pt x="147" y="7242"/>
                  <a:pt x="137" y="7241"/>
                  <a:pt x="127" y="7239"/>
                </a:cubicBezTo>
                <a:cubicBezTo>
                  <a:pt x="117" y="7237"/>
                  <a:pt x="107" y="7234"/>
                  <a:pt x="97" y="7230"/>
                </a:cubicBezTo>
                <a:cubicBezTo>
                  <a:pt x="88" y="7226"/>
                  <a:pt x="79" y="7221"/>
                  <a:pt x="70" y="7216"/>
                </a:cubicBezTo>
                <a:cubicBezTo>
                  <a:pt x="62" y="7210"/>
                  <a:pt x="54" y="7203"/>
                  <a:pt x="46" y="7196"/>
                </a:cubicBezTo>
                <a:cubicBezTo>
                  <a:pt x="39" y="7189"/>
                  <a:pt x="33" y="7181"/>
                  <a:pt x="27" y="7172"/>
                </a:cubicBezTo>
                <a:cubicBezTo>
                  <a:pt x="21" y="7163"/>
                  <a:pt x="16" y="7154"/>
                  <a:pt x="12" y="7145"/>
                </a:cubicBezTo>
                <a:cubicBezTo>
                  <a:pt x="8" y="7135"/>
                  <a:pt x="5" y="7125"/>
                  <a:pt x="3" y="7115"/>
                </a:cubicBezTo>
                <a:cubicBezTo>
                  <a:pt x="1" y="7105"/>
                  <a:pt x="0" y="7095"/>
                  <a:pt x="0" y="7085"/>
                </a:cubicBezTo>
                <a:lnTo>
                  <a:pt x="0" y="158"/>
                </a:lnTo>
                <a:cubicBezTo>
                  <a:pt x="0" y="147"/>
                  <a:pt x="1" y="137"/>
                  <a:pt x="3" y="127"/>
                </a:cubicBezTo>
                <a:cubicBezTo>
                  <a:pt x="5" y="117"/>
                  <a:pt x="8" y="107"/>
                  <a:pt x="12" y="97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1"/>
                  <a:pt x="39" y="53"/>
                  <a:pt x="46" y="46"/>
                </a:cubicBezTo>
                <a:cubicBezTo>
                  <a:pt x="54" y="39"/>
                  <a:pt x="62" y="32"/>
                  <a:pt x="70" y="26"/>
                </a:cubicBezTo>
                <a:cubicBezTo>
                  <a:pt x="79" y="21"/>
                  <a:pt x="88" y="16"/>
                  <a:pt x="97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7" y="1"/>
                  <a:pt x="147" y="0"/>
                  <a:pt x="158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745920" y="2144880"/>
            <a:ext cx="3173040" cy="2607120"/>
          </a:xfrm>
          <a:custGeom>
            <a:avLst/>
            <a:gdLst/>
            <a:ahLst/>
            <a:rect l="0" t="0" r="r" b="b"/>
            <a:pathLst>
              <a:path w="8814" h="7242">
                <a:moveTo>
                  <a:pt x="158" y="0"/>
                </a:moveTo>
                <a:lnTo>
                  <a:pt x="8657" y="0"/>
                </a:lnTo>
                <a:cubicBezTo>
                  <a:pt x="8667" y="0"/>
                  <a:pt x="8677" y="1"/>
                  <a:pt x="8687" y="3"/>
                </a:cubicBezTo>
                <a:cubicBezTo>
                  <a:pt x="8698" y="5"/>
                  <a:pt x="8707" y="8"/>
                  <a:pt x="8717" y="12"/>
                </a:cubicBezTo>
                <a:cubicBezTo>
                  <a:pt x="8727" y="16"/>
                  <a:pt x="8736" y="21"/>
                  <a:pt x="8744" y="26"/>
                </a:cubicBezTo>
                <a:cubicBezTo>
                  <a:pt x="8753" y="32"/>
                  <a:pt x="8761" y="39"/>
                  <a:pt x="8768" y="46"/>
                </a:cubicBezTo>
                <a:cubicBezTo>
                  <a:pt x="8775" y="53"/>
                  <a:pt x="8782" y="61"/>
                  <a:pt x="8788" y="70"/>
                </a:cubicBezTo>
                <a:cubicBezTo>
                  <a:pt x="8793" y="79"/>
                  <a:pt x="8798" y="88"/>
                  <a:pt x="8802" y="97"/>
                </a:cubicBezTo>
                <a:cubicBezTo>
                  <a:pt x="8806" y="107"/>
                  <a:pt x="8809" y="117"/>
                  <a:pt x="8811" y="127"/>
                </a:cubicBezTo>
                <a:cubicBezTo>
                  <a:pt x="8813" y="137"/>
                  <a:pt x="8814" y="147"/>
                  <a:pt x="8814" y="158"/>
                </a:cubicBezTo>
                <a:lnTo>
                  <a:pt x="8814" y="7085"/>
                </a:lnTo>
                <a:cubicBezTo>
                  <a:pt x="8814" y="7095"/>
                  <a:pt x="8813" y="7105"/>
                  <a:pt x="8811" y="7115"/>
                </a:cubicBezTo>
                <a:cubicBezTo>
                  <a:pt x="8809" y="7125"/>
                  <a:pt x="8806" y="7135"/>
                  <a:pt x="8802" y="7145"/>
                </a:cubicBezTo>
                <a:cubicBezTo>
                  <a:pt x="8798" y="7154"/>
                  <a:pt x="8793" y="7163"/>
                  <a:pt x="8788" y="7172"/>
                </a:cubicBezTo>
                <a:cubicBezTo>
                  <a:pt x="8782" y="7181"/>
                  <a:pt x="8775" y="7189"/>
                  <a:pt x="8768" y="7196"/>
                </a:cubicBezTo>
                <a:cubicBezTo>
                  <a:pt x="8761" y="7203"/>
                  <a:pt x="8753" y="7210"/>
                  <a:pt x="8744" y="7216"/>
                </a:cubicBezTo>
                <a:cubicBezTo>
                  <a:pt x="8736" y="7221"/>
                  <a:pt x="8727" y="7226"/>
                  <a:pt x="8717" y="7230"/>
                </a:cubicBezTo>
                <a:cubicBezTo>
                  <a:pt x="8707" y="7234"/>
                  <a:pt x="8698" y="7237"/>
                  <a:pt x="8687" y="7239"/>
                </a:cubicBezTo>
                <a:cubicBezTo>
                  <a:pt x="8677" y="7241"/>
                  <a:pt x="8667" y="7242"/>
                  <a:pt x="8657" y="7242"/>
                </a:cubicBezTo>
                <a:lnTo>
                  <a:pt x="158" y="7242"/>
                </a:lnTo>
                <a:cubicBezTo>
                  <a:pt x="147" y="7242"/>
                  <a:pt x="137" y="7241"/>
                  <a:pt x="127" y="7239"/>
                </a:cubicBezTo>
                <a:cubicBezTo>
                  <a:pt x="117" y="7237"/>
                  <a:pt x="107" y="7234"/>
                  <a:pt x="97" y="7230"/>
                </a:cubicBezTo>
                <a:cubicBezTo>
                  <a:pt x="88" y="7226"/>
                  <a:pt x="79" y="7221"/>
                  <a:pt x="70" y="7216"/>
                </a:cubicBezTo>
                <a:cubicBezTo>
                  <a:pt x="62" y="7210"/>
                  <a:pt x="54" y="7203"/>
                  <a:pt x="46" y="7196"/>
                </a:cubicBezTo>
                <a:cubicBezTo>
                  <a:pt x="39" y="7189"/>
                  <a:pt x="33" y="7181"/>
                  <a:pt x="27" y="7172"/>
                </a:cubicBezTo>
                <a:cubicBezTo>
                  <a:pt x="21" y="7163"/>
                  <a:pt x="16" y="7154"/>
                  <a:pt x="12" y="7145"/>
                </a:cubicBezTo>
                <a:cubicBezTo>
                  <a:pt x="8" y="7135"/>
                  <a:pt x="5" y="7125"/>
                  <a:pt x="3" y="7115"/>
                </a:cubicBezTo>
                <a:cubicBezTo>
                  <a:pt x="1" y="7105"/>
                  <a:pt x="0" y="7095"/>
                  <a:pt x="0" y="7085"/>
                </a:cubicBezTo>
                <a:lnTo>
                  <a:pt x="0" y="158"/>
                </a:lnTo>
                <a:cubicBezTo>
                  <a:pt x="0" y="147"/>
                  <a:pt x="1" y="137"/>
                  <a:pt x="3" y="127"/>
                </a:cubicBezTo>
                <a:cubicBezTo>
                  <a:pt x="5" y="117"/>
                  <a:pt x="8" y="107"/>
                  <a:pt x="12" y="97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1"/>
                  <a:pt x="39" y="53"/>
                  <a:pt x="46" y="46"/>
                </a:cubicBezTo>
                <a:cubicBezTo>
                  <a:pt x="54" y="39"/>
                  <a:pt x="62" y="32"/>
                  <a:pt x="70" y="26"/>
                </a:cubicBezTo>
                <a:cubicBezTo>
                  <a:pt x="79" y="21"/>
                  <a:pt x="88" y="16"/>
                  <a:pt x="97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7" y="1"/>
                  <a:pt x="147" y="0"/>
                  <a:pt x="158" y="0"/>
                </a:cubicBezTo>
                <a:close/>
              </a:path>
            </a:pathLst>
          </a:custGeom>
          <a:noFill/>
          <a:ln w="5400">
            <a:solidFill>
              <a:srgbClr val="00a9c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666720" y="977400"/>
            <a:ext cx="280476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Three levels of eﬀort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859680" y="2287800"/>
            <a:ext cx="118944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60" spc="-1" strike="noStrike">
                <a:solidFill>
                  <a:srgbClr val="001d34"/>
                </a:solidFill>
                <a:latin typeface="Calibri"/>
                <a:ea typeface="Calibri"/>
              </a:rPr>
              <a:t>1 Conﬁgure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859680" y="2627640"/>
            <a:ext cx="24912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859680" y="2967480"/>
            <a:ext cx="142416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001d34"/>
                </a:solidFill>
                <a:latin typeface="Calibri"/>
                <a:ea typeface="Calibri"/>
              </a:rPr>
              <a:t>A stock server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859680" y="3307680"/>
            <a:ext cx="66060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001d34"/>
                </a:solidFill>
                <a:latin typeface="Calibri"/>
                <a:ea typeface="Calibri"/>
              </a:rPr>
              <a:t>and se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1731600" y="3307680"/>
            <a:ext cx="34668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001d34"/>
                </a:solidFill>
                <a:latin typeface="Calibri"/>
                <a:ea typeface="Calibri"/>
              </a:rPr>
              <a:t>ngs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859320" y="4244040"/>
            <a:ext cx="370800" cy="25560"/>
          </a:xfrm>
          <a:custGeom>
            <a:avLst/>
            <a:gdLst/>
            <a:ahLst/>
            <a:rect l="0" t="0" r="r" b="b"/>
            <a:pathLst>
              <a:path w="1030" h="71">
                <a:moveTo>
                  <a:pt x="0" y="0"/>
                </a:moveTo>
                <a:lnTo>
                  <a:pt x="1030" y="0"/>
                </a:lnTo>
                <a:lnTo>
                  <a:pt x="1030" y="71"/>
                </a:lnTo>
                <a:lnTo>
                  <a:pt x="0" y="71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859680" y="3647520"/>
            <a:ext cx="24912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859680" y="3987720"/>
            <a:ext cx="36792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001d34"/>
                </a:solidFill>
                <a:latin typeface="Calibri"/>
                <a:ea typeface="Calibri"/>
              </a:rPr>
              <a:t>e.g.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1352520" y="3987720"/>
            <a:ext cx="169992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001d34"/>
                </a:solidFill>
                <a:latin typeface="Calibri"/>
                <a:ea typeface="Calibri"/>
              </a:rPr>
              <a:t>HAPI FHIR set up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4325760" y="1974600"/>
            <a:ext cx="3329280" cy="2947320"/>
          </a:xfrm>
          <a:custGeom>
            <a:avLst/>
            <a:gdLst/>
            <a:ahLst/>
            <a:rect l="0" t="0" r="r" b="b"/>
            <a:pathLst>
              <a:path w="9248" h="8187">
                <a:moveTo>
                  <a:pt x="158" y="0"/>
                </a:moveTo>
                <a:lnTo>
                  <a:pt x="9090" y="0"/>
                </a:lnTo>
                <a:cubicBezTo>
                  <a:pt x="9100" y="0"/>
                  <a:pt x="9111" y="1"/>
                  <a:pt x="9121" y="3"/>
                </a:cubicBezTo>
                <a:cubicBezTo>
                  <a:pt x="9131" y="5"/>
                  <a:pt x="9141" y="8"/>
                  <a:pt x="9150" y="12"/>
                </a:cubicBezTo>
                <a:cubicBezTo>
                  <a:pt x="9160" y="16"/>
                  <a:pt x="9169" y="21"/>
                  <a:pt x="9177" y="27"/>
                </a:cubicBezTo>
                <a:cubicBezTo>
                  <a:pt x="9186" y="32"/>
                  <a:pt x="9194" y="39"/>
                  <a:pt x="9201" y="46"/>
                </a:cubicBezTo>
                <a:cubicBezTo>
                  <a:pt x="9209" y="54"/>
                  <a:pt x="9215" y="62"/>
                  <a:pt x="9221" y="70"/>
                </a:cubicBezTo>
                <a:cubicBezTo>
                  <a:pt x="9227" y="79"/>
                  <a:pt x="9232" y="88"/>
                  <a:pt x="9236" y="97"/>
                </a:cubicBezTo>
                <a:cubicBezTo>
                  <a:pt x="9239" y="107"/>
                  <a:pt x="9242" y="117"/>
                  <a:pt x="9244" y="127"/>
                </a:cubicBezTo>
                <a:cubicBezTo>
                  <a:pt x="9247" y="137"/>
                  <a:pt x="9248" y="147"/>
                  <a:pt x="9248" y="158"/>
                </a:cubicBezTo>
                <a:lnTo>
                  <a:pt x="9248" y="8029"/>
                </a:lnTo>
                <a:cubicBezTo>
                  <a:pt x="9248" y="8039"/>
                  <a:pt x="9247" y="8050"/>
                  <a:pt x="9244" y="8060"/>
                </a:cubicBezTo>
                <a:cubicBezTo>
                  <a:pt x="9242" y="8070"/>
                  <a:pt x="9239" y="8080"/>
                  <a:pt x="9236" y="8089"/>
                </a:cubicBezTo>
                <a:cubicBezTo>
                  <a:pt x="9232" y="8099"/>
                  <a:pt x="9227" y="8108"/>
                  <a:pt x="9221" y="8117"/>
                </a:cubicBezTo>
                <a:cubicBezTo>
                  <a:pt x="9215" y="8125"/>
                  <a:pt x="9209" y="8133"/>
                  <a:pt x="9201" y="8141"/>
                </a:cubicBezTo>
                <a:cubicBezTo>
                  <a:pt x="9194" y="8148"/>
                  <a:pt x="9186" y="8154"/>
                  <a:pt x="9177" y="8160"/>
                </a:cubicBezTo>
                <a:cubicBezTo>
                  <a:pt x="9169" y="8166"/>
                  <a:pt x="9160" y="8171"/>
                  <a:pt x="9150" y="8175"/>
                </a:cubicBezTo>
                <a:cubicBezTo>
                  <a:pt x="9141" y="8179"/>
                  <a:pt x="9131" y="8182"/>
                  <a:pt x="9121" y="8184"/>
                </a:cubicBezTo>
                <a:cubicBezTo>
                  <a:pt x="9111" y="8186"/>
                  <a:pt x="9100" y="8187"/>
                  <a:pt x="9090" y="8187"/>
                </a:cubicBezTo>
                <a:lnTo>
                  <a:pt x="158" y="8187"/>
                </a:lnTo>
                <a:cubicBezTo>
                  <a:pt x="147" y="8187"/>
                  <a:pt x="137" y="8186"/>
                  <a:pt x="127" y="8184"/>
                </a:cubicBezTo>
                <a:cubicBezTo>
                  <a:pt x="117" y="8182"/>
                  <a:pt x="107" y="8179"/>
                  <a:pt x="97" y="8175"/>
                </a:cubicBezTo>
                <a:cubicBezTo>
                  <a:pt x="88" y="8171"/>
                  <a:pt x="79" y="8166"/>
                  <a:pt x="70" y="8160"/>
                </a:cubicBezTo>
                <a:cubicBezTo>
                  <a:pt x="61" y="8154"/>
                  <a:pt x="54" y="8148"/>
                  <a:pt x="46" y="8141"/>
                </a:cubicBezTo>
                <a:cubicBezTo>
                  <a:pt x="39" y="8133"/>
                  <a:pt x="32" y="8125"/>
                  <a:pt x="27" y="8117"/>
                </a:cubicBezTo>
                <a:cubicBezTo>
                  <a:pt x="21" y="8108"/>
                  <a:pt x="16" y="8099"/>
                  <a:pt x="12" y="8089"/>
                </a:cubicBezTo>
                <a:cubicBezTo>
                  <a:pt x="8" y="8080"/>
                  <a:pt x="5" y="8070"/>
                  <a:pt x="3" y="8060"/>
                </a:cubicBezTo>
                <a:cubicBezTo>
                  <a:pt x="1" y="8050"/>
                  <a:pt x="0" y="8039"/>
                  <a:pt x="0" y="8029"/>
                </a:cubicBezTo>
                <a:lnTo>
                  <a:pt x="0" y="158"/>
                </a:lnTo>
                <a:cubicBezTo>
                  <a:pt x="0" y="147"/>
                  <a:pt x="1" y="137"/>
                  <a:pt x="3" y="127"/>
                </a:cubicBezTo>
                <a:cubicBezTo>
                  <a:pt x="5" y="117"/>
                  <a:pt x="8" y="107"/>
                  <a:pt x="12" y="97"/>
                </a:cubicBezTo>
                <a:cubicBezTo>
                  <a:pt x="16" y="88"/>
                  <a:pt x="21" y="79"/>
                  <a:pt x="27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4" y="39"/>
                  <a:pt x="61" y="32"/>
                  <a:pt x="70" y="27"/>
                </a:cubicBezTo>
                <a:cubicBezTo>
                  <a:pt x="79" y="21"/>
                  <a:pt x="88" y="16"/>
                  <a:pt x="97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7" y="1"/>
                  <a:pt x="147" y="0"/>
                  <a:pt x="158" y="0"/>
                </a:cubicBezTo>
                <a:close/>
              </a:path>
            </a:pathLst>
          </a:custGeom>
          <a:solidFill>
            <a:srgbClr val="8ad8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4325760" y="1974600"/>
            <a:ext cx="3329280" cy="2947320"/>
          </a:xfrm>
          <a:custGeom>
            <a:avLst/>
            <a:gdLst/>
            <a:ahLst/>
            <a:rect l="0" t="0" r="r" b="b"/>
            <a:pathLst>
              <a:path w="9248" h="8187">
                <a:moveTo>
                  <a:pt x="158" y="0"/>
                </a:moveTo>
                <a:lnTo>
                  <a:pt x="9090" y="0"/>
                </a:lnTo>
                <a:cubicBezTo>
                  <a:pt x="9100" y="0"/>
                  <a:pt x="9111" y="1"/>
                  <a:pt x="9121" y="3"/>
                </a:cubicBezTo>
                <a:cubicBezTo>
                  <a:pt x="9131" y="5"/>
                  <a:pt x="9141" y="8"/>
                  <a:pt x="9150" y="12"/>
                </a:cubicBezTo>
                <a:cubicBezTo>
                  <a:pt x="9160" y="16"/>
                  <a:pt x="9169" y="21"/>
                  <a:pt x="9177" y="27"/>
                </a:cubicBezTo>
                <a:cubicBezTo>
                  <a:pt x="9186" y="32"/>
                  <a:pt x="9194" y="39"/>
                  <a:pt x="9201" y="46"/>
                </a:cubicBezTo>
                <a:cubicBezTo>
                  <a:pt x="9209" y="54"/>
                  <a:pt x="9215" y="62"/>
                  <a:pt x="9221" y="70"/>
                </a:cubicBezTo>
                <a:cubicBezTo>
                  <a:pt x="9227" y="79"/>
                  <a:pt x="9232" y="88"/>
                  <a:pt x="9236" y="97"/>
                </a:cubicBezTo>
                <a:cubicBezTo>
                  <a:pt x="9239" y="107"/>
                  <a:pt x="9242" y="117"/>
                  <a:pt x="9244" y="127"/>
                </a:cubicBezTo>
                <a:cubicBezTo>
                  <a:pt x="9247" y="137"/>
                  <a:pt x="9248" y="147"/>
                  <a:pt x="9248" y="158"/>
                </a:cubicBezTo>
                <a:lnTo>
                  <a:pt x="9248" y="8029"/>
                </a:lnTo>
                <a:cubicBezTo>
                  <a:pt x="9248" y="8039"/>
                  <a:pt x="9247" y="8050"/>
                  <a:pt x="9244" y="8060"/>
                </a:cubicBezTo>
                <a:cubicBezTo>
                  <a:pt x="9242" y="8070"/>
                  <a:pt x="9239" y="8080"/>
                  <a:pt x="9236" y="8089"/>
                </a:cubicBezTo>
                <a:cubicBezTo>
                  <a:pt x="9232" y="8099"/>
                  <a:pt x="9227" y="8108"/>
                  <a:pt x="9221" y="8117"/>
                </a:cubicBezTo>
                <a:cubicBezTo>
                  <a:pt x="9215" y="8125"/>
                  <a:pt x="9209" y="8133"/>
                  <a:pt x="9201" y="8141"/>
                </a:cubicBezTo>
                <a:cubicBezTo>
                  <a:pt x="9194" y="8148"/>
                  <a:pt x="9186" y="8154"/>
                  <a:pt x="9177" y="8160"/>
                </a:cubicBezTo>
                <a:cubicBezTo>
                  <a:pt x="9169" y="8166"/>
                  <a:pt x="9160" y="8171"/>
                  <a:pt x="9150" y="8175"/>
                </a:cubicBezTo>
                <a:cubicBezTo>
                  <a:pt x="9141" y="8179"/>
                  <a:pt x="9131" y="8182"/>
                  <a:pt x="9121" y="8184"/>
                </a:cubicBezTo>
                <a:cubicBezTo>
                  <a:pt x="9111" y="8186"/>
                  <a:pt x="9100" y="8187"/>
                  <a:pt x="9090" y="8187"/>
                </a:cubicBezTo>
                <a:lnTo>
                  <a:pt x="158" y="8187"/>
                </a:lnTo>
                <a:cubicBezTo>
                  <a:pt x="147" y="8187"/>
                  <a:pt x="137" y="8186"/>
                  <a:pt x="127" y="8184"/>
                </a:cubicBezTo>
                <a:cubicBezTo>
                  <a:pt x="117" y="8182"/>
                  <a:pt x="107" y="8179"/>
                  <a:pt x="97" y="8175"/>
                </a:cubicBezTo>
                <a:cubicBezTo>
                  <a:pt x="88" y="8171"/>
                  <a:pt x="79" y="8166"/>
                  <a:pt x="70" y="8160"/>
                </a:cubicBezTo>
                <a:cubicBezTo>
                  <a:pt x="61" y="8154"/>
                  <a:pt x="54" y="8148"/>
                  <a:pt x="46" y="8141"/>
                </a:cubicBezTo>
                <a:cubicBezTo>
                  <a:pt x="39" y="8133"/>
                  <a:pt x="32" y="8125"/>
                  <a:pt x="27" y="8117"/>
                </a:cubicBezTo>
                <a:cubicBezTo>
                  <a:pt x="21" y="8108"/>
                  <a:pt x="16" y="8099"/>
                  <a:pt x="12" y="8089"/>
                </a:cubicBezTo>
                <a:cubicBezTo>
                  <a:pt x="8" y="8080"/>
                  <a:pt x="5" y="8070"/>
                  <a:pt x="3" y="8060"/>
                </a:cubicBezTo>
                <a:cubicBezTo>
                  <a:pt x="1" y="8050"/>
                  <a:pt x="0" y="8039"/>
                  <a:pt x="0" y="8029"/>
                </a:cubicBezTo>
                <a:lnTo>
                  <a:pt x="0" y="158"/>
                </a:lnTo>
                <a:cubicBezTo>
                  <a:pt x="0" y="147"/>
                  <a:pt x="1" y="137"/>
                  <a:pt x="3" y="127"/>
                </a:cubicBezTo>
                <a:cubicBezTo>
                  <a:pt x="5" y="117"/>
                  <a:pt x="8" y="107"/>
                  <a:pt x="12" y="97"/>
                </a:cubicBezTo>
                <a:cubicBezTo>
                  <a:pt x="16" y="88"/>
                  <a:pt x="21" y="79"/>
                  <a:pt x="27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4" y="39"/>
                  <a:pt x="61" y="32"/>
                  <a:pt x="70" y="27"/>
                </a:cubicBezTo>
                <a:cubicBezTo>
                  <a:pt x="79" y="21"/>
                  <a:pt x="88" y="16"/>
                  <a:pt x="97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7" y="1"/>
                  <a:pt x="147" y="0"/>
                  <a:pt x="158" y="0"/>
                </a:cubicBezTo>
                <a:close/>
              </a:path>
            </a:pathLst>
          </a:custGeom>
          <a:noFill/>
          <a:ln w="5400">
            <a:solidFill>
              <a:srgbClr val="00a9c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859680" y="4327560"/>
            <a:ext cx="252756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001d34"/>
                </a:solidFill>
                <a:latin typeface="Calibri"/>
                <a:ea typeface="Calibri"/>
              </a:rPr>
              <a:t>from akkadakka snippets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4439520" y="2117520"/>
            <a:ext cx="119844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60" spc="-1" strike="noStrike">
                <a:solidFill>
                  <a:srgbClr val="001d34"/>
                </a:solidFill>
                <a:latin typeface="Calibri"/>
                <a:ea typeface="Calibri"/>
              </a:rPr>
              <a:t>2 Add an IG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439520" y="2457720"/>
            <a:ext cx="24912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4439520" y="2797560"/>
            <a:ext cx="193608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001d34"/>
                </a:solidFill>
                <a:latin typeface="Calibri"/>
                <a:ea typeface="Calibri"/>
              </a:rPr>
              <a:t>Proﬁles, ValueSets,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4439520" y="3137400"/>
            <a:ext cx="213264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001d34"/>
                </a:solidFill>
                <a:latin typeface="Calibri"/>
                <a:ea typeface="Calibri"/>
              </a:rPr>
              <a:t>CapabilityStatement.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4439520" y="3477600"/>
            <a:ext cx="90612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001d34"/>
                </a:solidFill>
                <a:latin typeface="Calibri"/>
                <a:ea typeface="Calibri"/>
              </a:rPr>
              <a:t>No code.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4439160" y="4413960"/>
            <a:ext cx="370800" cy="25200"/>
          </a:xfrm>
          <a:custGeom>
            <a:avLst/>
            <a:gdLst/>
            <a:ahLst/>
            <a:rect l="0" t="0" r="r" b="b"/>
            <a:pathLst>
              <a:path w="1030" h="70">
                <a:moveTo>
                  <a:pt x="0" y="0"/>
                </a:moveTo>
                <a:lnTo>
                  <a:pt x="1030" y="0"/>
                </a:lnTo>
                <a:lnTo>
                  <a:pt x="1030" y="70"/>
                </a:lnTo>
                <a:lnTo>
                  <a:pt x="0" y="70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4439520" y="3817440"/>
            <a:ext cx="24912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4439520" y="4157640"/>
            <a:ext cx="36792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001d34"/>
                </a:solidFill>
                <a:latin typeface="Calibri"/>
                <a:ea typeface="Calibri"/>
              </a:rPr>
              <a:t>e.g.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4932360" y="4157640"/>
            <a:ext cx="226080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001d34"/>
                </a:solidFill>
                <a:latin typeface="Calibri"/>
                <a:ea typeface="Calibri"/>
              </a:rPr>
              <a:t>the Radiology Referral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8047440" y="1804320"/>
            <a:ext cx="3417480" cy="3287160"/>
          </a:xfrm>
          <a:custGeom>
            <a:avLst/>
            <a:gdLst/>
            <a:ahLst/>
            <a:rect l="0" t="0" r="r" b="b"/>
            <a:pathLst>
              <a:path w="9493" h="9131">
                <a:moveTo>
                  <a:pt x="157" y="0"/>
                </a:moveTo>
                <a:lnTo>
                  <a:pt x="9336" y="0"/>
                </a:lnTo>
                <a:cubicBezTo>
                  <a:pt x="9346" y="0"/>
                  <a:pt x="9357" y="1"/>
                  <a:pt x="9367" y="3"/>
                </a:cubicBezTo>
                <a:cubicBezTo>
                  <a:pt x="9377" y="5"/>
                  <a:pt x="9387" y="8"/>
                  <a:pt x="9396" y="12"/>
                </a:cubicBezTo>
                <a:cubicBezTo>
                  <a:pt x="9406" y="16"/>
                  <a:pt x="9415" y="21"/>
                  <a:pt x="9423" y="27"/>
                </a:cubicBezTo>
                <a:cubicBezTo>
                  <a:pt x="9432" y="33"/>
                  <a:pt x="9440" y="39"/>
                  <a:pt x="9447" y="47"/>
                </a:cubicBezTo>
                <a:cubicBezTo>
                  <a:pt x="9455" y="54"/>
                  <a:pt x="9461" y="62"/>
                  <a:pt x="9467" y="70"/>
                </a:cubicBezTo>
                <a:cubicBezTo>
                  <a:pt x="9473" y="79"/>
                  <a:pt x="9478" y="88"/>
                  <a:pt x="9481" y="98"/>
                </a:cubicBezTo>
                <a:cubicBezTo>
                  <a:pt x="9485" y="107"/>
                  <a:pt x="9488" y="117"/>
                  <a:pt x="9490" y="127"/>
                </a:cubicBezTo>
                <a:cubicBezTo>
                  <a:pt x="9492" y="137"/>
                  <a:pt x="9493" y="148"/>
                  <a:pt x="9493" y="158"/>
                </a:cubicBezTo>
                <a:lnTo>
                  <a:pt x="9493" y="8974"/>
                </a:lnTo>
                <a:cubicBezTo>
                  <a:pt x="9493" y="8984"/>
                  <a:pt x="9492" y="8994"/>
                  <a:pt x="9490" y="9005"/>
                </a:cubicBezTo>
                <a:cubicBezTo>
                  <a:pt x="9488" y="9015"/>
                  <a:pt x="9485" y="9025"/>
                  <a:pt x="9481" y="9034"/>
                </a:cubicBezTo>
                <a:cubicBezTo>
                  <a:pt x="9478" y="9044"/>
                  <a:pt x="9473" y="9053"/>
                  <a:pt x="9467" y="9061"/>
                </a:cubicBezTo>
                <a:cubicBezTo>
                  <a:pt x="9461" y="9070"/>
                  <a:pt x="9455" y="9078"/>
                  <a:pt x="9447" y="9085"/>
                </a:cubicBezTo>
                <a:cubicBezTo>
                  <a:pt x="9440" y="9093"/>
                  <a:pt x="9432" y="9099"/>
                  <a:pt x="9423" y="9105"/>
                </a:cubicBezTo>
                <a:cubicBezTo>
                  <a:pt x="9415" y="9111"/>
                  <a:pt x="9406" y="9115"/>
                  <a:pt x="9396" y="9119"/>
                </a:cubicBezTo>
                <a:cubicBezTo>
                  <a:pt x="9387" y="9123"/>
                  <a:pt x="9377" y="9126"/>
                  <a:pt x="9367" y="9128"/>
                </a:cubicBezTo>
                <a:cubicBezTo>
                  <a:pt x="9357" y="9130"/>
                  <a:pt x="9346" y="9131"/>
                  <a:pt x="9336" y="9131"/>
                </a:cubicBezTo>
                <a:lnTo>
                  <a:pt x="157" y="9131"/>
                </a:lnTo>
                <a:cubicBezTo>
                  <a:pt x="147" y="9131"/>
                  <a:pt x="137" y="9130"/>
                  <a:pt x="127" y="9128"/>
                </a:cubicBezTo>
                <a:cubicBezTo>
                  <a:pt x="117" y="9126"/>
                  <a:pt x="107" y="9123"/>
                  <a:pt x="97" y="9119"/>
                </a:cubicBezTo>
                <a:cubicBezTo>
                  <a:pt x="88" y="9115"/>
                  <a:pt x="79" y="9111"/>
                  <a:pt x="70" y="9105"/>
                </a:cubicBezTo>
                <a:cubicBezTo>
                  <a:pt x="61" y="9099"/>
                  <a:pt x="53" y="9093"/>
                  <a:pt x="46" y="9085"/>
                </a:cubicBezTo>
                <a:cubicBezTo>
                  <a:pt x="39" y="9078"/>
                  <a:pt x="32" y="9070"/>
                  <a:pt x="26" y="9061"/>
                </a:cubicBezTo>
                <a:cubicBezTo>
                  <a:pt x="21" y="9053"/>
                  <a:pt x="16" y="9044"/>
                  <a:pt x="12" y="9034"/>
                </a:cubicBezTo>
                <a:cubicBezTo>
                  <a:pt x="8" y="9025"/>
                  <a:pt x="5" y="9015"/>
                  <a:pt x="3" y="9005"/>
                </a:cubicBezTo>
                <a:cubicBezTo>
                  <a:pt x="1" y="8994"/>
                  <a:pt x="0" y="8984"/>
                  <a:pt x="0" y="8974"/>
                </a:cubicBezTo>
                <a:lnTo>
                  <a:pt x="0" y="158"/>
                </a:lnTo>
                <a:cubicBezTo>
                  <a:pt x="0" y="148"/>
                  <a:pt x="1" y="137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6" y="70"/>
                </a:cubicBezTo>
                <a:cubicBezTo>
                  <a:pt x="32" y="62"/>
                  <a:pt x="39" y="54"/>
                  <a:pt x="46" y="47"/>
                </a:cubicBezTo>
                <a:cubicBezTo>
                  <a:pt x="53" y="39"/>
                  <a:pt x="61" y="33"/>
                  <a:pt x="70" y="27"/>
                </a:cubicBezTo>
                <a:cubicBezTo>
                  <a:pt x="79" y="21"/>
                  <a:pt x="88" y="16"/>
                  <a:pt x="97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7" y="1"/>
                  <a:pt x="147" y="0"/>
                  <a:pt x="157" y="0"/>
                </a:cubicBezTo>
                <a:close/>
              </a:path>
            </a:pathLst>
          </a:custGeom>
          <a:solidFill>
            <a:srgbClr val="007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8047440" y="1804320"/>
            <a:ext cx="3417480" cy="3287160"/>
          </a:xfrm>
          <a:custGeom>
            <a:avLst/>
            <a:gdLst/>
            <a:ahLst/>
            <a:rect l="0" t="0" r="r" b="b"/>
            <a:pathLst>
              <a:path w="9493" h="9131">
                <a:moveTo>
                  <a:pt x="157" y="0"/>
                </a:moveTo>
                <a:lnTo>
                  <a:pt x="9336" y="0"/>
                </a:lnTo>
                <a:cubicBezTo>
                  <a:pt x="9346" y="0"/>
                  <a:pt x="9357" y="1"/>
                  <a:pt x="9367" y="3"/>
                </a:cubicBezTo>
                <a:cubicBezTo>
                  <a:pt x="9377" y="5"/>
                  <a:pt x="9387" y="8"/>
                  <a:pt x="9396" y="12"/>
                </a:cubicBezTo>
                <a:cubicBezTo>
                  <a:pt x="9406" y="16"/>
                  <a:pt x="9415" y="21"/>
                  <a:pt x="9423" y="27"/>
                </a:cubicBezTo>
                <a:cubicBezTo>
                  <a:pt x="9432" y="33"/>
                  <a:pt x="9440" y="39"/>
                  <a:pt x="9447" y="47"/>
                </a:cubicBezTo>
                <a:cubicBezTo>
                  <a:pt x="9455" y="54"/>
                  <a:pt x="9461" y="62"/>
                  <a:pt x="9467" y="70"/>
                </a:cubicBezTo>
                <a:cubicBezTo>
                  <a:pt x="9473" y="79"/>
                  <a:pt x="9478" y="88"/>
                  <a:pt x="9481" y="98"/>
                </a:cubicBezTo>
                <a:cubicBezTo>
                  <a:pt x="9485" y="107"/>
                  <a:pt x="9488" y="117"/>
                  <a:pt x="9490" y="127"/>
                </a:cubicBezTo>
                <a:cubicBezTo>
                  <a:pt x="9492" y="137"/>
                  <a:pt x="9493" y="148"/>
                  <a:pt x="9493" y="158"/>
                </a:cubicBezTo>
                <a:lnTo>
                  <a:pt x="9493" y="8974"/>
                </a:lnTo>
                <a:cubicBezTo>
                  <a:pt x="9493" y="8984"/>
                  <a:pt x="9492" y="8994"/>
                  <a:pt x="9490" y="9005"/>
                </a:cubicBezTo>
                <a:cubicBezTo>
                  <a:pt x="9488" y="9015"/>
                  <a:pt x="9485" y="9025"/>
                  <a:pt x="9481" y="9034"/>
                </a:cubicBezTo>
                <a:cubicBezTo>
                  <a:pt x="9478" y="9044"/>
                  <a:pt x="9473" y="9053"/>
                  <a:pt x="9467" y="9061"/>
                </a:cubicBezTo>
                <a:cubicBezTo>
                  <a:pt x="9461" y="9070"/>
                  <a:pt x="9455" y="9078"/>
                  <a:pt x="9447" y="9085"/>
                </a:cubicBezTo>
                <a:cubicBezTo>
                  <a:pt x="9440" y="9093"/>
                  <a:pt x="9432" y="9099"/>
                  <a:pt x="9423" y="9105"/>
                </a:cubicBezTo>
                <a:cubicBezTo>
                  <a:pt x="9415" y="9111"/>
                  <a:pt x="9406" y="9115"/>
                  <a:pt x="9396" y="9119"/>
                </a:cubicBezTo>
                <a:cubicBezTo>
                  <a:pt x="9387" y="9123"/>
                  <a:pt x="9377" y="9126"/>
                  <a:pt x="9367" y="9128"/>
                </a:cubicBezTo>
                <a:cubicBezTo>
                  <a:pt x="9357" y="9130"/>
                  <a:pt x="9346" y="9131"/>
                  <a:pt x="9336" y="9131"/>
                </a:cubicBezTo>
                <a:lnTo>
                  <a:pt x="157" y="9131"/>
                </a:lnTo>
                <a:cubicBezTo>
                  <a:pt x="147" y="9131"/>
                  <a:pt x="137" y="9130"/>
                  <a:pt x="127" y="9128"/>
                </a:cubicBezTo>
                <a:cubicBezTo>
                  <a:pt x="117" y="9126"/>
                  <a:pt x="107" y="9123"/>
                  <a:pt x="97" y="9119"/>
                </a:cubicBezTo>
                <a:cubicBezTo>
                  <a:pt x="88" y="9115"/>
                  <a:pt x="79" y="9111"/>
                  <a:pt x="70" y="9105"/>
                </a:cubicBezTo>
                <a:cubicBezTo>
                  <a:pt x="61" y="9099"/>
                  <a:pt x="53" y="9093"/>
                  <a:pt x="46" y="9085"/>
                </a:cubicBezTo>
                <a:cubicBezTo>
                  <a:pt x="39" y="9078"/>
                  <a:pt x="32" y="9070"/>
                  <a:pt x="26" y="9061"/>
                </a:cubicBezTo>
                <a:cubicBezTo>
                  <a:pt x="21" y="9053"/>
                  <a:pt x="16" y="9044"/>
                  <a:pt x="12" y="9034"/>
                </a:cubicBezTo>
                <a:cubicBezTo>
                  <a:pt x="8" y="9025"/>
                  <a:pt x="5" y="9015"/>
                  <a:pt x="3" y="9005"/>
                </a:cubicBezTo>
                <a:cubicBezTo>
                  <a:pt x="1" y="8994"/>
                  <a:pt x="0" y="8984"/>
                  <a:pt x="0" y="8974"/>
                </a:cubicBezTo>
                <a:lnTo>
                  <a:pt x="0" y="158"/>
                </a:lnTo>
                <a:cubicBezTo>
                  <a:pt x="0" y="148"/>
                  <a:pt x="1" y="137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6" y="70"/>
                </a:cubicBezTo>
                <a:cubicBezTo>
                  <a:pt x="32" y="62"/>
                  <a:pt x="39" y="54"/>
                  <a:pt x="46" y="47"/>
                </a:cubicBezTo>
                <a:cubicBezTo>
                  <a:pt x="53" y="39"/>
                  <a:pt x="61" y="33"/>
                  <a:pt x="70" y="27"/>
                </a:cubicBezTo>
                <a:cubicBezTo>
                  <a:pt x="79" y="21"/>
                  <a:pt x="88" y="16"/>
                  <a:pt x="97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7" y="1"/>
                  <a:pt x="147" y="0"/>
                  <a:pt x="157" y="0"/>
                </a:cubicBezTo>
                <a:close/>
              </a:path>
            </a:pathLst>
          </a:custGeom>
          <a:noFill/>
          <a:ln w="5400">
            <a:solidFill>
              <a:srgbClr val="00a9c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4439520" y="4497480"/>
            <a:ext cx="153540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001d34"/>
                </a:solidFill>
                <a:latin typeface="Calibri"/>
                <a:ea typeface="Calibri"/>
              </a:rPr>
              <a:t>and Booking IG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8160840" y="1947240"/>
            <a:ext cx="174096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60" spc="-1" strike="noStrike">
                <a:solidFill>
                  <a:srgbClr val="ffffff"/>
                </a:solidFill>
                <a:latin typeface="Calibri"/>
                <a:ea typeface="Calibri"/>
              </a:rPr>
              <a:t>3 Write minimal,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8160840" y="2287440"/>
            <a:ext cx="132048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60" spc="-1" strike="noStrike">
                <a:solidFill>
                  <a:srgbClr val="ffffff"/>
                </a:solidFill>
                <a:latin typeface="Calibri"/>
                <a:ea typeface="Calibri"/>
              </a:rPr>
              <a:t>concise code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8160840" y="2627280"/>
            <a:ext cx="24912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8160840" y="2967120"/>
            <a:ext cx="230796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ffffff"/>
                </a:solidFill>
                <a:latin typeface="Calibri"/>
                <a:ea typeface="Calibri"/>
              </a:rPr>
              <a:t>Only where there is no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8160840" y="3307320"/>
            <a:ext cx="233856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ffffff"/>
                </a:solidFill>
                <a:latin typeface="Calibri"/>
                <a:ea typeface="Calibri"/>
              </a:rPr>
              <a:t>standard shape, and as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8160840" y="3647160"/>
            <a:ext cx="161460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ffffff"/>
                </a:solidFill>
                <a:latin typeface="Calibri"/>
                <a:ea typeface="Calibri"/>
              </a:rPr>
              <a:t>little as possible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8160840" y="4583520"/>
            <a:ext cx="370440" cy="25560"/>
          </a:xfrm>
          <a:custGeom>
            <a:avLst/>
            <a:gdLst/>
            <a:ahLst/>
            <a:rect l="0" t="0" r="r" b="b"/>
            <a:pathLst>
              <a:path w="1029" h="71">
                <a:moveTo>
                  <a:pt x="0" y="0"/>
                </a:moveTo>
                <a:lnTo>
                  <a:pt x="1029" y="0"/>
                </a:lnTo>
                <a:lnTo>
                  <a:pt x="1029" y="71"/>
                </a:lnTo>
                <a:lnTo>
                  <a:pt x="0" y="7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8160840" y="3987360"/>
            <a:ext cx="24912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8160840" y="4327200"/>
            <a:ext cx="36792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ffffff"/>
                </a:solidFill>
                <a:latin typeface="Calibri"/>
                <a:ea typeface="Calibri"/>
              </a:rPr>
              <a:t>e.g.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8654040" y="4327200"/>
            <a:ext cx="200016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ffffff"/>
                </a:solidFill>
                <a:latin typeface="Calibri"/>
                <a:ea typeface="Calibri"/>
              </a:rPr>
              <a:t>the HL7 v2 adapter: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8160840" y="4667040"/>
            <a:ext cx="280332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ffffff"/>
                </a:solidFill>
                <a:latin typeface="Calibri"/>
                <a:ea typeface="Calibri"/>
              </a:rPr>
              <a:t>about 155 + 68 lines of Java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666720" y="5536440"/>
            <a:ext cx="106686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The colour follows the eﬀort: the darker, the more custom work. Most of an architecture is levels 1 and 2.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4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666720" y="1447560"/>
            <a:ext cx="10858680" cy="29160"/>
          </a:xfrm>
          <a:custGeom>
            <a:avLst/>
            <a:gdLst/>
            <a:ahLst/>
            <a:rect l="0" t="0" r="r" b="b"/>
            <a:pathLst>
              <a:path w="30163" h="81">
                <a:moveTo>
                  <a:pt x="0" y="0"/>
                </a:moveTo>
                <a:lnTo>
                  <a:pt x="30163" y="0"/>
                </a:lnTo>
                <a:lnTo>
                  <a:pt x="3016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726120" y="2270160"/>
            <a:ext cx="4192200" cy="1294920"/>
          </a:xfrm>
          <a:custGeom>
            <a:avLst/>
            <a:gdLst/>
            <a:ahLst/>
            <a:rect l="0" t="0" r="r" b="b"/>
            <a:pathLst>
              <a:path w="11645" h="3597">
                <a:moveTo>
                  <a:pt x="119" y="0"/>
                </a:moveTo>
                <a:lnTo>
                  <a:pt x="11526" y="0"/>
                </a:lnTo>
                <a:cubicBezTo>
                  <a:pt x="11542" y="0"/>
                  <a:pt x="11557" y="3"/>
                  <a:pt x="11572" y="9"/>
                </a:cubicBezTo>
                <a:cubicBezTo>
                  <a:pt x="11586" y="15"/>
                  <a:pt x="11599" y="24"/>
                  <a:pt x="11610" y="35"/>
                </a:cubicBezTo>
                <a:cubicBezTo>
                  <a:pt x="11621" y="46"/>
                  <a:pt x="11630" y="59"/>
                  <a:pt x="11636" y="73"/>
                </a:cubicBezTo>
                <a:cubicBezTo>
                  <a:pt x="11642" y="88"/>
                  <a:pt x="11645" y="103"/>
                  <a:pt x="11645" y="119"/>
                </a:cubicBezTo>
                <a:lnTo>
                  <a:pt x="11645" y="3479"/>
                </a:lnTo>
                <a:cubicBezTo>
                  <a:pt x="11645" y="3495"/>
                  <a:pt x="11642" y="3510"/>
                  <a:pt x="11636" y="3524"/>
                </a:cubicBezTo>
                <a:cubicBezTo>
                  <a:pt x="11630" y="3539"/>
                  <a:pt x="11621" y="3552"/>
                  <a:pt x="11610" y="3563"/>
                </a:cubicBezTo>
                <a:cubicBezTo>
                  <a:pt x="11599" y="3574"/>
                  <a:pt x="11586" y="3582"/>
                  <a:pt x="11572" y="3588"/>
                </a:cubicBezTo>
                <a:cubicBezTo>
                  <a:pt x="11557" y="3594"/>
                  <a:pt x="11542" y="3597"/>
                  <a:pt x="11526" y="3597"/>
                </a:cubicBezTo>
                <a:lnTo>
                  <a:pt x="119" y="3597"/>
                </a:lnTo>
                <a:cubicBezTo>
                  <a:pt x="103" y="3597"/>
                  <a:pt x="88" y="3594"/>
                  <a:pt x="73" y="3588"/>
                </a:cubicBezTo>
                <a:cubicBezTo>
                  <a:pt x="59" y="3582"/>
                  <a:pt x="46" y="3574"/>
                  <a:pt x="35" y="3563"/>
                </a:cubicBezTo>
                <a:cubicBezTo>
                  <a:pt x="24" y="3552"/>
                  <a:pt x="15" y="3539"/>
                  <a:pt x="9" y="3524"/>
                </a:cubicBezTo>
                <a:cubicBezTo>
                  <a:pt x="3" y="3510"/>
                  <a:pt x="0" y="3495"/>
                  <a:pt x="0" y="3479"/>
                </a:cubicBez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726120" y="2270160"/>
            <a:ext cx="4192200" cy="1294920"/>
          </a:xfrm>
          <a:custGeom>
            <a:avLst/>
            <a:gdLst/>
            <a:ahLst/>
            <a:rect l="0" t="0" r="r" b="b"/>
            <a:pathLst>
              <a:path w="11645" h="3597">
                <a:moveTo>
                  <a:pt x="119" y="0"/>
                </a:moveTo>
                <a:lnTo>
                  <a:pt x="11526" y="0"/>
                </a:lnTo>
                <a:cubicBezTo>
                  <a:pt x="11542" y="0"/>
                  <a:pt x="11557" y="3"/>
                  <a:pt x="11572" y="9"/>
                </a:cubicBezTo>
                <a:cubicBezTo>
                  <a:pt x="11586" y="15"/>
                  <a:pt x="11599" y="24"/>
                  <a:pt x="11610" y="35"/>
                </a:cubicBezTo>
                <a:cubicBezTo>
                  <a:pt x="11621" y="46"/>
                  <a:pt x="11630" y="59"/>
                  <a:pt x="11636" y="73"/>
                </a:cubicBezTo>
                <a:cubicBezTo>
                  <a:pt x="11642" y="88"/>
                  <a:pt x="11645" y="103"/>
                  <a:pt x="11645" y="119"/>
                </a:cubicBezTo>
                <a:lnTo>
                  <a:pt x="11645" y="3479"/>
                </a:lnTo>
                <a:cubicBezTo>
                  <a:pt x="11645" y="3495"/>
                  <a:pt x="11642" y="3510"/>
                  <a:pt x="11636" y="3524"/>
                </a:cubicBezTo>
                <a:cubicBezTo>
                  <a:pt x="11630" y="3539"/>
                  <a:pt x="11621" y="3552"/>
                  <a:pt x="11610" y="3563"/>
                </a:cubicBezTo>
                <a:cubicBezTo>
                  <a:pt x="11599" y="3574"/>
                  <a:pt x="11586" y="3582"/>
                  <a:pt x="11572" y="3588"/>
                </a:cubicBezTo>
                <a:cubicBezTo>
                  <a:pt x="11557" y="3594"/>
                  <a:pt x="11542" y="3597"/>
                  <a:pt x="11526" y="3597"/>
                </a:cubicBezTo>
                <a:lnTo>
                  <a:pt x="119" y="3597"/>
                </a:lnTo>
                <a:cubicBezTo>
                  <a:pt x="103" y="3597"/>
                  <a:pt x="88" y="3594"/>
                  <a:pt x="73" y="3588"/>
                </a:cubicBezTo>
                <a:cubicBezTo>
                  <a:pt x="59" y="3582"/>
                  <a:pt x="46" y="3574"/>
                  <a:pt x="35" y="3563"/>
                </a:cubicBezTo>
                <a:cubicBezTo>
                  <a:pt x="24" y="3552"/>
                  <a:pt x="15" y="3539"/>
                  <a:pt x="9" y="3524"/>
                </a:cubicBezTo>
                <a:cubicBezTo>
                  <a:pt x="3" y="3510"/>
                  <a:pt x="0" y="3495"/>
                  <a:pt x="0" y="3479"/>
                </a:cubicBez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lose/>
              </a:path>
            </a:pathLst>
          </a:custGeom>
          <a:noFill/>
          <a:ln w="8280">
            <a:solidFill>
              <a:srgbClr val="757579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666720" y="977400"/>
            <a:ext cx="474048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Six services across the four families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5258520" y="2270160"/>
            <a:ext cx="4720320" cy="1294920"/>
          </a:xfrm>
          <a:custGeom>
            <a:avLst/>
            <a:gdLst/>
            <a:ahLst/>
            <a:rect l="0" t="0" r="r" b="b"/>
            <a:pathLst>
              <a:path w="13112" h="3597">
                <a:moveTo>
                  <a:pt x="119" y="0"/>
                </a:moveTo>
                <a:lnTo>
                  <a:pt x="12994" y="0"/>
                </a:lnTo>
                <a:cubicBezTo>
                  <a:pt x="13009" y="0"/>
                  <a:pt x="13025" y="3"/>
                  <a:pt x="13039" y="9"/>
                </a:cubicBezTo>
                <a:cubicBezTo>
                  <a:pt x="13054" y="15"/>
                  <a:pt x="13066" y="24"/>
                  <a:pt x="13077" y="35"/>
                </a:cubicBezTo>
                <a:cubicBezTo>
                  <a:pt x="13089" y="46"/>
                  <a:pt x="13097" y="59"/>
                  <a:pt x="13103" y="73"/>
                </a:cubicBezTo>
                <a:cubicBezTo>
                  <a:pt x="13109" y="88"/>
                  <a:pt x="13112" y="103"/>
                  <a:pt x="13112" y="119"/>
                </a:cubicBezTo>
                <a:lnTo>
                  <a:pt x="13112" y="3479"/>
                </a:lnTo>
                <a:cubicBezTo>
                  <a:pt x="13112" y="3495"/>
                  <a:pt x="13109" y="3510"/>
                  <a:pt x="13103" y="3524"/>
                </a:cubicBezTo>
                <a:cubicBezTo>
                  <a:pt x="13097" y="3539"/>
                  <a:pt x="13089" y="3552"/>
                  <a:pt x="13077" y="3563"/>
                </a:cubicBezTo>
                <a:cubicBezTo>
                  <a:pt x="13066" y="3574"/>
                  <a:pt x="13054" y="3582"/>
                  <a:pt x="13039" y="3588"/>
                </a:cubicBezTo>
                <a:cubicBezTo>
                  <a:pt x="13025" y="3594"/>
                  <a:pt x="13009" y="3597"/>
                  <a:pt x="12994" y="3597"/>
                </a:cubicBezTo>
                <a:lnTo>
                  <a:pt x="119" y="3597"/>
                </a:lnTo>
                <a:cubicBezTo>
                  <a:pt x="103" y="3597"/>
                  <a:pt x="88" y="3594"/>
                  <a:pt x="73" y="3588"/>
                </a:cubicBezTo>
                <a:cubicBezTo>
                  <a:pt x="59" y="3582"/>
                  <a:pt x="46" y="3574"/>
                  <a:pt x="35" y="3563"/>
                </a:cubicBezTo>
                <a:cubicBezTo>
                  <a:pt x="24" y="3552"/>
                  <a:pt x="15" y="3539"/>
                  <a:pt x="9" y="3524"/>
                </a:cubicBezTo>
                <a:cubicBezTo>
                  <a:pt x="3" y="3510"/>
                  <a:pt x="0" y="3495"/>
                  <a:pt x="0" y="3479"/>
                </a:cubicBez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" name=""/>
          <p:cNvSpPr/>
          <p:nvPr/>
        </p:nvSpPr>
        <p:spPr>
          <a:xfrm>
            <a:off x="5258520" y="2270160"/>
            <a:ext cx="4720320" cy="1294920"/>
          </a:xfrm>
          <a:custGeom>
            <a:avLst/>
            <a:gdLst/>
            <a:ahLst/>
            <a:rect l="0" t="0" r="r" b="b"/>
            <a:pathLst>
              <a:path w="13112" h="3597">
                <a:moveTo>
                  <a:pt x="119" y="0"/>
                </a:moveTo>
                <a:lnTo>
                  <a:pt x="12994" y="0"/>
                </a:lnTo>
                <a:cubicBezTo>
                  <a:pt x="13009" y="0"/>
                  <a:pt x="13025" y="3"/>
                  <a:pt x="13039" y="9"/>
                </a:cubicBezTo>
                <a:cubicBezTo>
                  <a:pt x="13054" y="15"/>
                  <a:pt x="13066" y="24"/>
                  <a:pt x="13077" y="35"/>
                </a:cubicBezTo>
                <a:cubicBezTo>
                  <a:pt x="13089" y="46"/>
                  <a:pt x="13097" y="59"/>
                  <a:pt x="13103" y="73"/>
                </a:cubicBezTo>
                <a:cubicBezTo>
                  <a:pt x="13109" y="88"/>
                  <a:pt x="13112" y="103"/>
                  <a:pt x="13112" y="119"/>
                </a:cubicBezTo>
                <a:lnTo>
                  <a:pt x="13112" y="3479"/>
                </a:lnTo>
                <a:cubicBezTo>
                  <a:pt x="13112" y="3495"/>
                  <a:pt x="13109" y="3510"/>
                  <a:pt x="13103" y="3524"/>
                </a:cubicBezTo>
                <a:cubicBezTo>
                  <a:pt x="13097" y="3539"/>
                  <a:pt x="13089" y="3552"/>
                  <a:pt x="13077" y="3563"/>
                </a:cubicBezTo>
                <a:cubicBezTo>
                  <a:pt x="13066" y="3574"/>
                  <a:pt x="13054" y="3582"/>
                  <a:pt x="13039" y="3588"/>
                </a:cubicBezTo>
                <a:cubicBezTo>
                  <a:pt x="13025" y="3594"/>
                  <a:pt x="13009" y="3597"/>
                  <a:pt x="12994" y="3597"/>
                </a:cubicBezTo>
                <a:lnTo>
                  <a:pt x="119" y="3597"/>
                </a:lnTo>
                <a:cubicBezTo>
                  <a:pt x="103" y="3597"/>
                  <a:pt x="88" y="3594"/>
                  <a:pt x="73" y="3588"/>
                </a:cubicBezTo>
                <a:cubicBezTo>
                  <a:pt x="59" y="3582"/>
                  <a:pt x="46" y="3574"/>
                  <a:pt x="35" y="3563"/>
                </a:cubicBezTo>
                <a:cubicBezTo>
                  <a:pt x="24" y="3552"/>
                  <a:pt x="15" y="3539"/>
                  <a:pt x="9" y="3524"/>
                </a:cubicBezTo>
                <a:cubicBezTo>
                  <a:pt x="3" y="3510"/>
                  <a:pt x="0" y="3495"/>
                  <a:pt x="0" y="3479"/>
                </a:cubicBez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lose/>
              </a:path>
            </a:pathLst>
          </a:custGeom>
          <a:noFill/>
          <a:ln w="8280">
            <a:solidFill>
              <a:srgbClr val="757579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2546280" y="2307240"/>
            <a:ext cx="4291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340" spc="-1" strike="noStrike">
                <a:solidFill>
                  <a:srgbClr val="001d34"/>
                </a:solidFill>
                <a:latin typeface="Calibri"/>
                <a:ea typeface="Calibri"/>
              </a:rPr>
              <a:t>1 Find</a:t>
            </a:r>
            <a:endParaRPr b="0" lang="en-AU" sz="13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726120" y="3905640"/>
            <a:ext cx="2258280" cy="1294560"/>
          </a:xfrm>
          <a:custGeom>
            <a:avLst/>
            <a:gdLst/>
            <a:ahLst/>
            <a:rect l="0" t="0" r="r" b="b"/>
            <a:pathLst>
              <a:path w="6273" h="3596">
                <a:moveTo>
                  <a:pt x="119" y="0"/>
                </a:moveTo>
                <a:lnTo>
                  <a:pt x="6154" y="0"/>
                </a:lnTo>
                <a:cubicBezTo>
                  <a:pt x="6170" y="0"/>
                  <a:pt x="6185" y="3"/>
                  <a:pt x="6200" y="9"/>
                </a:cubicBezTo>
                <a:cubicBezTo>
                  <a:pt x="6214" y="15"/>
                  <a:pt x="6227" y="23"/>
                  <a:pt x="6238" y="34"/>
                </a:cubicBezTo>
                <a:cubicBezTo>
                  <a:pt x="6249" y="45"/>
                  <a:pt x="6258" y="58"/>
                  <a:pt x="6264" y="73"/>
                </a:cubicBezTo>
                <a:cubicBezTo>
                  <a:pt x="6270" y="87"/>
                  <a:pt x="6273" y="102"/>
                  <a:pt x="6273" y="118"/>
                </a:cubicBezTo>
                <a:lnTo>
                  <a:pt x="6273" y="3478"/>
                </a:lnTo>
                <a:cubicBezTo>
                  <a:pt x="6273" y="3494"/>
                  <a:pt x="6270" y="3509"/>
                  <a:pt x="6264" y="3523"/>
                </a:cubicBezTo>
                <a:cubicBezTo>
                  <a:pt x="6258" y="3538"/>
                  <a:pt x="6249" y="3551"/>
                  <a:pt x="6238" y="3562"/>
                </a:cubicBezTo>
                <a:cubicBezTo>
                  <a:pt x="6227" y="3573"/>
                  <a:pt x="6214" y="3581"/>
                  <a:pt x="6200" y="3587"/>
                </a:cubicBezTo>
                <a:cubicBezTo>
                  <a:pt x="6185" y="3593"/>
                  <a:pt x="6170" y="3596"/>
                  <a:pt x="6154" y="3596"/>
                </a:cubicBezTo>
                <a:lnTo>
                  <a:pt x="119" y="3596"/>
                </a:lnTo>
                <a:cubicBezTo>
                  <a:pt x="103" y="3596"/>
                  <a:pt x="88" y="3593"/>
                  <a:pt x="73" y="3587"/>
                </a:cubicBezTo>
                <a:cubicBezTo>
                  <a:pt x="59" y="3581"/>
                  <a:pt x="46" y="3573"/>
                  <a:pt x="35" y="3562"/>
                </a:cubicBezTo>
                <a:cubicBezTo>
                  <a:pt x="24" y="3551"/>
                  <a:pt x="15" y="3538"/>
                  <a:pt x="9" y="3523"/>
                </a:cubicBezTo>
                <a:cubicBezTo>
                  <a:pt x="3" y="3509"/>
                  <a:pt x="0" y="3494"/>
                  <a:pt x="0" y="3478"/>
                </a:cubicBezTo>
                <a:lnTo>
                  <a:pt x="0" y="118"/>
                </a:lnTo>
                <a:cubicBezTo>
                  <a:pt x="0" y="102"/>
                  <a:pt x="3" y="87"/>
                  <a:pt x="9" y="73"/>
                </a:cubicBezTo>
                <a:cubicBezTo>
                  <a:pt x="15" y="58"/>
                  <a:pt x="24" y="45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726120" y="3905640"/>
            <a:ext cx="2258280" cy="1294560"/>
          </a:xfrm>
          <a:custGeom>
            <a:avLst/>
            <a:gdLst/>
            <a:ahLst/>
            <a:rect l="0" t="0" r="r" b="b"/>
            <a:pathLst>
              <a:path w="6273" h="3596">
                <a:moveTo>
                  <a:pt x="119" y="0"/>
                </a:moveTo>
                <a:lnTo>
                  <a:pt x="6154" y="0"/>
                </a:lnTo>
                <a:cubicBezTo>
                  <a:pt x="6170" y="0"/>
                  <a:pt x="6185" y="3"/>
                  <a:pt x="6200" y="9"/>
                </a:cubicBezTo>
                <a:cubicBezTo>
                  <a:pt x="6214" y="15"/>
                  <a:pt x="6227" y="23"/>
                  <a:pt x="6238" y="34"/>
                </a:cubicBezTo>
                <a:cubicBezTo>
                  <a:pt x="6249" y="45"/>
                  <a:pt x="6258" y="58"/>
                  <a:pt x="6264" y="73"/>
                </a:cubicBezTo>
                <a:cubicBezTo>
                  <a:pt x="6270" y="87"/>
                  <a:pt x="6273" y="102"/>
                  <a:pt x="6273" y="118"/>
                </a:cubicBezTo>
                <a:lnTo>
                  <a:pt x="6273" y="3478"/>
                </a:lnTo>
                <a:cubicBezTo>
                  <a:pt x="6273" y="3494"/>
                  <a:pt x="6270" y="3509"/>
                  <a:pt x="6264" y="3523"/>
                </a:cubicBezTo>
                <a:cubicBezTo>
                  <a:pt x="6258" y="3538"/>
                  <a:pt x="6249" y="3551"/>
                  <a:pt x="6238" y="3562"/>
                </a:cubicBezTo>
                <a:cubicBezTo>
                  <a:pt x="6227" y="3573"/>
                  <a:pt x="6214" y="3581"/>
                  <a:pt x="6200" y="3587"/>
                </a:cubicBezTo>
                <a:cubicBezTo>
                  <a:pt x="6185" y="3593"/>
                  <a:pt x="6170" y="3596"/>
                  <a:pt x="6154" y="3596"/>
                </a:cubicBezTo>
                <a:lnTo>
                  <a:pt x="119" y="3596"/>
                </a:lnTo>
                <a:cubicBezTo>
                  <a:pt x="103" y="3596"/>
                  <a:pt x="88" y="3593"/>
                  <a:pt x="73" y="3587"/>
                </a:cubicBezTo>
                <a:cubicBezTo>
                  <a:pt x="59" y="3581"/>
                  <a:pt x="46" y="3573"/>
                  <a:pt x="35" y="3562"/>
                </a:cubicBezTo>
                <a:cubicBezTo>
                  <a:pt x="24" y="3551"/>
                  <a:pt x="15" y="3538"/>
                  <a:pt x="9" y="3523"/>
                </a:cubicBezTo>
                <a:cubicBezTo>
                  <a:pt x="3" y="3509"/>
                  <a:pt x="0" y="3494"/>
                  <a:pt x="0" y="3478"/>
                </a:cubicBezTo>
                <a:lnTo>
                  <a:pt x="0" y="118"/>
                </a:lnTo>
                <a:cubicBezTo>
                  <a:pt x="0" y="102"/>
                  <a:pt x="3" y="87"/>
                  <a:pt x="9" y="73"/>
                </a:cubicBezTo>
                <a:cubicBezTo>
                  <a:pt x="15" y="58"/>
                  <a:pt x="24" y="45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lose/>
              </a:path>
            </a:pathLst>
          </a:custGeom>
          <a:noFill/>
          <a:ln w="8280">
            <a:solidFill>
              <a:srgbClr val="757579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7409880" y="2307240"/>
            <a:ext cx="32364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340" spc="-1" strike="noStrike">
                <a:solidFill>
                  <a:srgbClr val="001d34"/>
                </a:solidFill>
                <a:latin typeface="Calibri"/>
                <a:ea typeface="Calibri"/>
              </a:rPr>
              <a:t>2 Do</a:t>
            </a:r>
            <a:endParaRPr b="0" lang="en-AU" sz="13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3324600" y="3905640"/>
            <a:ext cx="2070720" cy="1294560"/>
          </a:xfrm>
          <a:custGeom>
            <a:avLst/>
            <a:gdLst/>
            <a:ahLst/>
            <a:rect l="0" t="0" r="r" b="b"/>
            <a:pathLst>
              <a:path w="5752" h="3596">
                <a:moveTo>
                  <a:pt x="119" y="0"/>
                </a:moveTo>
                <a:lnTo>
                  <a:pt x="5634" y="0"/>
                </a:lnTo>
                <a:cubicBezTo>
                  <a:pt x="5649" y="0"/>
                  <a:pt x="5664" y="3"/>
                  <a:pt x="5679" y="9"/>
                </a:cubicBezTo>
                <a:cubicBezTo>
                  <a:pt x="5693" y="15"/>
                  <a:pt x="5706" y="23"/>
                  <a:pt x="5717" y="34"/>
                </a:cubicBezTo>
                <a:cubicBezTo>
                  <a:pt x="5728" y="45"/>
                  <a:pt x="5737" y="58"/>
                  <a:pt x="5743" y="73"/>
                </a:cubicBezTo>
                <a:cubicBezTo>
                  <a:pt x="5749" y="87"/>
                  <a:pt x="5752" y="102"/>
                  <a:pt x="5752" y="118"/>
                </a:cubicBezTo>
                <a:lnTo>
                  <a:pt x="5752" y="3478"/>
                </a:lnTo>
                <a:cubicBezTo>
                  <a:pt x="5752" y="3494"/>
                  <a:pt x="5749" y="3509"/>
                  <a:pt x="5743" y="3523"/>
                </a:cubicBezTo>
                <a:cubicBezTo>
                  <a:pt x="5737" y="3538"/>
                  <a:pt x="5728" y="3551"/>
                  <a:pt x="5717" y="3562"/>
                </a:cubicBezTo>
                <a:cubicBezTo>
                  <a:pt x="5706" y="3573"/>
                  <a:pt x="5693" y="3581"/>
                  <a:pt x="5679" y="3587"/>
                </a:cubicBezTo>
                <a:cubicBezTo>
                  <a:pt x="5664" y="3593"/>
                  <a:pt x="5649" y="3596"/>
                  <a:pt x="5634" y="3596"/>
                </a:cubicBezTo>
                <a:lnTo>
                  <a:pt x="119" y="3596"/>
                </a:lnTo>
                <a:cubicBezTo>
                  <a:pt x="103" y="3596"/>
                  <a:pt x="88" y="3593"/>
                  <a:pt x="73" y="3587"/>
                </a:cubicBezTo>
                <a:cubicBezTo>
                  <a:pt x="59" y="3581"/>
                  <a:pt x="46" y="3573"/>
                  <a:pt x="35" y="3562"/>
                </a:cubicBezTo>
                <a:cubicBezTo>
                  <a:pt x="24" y="3551"/>
                  <a:pt x="15" y="3538"/>
                  <a:pt x="9" y="3523"/>
                </a:cubicBezTo>
                <a:cubicBezTo>
                  <a:pt x="3" y="3509"/>
                  <a:pt x="0" y="3494"/>
                  <a:pt x="0" y="3478"/>
                </a:cubicBezTo>
                <a:lnTo>
                  <a:pt x="0" y="118"/>
                </a:lnTo>
                <a:cubicBezTo>
                  <a:pt x="0" y="102"/>
                  <a:pt x="3" y="87"/>
                  <a:pt x="9" y="73"/>
                </a:cubicBezTo>
                <a:cubicBezTo>
                  <a:pt x="15" y="58"/>
                  <a:pt x="24" y="45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3324600" y="3905640"/>
            <a:ext cx="2070720" cy="1294560"/>
          </a:xfrm>
          <a:custGeom>
            <a:avLst/>
            <a:gdLst/>
            <a:ahLst/>
            <a:rect l="0" t="0" r="r" b="b"/>
            <a:pathLst>
              <a:path w="5752" h="3596">
                <a:moveTo>
                  <a:pt x="119" y="0"/>
                </a:moveTo>
                <a:lnTo>
                  <a:pt x="5634" y="0"/>
                </a:lnTo>
                <a:cubicBezTo>
                  <a:pt x="5649" y="0"/>
                  <a:pt x="5664" y="3"/>
                  <a:pt x="5679" y="9"/>
                </a:cubicBezTo>
                <a:cubicBezTo>
                  <a:pt x="5693" y="15"/>
                  <a:pt x="5706" y="23"/>
                  <a:pt x="5717" y="34"/>
                </a:cubicBezTo>
                <a:cubicBezTo>
                  <a:pt x="5728" y="45"/>
                  <a:pt x="5737" y="58"/>
                  <a:pt x="5743" y="73"/>
                </a:cubicBezTo>
                <a:cubicBezTo>
                  <a:pt x="5749" y="87"/>
                  <a:pt x="5752" y="102"/>
                  <a:pt x="5752" y="118"/>
                </a:cubicBezTo>
                <a:lnTo>
                  <a:pt x="5752" y="3478"/>
                </a:lnTo>
                <a:cubicBezTo>
                  <a:pt x="5752" y="3494"/>
                  <a:pt x="5749" y="3509"/>
                  <a:pt x="5743" y="3523"/>
                </a:cubicBezTo>
                <a:cubicBezTo>
                  <a:pt x="5737" y="3538"/>
                  <a:pt x="5728" y="3551"/>
                  <a:pt x="5717" y="3562"/>
                </a:cubicBezTo>
                <a:cubicBezTo>
                  <a:pt x="5706" y="3573"/>
                  <a:pt x="5693" y="3581"/>
                  <a:pt x="5679" y="3587"/>
                </a:cubicBezTo>
                <a:cubicBezTo>
                  <a:pt x="5664" y="3593"/>
                  <a:pt x="5649" y="3596"/>
                  <a:pt x="5634" y="3596"/>
                </a:cubicBezTo>
                <a:lnTo>
                  <a:pt x="119" y="3596"/>
                </a:lnTo>
                <a:cubicBezTo>
                  <a:pt x="103" y="3596"/>
                  <a:pt x="88" y="3593"/>
                  <a:pt x="73" y="3587"/>
                </a:cubicBezTo>
                <a:cubicBezTo>
                  <a:pt x="59" y="3581"/>
                  <a:pt x="46" y="3573"/>
                  <a:pt x="35" y="3562"/>
                </a:cubicBezTo>
                <a:cubicBezTo>
                  <a:pt x="24" y="3551"/>
                  <a:pt x="15" y="3538"/>
                  <a:pt x="9" y="3523"/>
                </a:cubicBezTo>
                <a:cubicBezTo>
                  <a:pt x="3" y="3509"/>
                  <a:pt x="0" y="3494"/>
                  <a:pt x="0" y="3478"/>
                </a:cubicBezTo>
                <a:lnTo>
                  <a:pt x="0" y="118"/>
                </a:lnTo>
                <a:cubicBezTo>
                  <a:pt x="0" y="102"/>
                  <a:pt x="3" y="87"/>
                  <a:pt x="9" y="73"/>
                </a:cubicBezTo>
                <a:cubicBezTo>
                  <a:pt x="15" y="58"/>
                  <a:pt x="24" y="45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lose/>
              </a:path>
            </a:pathLst>
          </a:custGeom>
          <a:noFill/>
          <a:ln w="8280">
            <a:solidFill>
              <a:srgbClr val="757579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1411920" y="3942720"/>
            <a:ext cx="7063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340" spc="-1" strike="noStrike">
                <a:solidFill>
                  <a:srgbClr val="001d34"/>
                </a:solidFill>
                <a:latin typeface="Calibri"/>
                <a:ea typeface="Calibri"/>
              </a:rPr>
              <a:t>3 Connect</a:t>
            </a:r>
            <a:endParaRPr b="0" lang="en-AU" sz="13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1096920" y="2730240"/>
            <a:ext cx="1249920" cy="634680"/>
          </a:xfrm>
          <a:custGeom>
            <a:avLst/>
            <a:gdLst/>
            <a:ahLst/>
            <a:rect l="0" t="0" r="r" b="b"/>
            <a:pathLst>
              <a:path w="3472" h="1763">
                <a:moveTo>
                  <a:pt x="118" y="0"/>
                </a:moveTo>
                <a:lnTo>
                  <a:pt x="3354" y="0"/>
                </a:lnTo>
                <a:cubicBezTo>
                  <a:pt x="3370" y="0"/>
                  <a:pt x="3385" y="3"/>
                  <a:pt x="3399" y="9"/>
                </a:cubicBezTo>
                <a:cubicBezTo>
                  <a:pt x="3414" y="15"/>
                  <a:pt x="3427" y="23"/>
                  <a:pt x="3438" y="35"/>
                </a:cubicBezTo>
                <a:cubicBezTo>
                  <a:pt x="3449" y="46"/>
                  <a:pt x="3457" y="58"/>
                  <a:pt x="3463" y="73"/>
                </a:cubicBezTo>
                <a:cubicBezTo>
                  <a:pt x="3469" y="87"/>
                  <a:pt x="3472" y="103"/>
                  <a:pt x="3472" y="118"/>
                </a:cubicBezTo>
                <a:lnTo>
                  <a:pt x="3472" y="1645"/>
                </a:lnTo>
                <a:cubicBezTo>
                  <a:pt x="3472" y="1660"/>
                  <a:pt x="3469" y="1675"/>
                  <a:pt x="3463" y="1690"/>
                </a:cubicBezTo>
                <a:cubicBezTo>
                  <a:pt x="3457" y="1704"/>
                  <a:pt x="3449" y="1717"/>
                  <a:pt x="3438" y="1728"/>
                </a:cubicBezTo>
                <a:cubicBezTo>
                  <a:pt x="3427" y="1739"/>
                  <a:pt x="3414" y="1748"/>
                  <a:pt x="3399" y="1754"/>
                </a:cubicBezTo>
                <a:cubicBezTo>
                  <a:pt x="3385" y="1760"/>
                  <a:pt x="3370" y="1763"/>
                  <a:pt x="3354" y="1763"/>
                </a:cubicBezTo>
                <a:lnTo>
                  <a:pt x="118" y="1763"/>
                </a:lnTo>
                <a:cubicBezTo>
                  <a:pt x="102" y="1763"/>
                  <a:pt x="87" y="1760"/>
                  <a:pt x="73" y="1754"/>
                </a:cubicBezTo>
                <a:cubicBezTo>
                  <a:pt x="58" y="1748"/>
                  <a:pt x="45" y="1739"/>
                  <a:pt x="34" y="1728"/>
                </a:cubicBezTo>
                <a:cubicBezTo>
                  <a:pt x="23" y="1717"/>
                  <a:pt x="15" y="1704"/>
                  <a:pt x="9" y="1690"/>
                </a:cubicBezTo>
                <a:cubicBezTo>
                  <a:pt x="3" y="1675"/>
                  <a:pt x="0" y="1660"/>
                  <a:pt x="0" y="1645"/>
                </a:cubicBezTo>
                <a:lnTo>
                  <a:pt x="0" y="118"/>
                </a:lnTo>
                <a:cubicBezTo>
                  <a:pt x="0" y="103"/>
                  <a:pt x="3" y="87"/>
                  <a:pt x="9" y="73"/>
                </a:cubicBezTo>
                <a:cubicBezTo>
                  <a:pt x="15" y="58"/>
                  <a:pt x="23" y="46"/>
                  <a:pt x="34" y="35"/>
                </a:cubicBezTo>
                <a:cubicBezTo>
                  <a:pt x="45" y="23"/>
                  <a:pt x="58" y="15"/>
                  <a:pt x="73" y="9"/>
                </a:cubicBezTo>
                <a:cubicBezTo>
                  <a:pt x="87" y="3"/>
                  <a:pt x="102" y="0"/>
                  <a:pt x="118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1096920" y="2730240"/>
            <a:ext cx="1249920" cy="634680"/>
          </a:xfrm>
          <a:custGeom>
            <a:avLst/>
            <a:gdLst/>
            <a:ahLst/>
            <a:rect l="0" t="0" r="r" b="b"/>
            <a:pathLst>
              <a:path w="3472" h="1763">
                <a:moveTo>
                  <a:pt x="118" y="0"/>
                </a:moveTo>
                <a:lnTo>
                  <a:pt x="3354" y="0"/>
                </a:lnTo>
                <a:cubicBezTo>
                  <a:pt x="3370" y="0"/>
                  <a:pt x="3385" y="3"/>
                  <a:pt x="3399" y="9"/>
                </a:cubicBezTo>
                <a:cubicBezTo>
                  <a:pt x="3414" y="15"/>
                  <a:pt x="3427" y="23"/>
                  <a:pt x="3438" y="35"/>
                </a:cubicBezTo>
                <a:cubicBezTo>
                  <a:pt x="3449" y="46"/>
                  <a:pt x="3457" y="58"/>
                  <a:pt x="3463" y="73"/>
                </a:cubicBezTo>
                <a:cubicBezTo>
                  <a:pt x="3469" y="87"/>
                  <a:pt x="3472" y="103"/>
                  <a:pt x="3472" y="118"/>
                </a:cubicBezTo>
                <a:lnTo>
                  <a:pt x="3472" y="1645"/>
                </a:lnTo>
                <a:cubicBezTo>
                  <a:pt x="3472" y="1660"/>
                  <a:pt x="3469" y="1675"/>
                  <a:pt x="3463" y="1690"/>
                </a:cubicBezTo>
                <a:cubicBezTo>
                  <a:pt x="3457" y="1704"/>
                  <a:pt x="3449" y="1717"/>
                  <a:pt x="3438" y="1728"/>
                </a:cubicBezTo>
                <a:cubicBezTo>
                  <a:pt x="3427" y="1739"/>
                  <a:pt x="3414" y="1748"/>
                  <a:pt x="3399" y="1754"/>
                </a:cubicBezTo>
                <a:cubicBezTo>
                  <a:pt x="3385" y="1760"/>
                  <a:pt x="3370" y="1763"/>
                  <a:pt x="3354" y="1763"/>
                </a:cubicBezTo>
                <a:lnTo>
                  <a:pt x="118" y="1763"/>
                </a:lnTo>
                <a:cubicBezTo>
                  <a:pt x="102" y="1763"/>
                  <a:pt x="87" y="1760"/>
                  <a:pt x="73" y="1754"/>
                </a:cubicBezTo>
                <a:cubicBezTo>
                  <a:pt x="58" y="1748"/>
                  <a:pt x="45" y="1739"/>
                  <a:pt x="34" y="1728"/>
                </a:cubicBezTo>
                <a:cubicBezTo>
                  <a:pt x="23" y="1717"/>
                  <a:pt x="15" y="1704"/>
                  <a:pt x="9" y="1690"/>
                </a:cubicBezTo>
                <a:cubicBezTo>
                  <a:pt x="3" y="1675"/>
                  <a:pt x="0" y="1660"/>
                  <a:pt x="0" y="1645"/>
                </a:cubicBezTo>
                <a:lnTo>
                  <a:pt x="0" y="118"/>
                </a:lnTo>
                <a:cubicBezTo>
                  <a:pt x="0" y="103"/>
                  <a:pt x="3" y="87"/>
                  <a:pt x="9" y="73"/>
                </a:cubicBezTo>
                <a:cubicBezTo>
                  <a:pt x="15" y="58"/>
                  <a:pt x="23" y="46"/>
                  <a:pt x="34" y="35"/>
                </a:cubicBezTo>
                <a:cubicBezTo>
                  <a:pt x="45" y="23"/>
                  <a:pt x="58" y="15"/>
                  <a:pt x="73" y="9"/>
                </a:cubicBezTo>
                <a:cubicBezTo>
                  <a:pt x="87" y="3"/>
                  <a:pt x="102" y="0"/>
                  <a:pt x="118" y="0"/>
                </a:cubicBezTo>
                <a:close/>
              </a:path>
            </a:pathLst>
          </a:custGeom>
          <a:noFill/>
          <a:ln w="396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4023360" y="3942720"/>
            <a:ext cx="5356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340" spc="-1" strike="noStrike">
                <a:solidFill>
                  <a:srgbClr val="001d34"/>
                </a:solidFill>
                <a:latin typeface="Calibri"/>
                <a:ea typeface="Calibri"/>
              </a:rPr>
              <a:t>4 Prove</a:t>
            </a:r>
            <a:endParaRPr b="0" lang="en-AU" sz="13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1181880" y="2835360"/>
            <a:ext cx="86940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340" spc="-1" strike="noStrike">
                <a:solidFill>
                  <a:srgbClr val="001d34"/>
                </a:solidFill>
                <a:latin typeface="Calibri"/>
                <a:ea typeface="Calibri"/>
              </a:rPr>
              <a:t>Terminology</a:t>
            </a:r>
            <a:endParaRPr b="0" lang="en-AU" sz="13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2651760" y="2730240"/>
            <a:ext cx="2058120" cy="634680"/>
          </a:xfrm>
          <a:custGeom>
            <a:avLst/>
            <a:gdLst/>
            <a:ahLst/>
            <a:rect l="0" t="0" r="r" b="b"/>
            <a:pathLst>
              <a:path w="5717" h="1763">
                <a:moveTo>
                  <a:pt x="118" y="0"/>
                </a:moveTo>
                <a:lnTo>
                  <a:pt x="5599" y="0"/>
                </a:lnTo>
                <a:cubicBezTo>
                  <a:pt x="5614" y="0"/>
                  <a:pt x="5629" y="3"/>
                  <a:pt x="5644" y="9"/>
                </a:cubicBezTo>
                <a:cubicBezTo>
                  <a:pt x="5658" y="15"/>
                  <a:pt x="5671" y="23"/>
                  <a:pt x="5682" y="35"/>
                </a:cubicBezTo>
                <a:cubicBezTo>
                  <a:pt x="5693" y="46"/>
                  <a:pt x="5702" y="58"/>
                  <a:pt x="5708" y="73"/>
                </a:cubicBezTo>
                <a:cubicBezTo>
                  <a:pt x="5714" y="87"/>
                  <a:pt x="5717" y="103"/>
                  <a:pt x="5717" y="118"/>
                </a:cubicBezTo>
                <a:lnTo>
                  <a:pt x="5717" y="1645"/>
                </a:lnTo>
                <a:cubicBezTo>
                  <a:pt x="5717" y="1660"/>
                  <a:pt x="5714" y="1675"/>
                  <a:pt x="5708" y="1690"/>
                </a:cubicBezTo>
                <a:cubicBezTo>
                  <a:pt x="5702" y="1704"/>
                  <a:pt x="5693" y="1717"/>
                  <a:pt x="5682" y="1728"/>
                </a:cubicBezTo>
                <a:cubicBezTo>
                  <a:pt x="5671" y="1739"/>
                  <a:pt x="5658" y="1748"/>
                  <a:pt x="5644" y="1754"/>
                </a:cubicBezTo>
                <a:cubicBezTo>
                  <a:pt x="5629" y="1760"/>
                  <a:pt x="5614" y="1763"/>
                  <a:pt x="5599" y="1763"/>
                </a:cubicBezTo>
                <a:lnTo>
                  <a:pt x="118" y="1763"/>
                </a:lnTo>
                <a:cubicBezTo>
                  <a:pt x="102" y="1763"/>
                  <a:pt x="87" y="1760"/>
                  <a:pt x="73" y="1754"/>
                </a:cubicBezTo>
                <a:cubicBezTo>
                  <a:pt x="58" y="1748"/>
                  <a:pt x="45" y="1739"/>
                  <a:pt x="34" y="1728"/>
                </a:cubicBezTo>
                <a:cubicBezTo>
                  <a:pt x="23" y="1717"/>
                  <a:pt x="15" y="1704"/>
                  <a:pt x="9" y="1690"/>
                </a:cubicBezTo>
                <a:cubicBezTo>
                  <a:pt x="3" y="1675"/>
                  <a:pt x="0" y="1660"/>
                  <a:pt x="0" y="1645"/>
                </a:cubicBezTo>
                <a:lnTo>
                  <a:pt x="0" y="118"/>
                </a:lnTo>
                <a:cubicBezTo>
                  <a:pt x="0" y="103"/>
                  <a:pt x="3" y="87"/>
                  <a:pt x="9" y="73"/>
                </a:cubicBezTo>
                <a:cubicBezTo>
                  <a:pt x="15" y="58"/>
                  <a:pt x="23" y="46"/>
                  <a:pt x="34" y="35"/>
                </a:cubicBezTo>
                <a:cubicBezTo>
                  <a:pt x="45" y="23"/>
                  <a:pt x="58" y="15"/>
                  <a:pt x="73" y="9"/>
                </a:cubicBezTo>
                <a:cubicBezTo>
                  <a:pt x="87" y="3"/>
                  <a:pt x="102" y="0"/>
                  <a:pt x="118" y="0"/>
                </a:cubicBezTo>
                <a:close/>
              </a:path>
            </a:pathLst>
          </a:custGeom>
          <a:solidFill>
            <a:srgbClr val="8ad8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2651760" y="2730240"/>
            <a:ext cx="2058120" cy="634680"/>
          </a:xfrm>
          <a:custGeom>
            <a:avLst/>
            <a:gdLst/>
            <a:ahLst/>
            <a:rect l="0" t="0" r="r" b="b"/>
            <a:pathLst>
              <a:path w="5717" h="1763">
                <a:moveTo>
                  <a:pt x="118" y="0"/>
                </a:moveTo>
                <a:lnTo>
                  <a:pt x="5599" y="0"/>
                </a:lnTo>
                <a:cubicBezTo>
                  <a:pt x="5614" y="0"/>
                  <a:pt x="5629" y="3"/>
                  <a:pt x="5644" y="9"/>
                </a:cubicBezTo>
                <a:cubicBezTo>
                  <a:pt x="5658" y="15"/>
                  <a:pt x="5671" y="23"/>
                  <a:pt x="5682" y="35"/>
                </a:cubicBezTo>
                <a:cubicBezTo>
                  <a:pt x="5693" y="46"/>
                  <a:pt x="5702" y="58"/>
                  <a:pt x="5708" y="73"/>
                </a:cubicBezTo>
                <a:cubicBezTo>
                  <a:pt x="5714" y="87"/>
                  <a:pt x="5717" y="103"/>
                  <a:pt x="5717" y="118"/>
                </a:cubicBezTo>
                <a:lnTo>
                  <a:pt x="5717" y="1645"/>
                </a:lnTo>
                <a:cubicBezTo>
                  <a:pt x="5717" y="1660"/>
                  <a:pt x="5714" y="1675"/>
                  <a:pt x="5708" y="1690"/>
                </a:cubicBezTo>
                <a:cubicBezTo>
                  <a:pt x="5702" y="1704"/>
                  <a:pt x="5693" y="1717"/>
                  <a:pt x="5682" y="1728"/>
                </a:cubicBezTo>
                <a:cubicBezTo>
                  <a:pt x="5671" y="1739"/>
                  <a:pt x="5658" y="1748"/>
                  <a:pt x="5644" y="1754"/>
                </a:cubicBezTo>
                <a:cubicBezTo>
                  <a:pt x="5629" y="1760"/>
                  <a:pt x="5614" y="1763"/>
                  <a:pt x="5599" y="1763"/>
                </a:cubicBezTo>
                <a:lnTo>
                  <a:pt x="118" y="1763"/>
                </a:lnTo>
                <a:cubicBezTo>
                  <a:pt x="102" y="1763"/>
                  <a:pt x="87" y="1760"/>
                  <a:pt x="73" y="1754"/>
                </a:cubicBezTo>
                <a:cubicBezTo>
                  <a:pt x="58" y="1748"/>
                  <a:pt x="45" y="1739"/>
                  <a:pt x="34" y="1728"/>
                </a:cubicBezTo>
                <a:cubicBezTo>
                  <a:pt x="23" y="1717"/>
                  <a:pt x="15" y="1704"/>
                  <a:pt x="9" y="1690"/>
                </a:cubicBezTo>
                <a:cubicBezTo>
                  <a:pt x="3" y="1675"/>
                  <a:pt x="0" y="1660"/>
                  <a:pt x="0" y="1645"/>
                </a:cubicBezTo>
                <a:lnTo>
                  <a:pt x="0" y="118"/>
                </a:lnTo>
                <a:cubicBezTo>
                  <a:pt x="0" y="103"/>
                  <a:pt x="3" y="87"/>
                  <a:pt x="9" y="73"/>
                </a:cubicBezTo>
                <a:cubicBezTo>
                  <a:pt x="15" y="58"/>
                  <a:pt x="23" y="46"/>
                  <a:pt x="34" y="35"/>
                </a:cubicBezTo>
                <a:cubicBezTo>
                  <a:pt x="45" y="23"/>
                  <a:pt x="58" y="15"/>
                  <a:pt x="73" y="9"/>
                </a:cubicBezTo>
                <a:cubicBezTo>
                  <a:pt x="87" y="3"/>
                  <a:pt x="102" y="0"/>
                  <a:pt x="118" y="0"/>
                </a:cubicBezTo>
                <a:close/>
              </a:path>
            </a:pathLst>
          </a:custGeom>
          <a:noFill/>
          <a:ln w="396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1181880" y="3067560"/>
            <a:ext cx="9226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340" spc="-1" strike="noStrike">
                <a:solidFill>
                  <a:srgbClr val="001d34"/>
                </a:solidFill>
                <a:latin typeface="Calibri"/>
                <a:ea typeface="Calibri"/>
              </a:rPr>
              <a:t>agreed codes</a:t>
            </a:r>
            <a:endParaRPr b="0" lang="en-AU" sz="13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2737080" y="2835360"/>
            <a:ext cx="6454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340" spc="-1" strike="noStrike">
                <a:solidFill>
                  <a:srgbClr val="001d34"/>
                </a:solidFill>
                <a:latin typeface="Calibri"/>
                <a:ea typeface="Calibri"/>
              </a:rPr>
              <a:t>Directory</a:t>
            </a:r>
            <a:endParaRPr b="0" lang="en-AU" sz="13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5629320" y="2730240"/>
            <a:ext cx="1760400" cy="634680"/>
          </a:xfrm>
          <a:custGeom>
            <a:avLst/>
            <a:gdLst/>
            <a:ahLst/>
            <a:rect l="0" t="0" r="r" b="b"/>
            <a:pathLst>
              <a:path w="4890" h="1763">
                <a:moveTo>
                  <a:pt x="118" y="0"/>
                </a:moveTo>
                <a:lnTo>
                  <a:pt x="4771" y="0"/>
                </a:lnTo>
                <a:cubicBezTo>
                  <a:pt x="4787" y="0"/>
                  <a:pt x="4802" y="3"/>
                  <a:pt x="4817" y="9"/>
                </a:cubicBezTo>
                <a:cubicBezTo>
                  <a:pt x="4831" y="15"/>
                  <a:pt x="4844" y="23"/>
                  <a:pt x="4855" y="35"/>
                </a:cubicBezTo>
                <a:cubicBezTo>
                  <a:pt x="4866" y="46"/>
                  <a:pt x="4875" y="58"/>
                  <a:pt x="4881" y="73"/>
                </a:cubicBezTo>
                <a:cubicBezTo>
                  <a:pt x="4887" y="87"/>
                  <a:pt x="4890" y="103"/>
                  <a:pt x="4890" y="118"/>
                </a:cubicBezTo>
                <a:lnTo>
                  <a:pt x="4890" y="1645"/>
                </a:lnTo>
                <a:cubicBezTo>
                  <a:pt x="4890" y="1660"/>
                  <a:pt x="4887" y="1675"/>
                  <a:pt x="4881" y="1690"/>
                </a:cubicBezTo>
                <a:cubicBezTo>
                  <a:pt x="4875" y="1704"/>
                  <a:pt x="4866" y="1717"/>
                  <a:pt x="4855" y="1728"/>
                </a:cubicBezTo>
                <a:cubicBezTo>
                  <a:pt x="4844" y="1739"/>
                  <a:pt x="4831" y="1748"/>
                  <a:pt x="4817" y="1754"/>
                </a:cubicBezTo>
                <a:cubicBezTo>
                  <a:pt x="4802" y="1760"/>
                  <a:pt x="4787" y="1763"/>
                  <a:pt x="4771" y="1763"/>
                </a:cubicBezTo>
                <a:lnTo>
                  <a:pt x="118" y="1763"/>
                </a:lnTo>
                <a:cubicBezTo>
                  <a:pt x="102" y="1763"/>
                  <a:pt x="87" y="1760"/>
                  <a:pt x="73" y="1754"/>
                </a:cubicBezTo>
                <a:cubicBezTo>
                  <a:pt x="58" y="1748"/>
                  <a:pt x="46" y="1739"/>
                  <a:pt x="34" y="1728"/>
                </a:cubicBezTo>
                <a:cubicBezTo>
                  <a:pt x="23" y="1717"/>
                  <a:pt x="15" y="1704"/>
                  <a:pt x="9" y="1690"/>
                </a:cubicBezTo>
                <a:cubicBezTo>
                  <a:pt x="3" y="1675"/>
                  <a:pt x="0" y="1660"/>
                  <a:pt x="0" y="1645"/>
                </a:cubicBezTo>
                <a:lnTo>
                  <a:pt x="0" y="118"/>
                </a:lnTo>
                <a:cubicBezTo>
                  <a:pt x="0" y="103"/>
                  <a:pt x="3" y="87"/>
                  <a:pt x="9" y="73"/>
                </a:cubicBezTo>
                <a:cubicBezTo>
                  <a:pt x="15" y="58"/>
                  <a:pt x="23" y="46"/>
                  <a:pt x="34" y="35"/>
                </a:cubicBezTo>
                <a:cubicBezTo>
                  <a:pt x="46" y="23"/>
                  <a:pt x="58" y="15"/>
                  <a:pt x="73" y="9"/>
                </a:cubicBezTo>
                <a:cubicBezTo>
                  <a:pt x="87" y="3"/>
                  <a:pt x="102" y="0"/>
                  <a:pt x="118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5629320" y="2730240"/>
            <a:ext cx="1760400" cy="634680"/>
          </a:xfrm>
          <a:custGeom>
            <a:avLst/>
            <a:gdLst/>
            <a:ahLst/>
            <a:rect l="0" t="0" r="r" b="b"/>
            <a:pathLst>
              <a:path w="4890" h="1763">
                <a:moveTo>
                  <a:pt x="118" y="0"/>
                </a:moveTo>
                <a:lnTo>
                  <a:pt x="4771" y="0"/>
                </a:lnTo>
                <a:cubicBezTo>
                  <a:pt x="4787" y="0"/>
                  <a:pt x="4802" y="3"/>
                  <a:pt x="4817" y="9"/>
                </a:cubicBezTo>
                <a:cubicBezTo>
                  <a:pt x="4831" y="15"/>
                  <a:pt x="4844" y="23"/>
                  <a:pt x="4855" y="35"/>
                </a:cubicBezTo>
                <a:cubicBezTo>
                  <a:pt x="4866" y="46"/>
                  <a:pt x="4875" y="58"/>
                  <a:pt x="4881" y="73"/>
                </a:cubicBezTo>
                <a:cubicBezTo>
                  <a:pt x="4887" y="87"/>
                  <a:pt x="4890" y="103"/>
                  <a:pt x="4890" y="118"/>
                </a:cubicBezTo>
                <a:lnTo>
                  <a:pt x="4890" y="1645"/>
                </a:lnTo>
                <a:cubicBezTo>
                  <a:pt x="4890" y="1660"/>
                  <a:pt x="4887" y="1675"/>
                  <a:pt x="4881" y="1690"/>
                </a:cubicBezTo>
                <a:cubicBezTo>
                  <a:pt x="4875" y="1704"/>
                  <a:pt x="4866" y="1717"/>
                  <a:pt x="4855" y="1728"/>
                </a:cubicBezTo>
                <a:cubicBezTo>
                  <a:pt x="4844" y="1739"/>
                  <a:pt x="4831" y="1748"/>
                  <a:pt x="4817" y="1754"/>
                </a:cubicBezTo>
                <a:cubicBezTo>
                  <a:pt x="4802" y="1760"/>
                  <a:pt x="4787" y="1763"/>
                  <a:pt x="4771" y="1763"/>
                </a:cubicBezTo>
                <a:lnTo>
                  <a:pt x="118" y="1763"/>
                </a:lnTo>
                <a:cubicBezTo>
                  <a:pt x="102" y="1763"/>
                  <a:pt x="87" y="1760"/>
                  <a:pt x="73" y="1754"/>
                </a:cubicBezTo>
                <a:cubicBezTo>
                  <a:pt x="58" y="1748"/>
                  <a:pt x="46" y="1739"/>
                  <a:pt x="34" y="1728"/>
                </a:cubicBezTo>
                <a:cubicBezTo>
                  <a:pt x="23" y="1717"/>
                  <a:pt x="15" y="1704"/>
                  <a:pt x="9" y="1690"/>
                </a:cubicBezTo>
                <a:cubicBezTo>
                  <a:pt x="3" y="1675"/>
                  <a:pt x="0" y="1660"/>
                  <a:pt x="0" y="1645"/>
                </a:cubicBezTo>
                <a:lnTo>
                  <a:pt x="0" y="118"/>
                </a:lnTo>
                <a:cubicBezTo>
                  <a:pt x="0" y="103"/>
                  <a:pt x="3" y="87"/>
                  <a:pt x="9" y="73"/>
                </a:cubicBezTo>
                <a:cubicBezTo>
                  <a:pt x="15" y="58"/>
                  <a:pt x="23" y="46"/>
                  <a:pt x="34" y="35"/>
                </a:cubicBezTo>
                <a:cubicBezTo>
                  <a:pt x="46" y="23"/>
                  <a:pt x="58" y="15"/>
                  <a:pt x="73" y="9"/>
                </a:cubicBezTo>
                <a:cubicBezTo>
                  <a:pt x="87" y="3"/>
                  <a:pt x="102" y="0"/>
                  <a:pt x="118" y="0"/>
                </a:cubicBezTo>
                <a:close/>
              </a:path>
            </a:pathLst>
          </a:custGeom>
          <a:noFill/>
          <a:ln w="396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2737080" y="3067560"/>
            <a:ext cx="16527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340" spc="-1" strike="noStrike">
                <a:solidFill>
                  <a:srgbClr val="001d34"/>
                </a:solidFill>
                <a:latin typeface="Calibri"/>
                <a:ea typeface="Calibri"/>
              </a:rPr>
              <a:t>who oﬀers what, where</a:t>
            </a:r>
            <a:endParaRPr b="0" lang="en-AU" sz="13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5714640" y="2835360"/>
            <a:ext cx="5997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340" spc="-1" strike="noStrike">
                <a:solidFill>
                  <a:srgbClr val="001d34"/>
                </a:solidFill>
                <a:latin typeface="Calibri"/>
                <a:ea typeface="Calibri"/>
              </a:rPr>
              <a:t>Eventing</a:t>
            </a:r>
            <a:endParaRPr b="0" lang="en-AU" sz="13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7695360" y="2730240"/>
            <a:ext cx="2081520" cy="634680"/>
          </a:xfrm>
          <a:custGeom>
            <a:avLst/>
            <a:gdLst/>
            <a:ahLst/>
            <a:rect l="0" t="0" r="r" b="b"/>
            <a:pathLst>
              <a:path w="5782" h="1763">
                <a:moveTo>
                  <a:pt x="118" y="0"/>
                </a:moveTo>
                <a:lnTo>
                  <a:pt x="5664" y="0"/>
                </a:lnTo>
                <a:cubicBezTo>
                  <a:pt x="5680" y="0"/>
                  <a:pt x="5695" y="3"/>
                  <a:pt x="5709" y="9"/>
                </a:cubicBezTo>
                <a:cubicBezTo>
                  <a:pt x="5724" y="15"/>
                  <a:pt x="5736" y="23"/>
                  <a:pt x="5748" y="35"/>
                </a:cubicBezTo>
                <a:cubicBezTo>
                  <a:pt x="5759" y="46"/>
                  <a:pt x="5767" y="58"/>
                  <a:pt x="5773" y="73"/>
                </a:cubicBezTo>
                <a:cubicBezTo>
                  <a:pt x="5779" y="87"/>
                  <a:pt x="5782" y="103"/>
                  <a:pt x="5782" y="118"/>
                </a:cubicBezTo>
                <a:lnTo>
                  <a:pt x="5782" y="1645"/>
                </a:lnTo>
                <a:cubicBezTo>
                  <a:pt x="5782" y="1660"/>
                  <a:pt x="5779" y="1675"/>
                  <a:pt x="5773" y="1690"/>
                </a:cubicBezTo>
                <a:cubicBezTo>
                  <a:pt x="5767" y="1704"/>
                  <a:pt x="5759" y="1717"/>
                  <a:pt x="5748" y="1728"/>
                </a:cubicBezTo>
                <a:cubicBezTo>
                  <a:pt x="5736" y="1739"/>
                  <a:pt x="5724" y="1748"/>
                  <a:pt x="5709" y="1754"/>
                </a:cubicBezTo>
                <a:cubicBezTo>
                  <a:pt x="5695" y="1760"/>
                  <a:pt x="5680" y="1763"/>
                  <a:pt x="5664" y="1763"/>
                </a:cubicBezTo>
                <a:lnTo>
                  <a:pt x="118" y="1763"/>
                </a:lnTo>
                <a:cubicBezTo>
                  <a:pt x="102" y="1763"/>
                  <a:pt x="87" y="1760"/>
                  <a:pt x="73" y="1754"/>
                </a:cubicBezTo>
                <a:cubicBezTo>
                  <a:pt x="58" y="1748"/>
                  <a:pt x="45" y="1739"/>
                  <a:pt x="34" y="1728"/>
                </a:cubicBezTo>
                <a:cubicBezTo>
                  <a:pt x="23" y="1717"/>
                  <a:pt x="15" y="1704"/>
                  <a:pt x="9" y="1690"/>
                </a:cubicBezTo>
                <a:cubicBezTo>
                  <a:pt x="3" y="1675"/>
                  <a:pt x="0" y="1660"/>
                  <a:pt x="0" y="1645"/>
                </a:cubicBezTo>
                <a:lnTo>
                  <a:pt x="0" y="118"/>
                </a:lnTo>
                <a:cubicBezTo>
                  <a:pt x="0" y="103"/>
                  <a:pt x="3" y="87"/>
                  <a:pt x="9" y="73"/>
                </a:cubicBezTo>
                <a:cubicBezTo>
                  <a:pt x="15" y="58"/>
                  <a:pt x="23" y="46"/>
                  <a:pt x="34" y="35"/>
                </a:cubicBezTo>
                <a:cubicBezTo>
                  <a:pt x="45" y="23"/>
                  <a:pt x="58" y="15"/>
                  <a:pt x="73" y="9"/>
                </a:cubicBezTo>
                <a:cubicBezTo>
                  <a:pt x="87" y="3"/>
                  <a:pt x="102" y="0"/>
                  <a:pt x="118" y="0"/>
                </a:cubicBezTo>
                <a:close/>
              </a:path>
            </a:pathLst>
          </a:custGeom>
          <a:solidFill>
            <a:srgbClr val="8ad8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7695360" y="2730240"/>
            <a:ext cx="2081520" cy="634680"/>
          </a:xfrm>
          <a:custGeom>
            <a:avLst/>
            <a:gdLst/>
            <a:ahLst/>
            <a:rect l="0" t="0" r="r" b="b"/>
            <a:pathLst>
              <a:path w="5782" h="1763">
                <a:moveTo>
                  <a:pt x="118" y="0"/>
                </a:moveTo>
                <a:lnTo>
                  <a:pt x="5664" y="0"/>
                </a:lnTo>
                <a:cubicBezTo>
                  <a:pt x="5680" y="0"/>
                  <a:pt x="5695" y="3"/>
                  <a:pt x="5709" y="9"/>
                </a:cubicBezTo>
                <a:cubicBezTo>
                  <a:pt x="5724" y="15"/>
                  <a:pt x="5736" y="23"/>
                  <a:pt x="5748" y="35"/>
                </a:cubicBezTo>
                <a:cubicBezTo>
                  <a:pt x="5759" y="46"/>
                  <a:pt x="5767" y="58"/>
                  <a:pt x="5773" y="73"/>
                </a:cubicBezTo>
                <a:cubicBezTo>
                  <a:pt x="5779" y="87"/>
                  <a:pt x="5782" y="103"/>
                  <a:pt x="5782" y="118"/>
                </a:cubicBezTo>
                <a:lnTo>
                  <a:pt x="5782" y="1645"/>
                </a:lnTo>
                <a:cubicBezTo>
                  <a:pt x="5782" y="1660"/>
                  <a:pt x="5779" y="1675"/>
                  <a:pt x="5773" y="1690"/>
                </a:cubicBezTo>
                <a:cubicBezTo>
                  <a:pt x="5767" y="1704"/>
                  <a:pt x="5759" y="1717"/>
                  <a:pt x="5748" y="1728"/>
                </a:cubicBezTo>
                <a:cubicBezTo>
                  <a:pt x="5736" y="1739"/>
                  <a:pt x="5724" y="1748"/>
                  <a:pt x="5709" y="1754"/>
                </a:cubicBezTo>
                <a:cubicBezTo>
                  <a:pt x="5695" y="1760"/>
                  <a:pt x="5680" y="1763"/>
                  <a:pt x="5664" y="1763"/>
                </a:cubicBezTo>
                <a:lnTo>
                  <a:pt x="118" y="1763"/>
                </a:lnTo>
                <a:cubicBezTo>
                  <a:pt x="102" y="1763"/>
                  <a:pt x="87" y="1760"/>
                  <a:pt x="73" y="1754"/>
                </a:cubicBezTo>
                <a:cubicBezTo>
                  <a:pt x="58" y="1748"/>
                  <a:pt x="45" y="1739"/>
                  <a:pt x="34" y="1728"/>
                </a:cubicBezTo>
                <a:cubicBezTo>
                  <a:pt x="23" y="1717"/>
                  <a:pt x="15" y="1704"/>
                  <a:pt x="9" y="1690"/>
                </a:cubicBezTo>
                <a:cubicBezTo>
                  <a:pt x="3" y="1675"/>
                  <a:pt x="0" y="1660"/>
                  <a:pt x="0" y="1645"/>
                </a:cubicBezTo>
                <a:lnTo>
                  <a:pt x="0" y="118"/>
                </a:lnTo>
                <a:cubicBezTo>
                  <a:pt x="0" y="103"/>
                  <a:pt x="3" y="87"/>
                  <a:pt x="9" y="73"/>
                </a:cubicBezTo>
                <a:cubicBezTo>
                  <a:pt x="15" y="58"/>
                  <a:pt x="23" y="46"/>
                  <a:pt x="34" y="35"/>
                </a:cubicBezTo>
                <a:cubicBezTo>
                  <a:pt x="45" y="23"/>
                  <a:pt x="58" y="15"/>
                  <a:pt x="73" y="9"/>
                </a:cubicBezTo>
                <a:cubicBezTo>
                  <a:pt x="87" y="3"/>
                  <a:pt x="102" y="0"/>
                  <a:pt x="118" y="0"/>
                </a:cubicBezTo>
                <a:close/>
              </a:path>
            </a:pathLst>
          </a:custGeom>
          <a:noFill/>
          <a:ln w="396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5714640" y="3067560"/>
            <a:ext cx="13831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340" spc="-1" strike="noStrike">
                <a:solidFill>
                  <a:srgbClr val="001d34"/>
                </a:solidFill>
                <a:latin typeface="Calibri"/>
                <a:ea typeface="Calibri"/>
              </a:rPr>
              <a:t>notify and decouple</a:t>
            </a:r>
            <a:endParaRPr b="0" lang="en-AU" sz="13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7780680" y="2835360"/>
            <a:ext cx="14500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340" spc="-1" strike="noStrike">
                <a:solidFill>
                  <a:srgbClr val="001d34"/>
                </a:solidFill>
                <a:latin typeface="Calibri"/>
                <a:ea typeface="Calibri"/>
              </a:rPr>
              <a:t>Referral and booking</a:t>
            </a:r>
            <a:endParaRPr b="0" lang="en-AU" sz="13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1092600" y="4365360"/>
            <a:ext cx="1688040" cy="634680"/>
          </a:xfrm>
          <a:custGeom>
            <a:avLst/>
            <a:gdLst/>
            <a:ahLst/>
            <a:rect l="0" t="0" r="r" b="b"/>
            <a:pathLst>
              <a:path w="4689" h="1763">
                <a:moveTo>
                  <a:pt x="118" y="0"/>
                </a:moveTo>
                <a:lnTo>
                  <a:pt x="4571" y="0"/>
                </a:lnTo>
                <a:cubicBezTo>
                  <a:pt x="4587" y="0"/>
                  <a:pt x="4602" y="3"/>
                  <a:pt x="4616" y="9"/>
                </a:cubicBezTo>
                <a:cubicBezTo>
                  <a:pt x="4631" y="15"/>
                  <a:pt x="4644" y="24"/>
                  <a:pt x="4655" y="35"/>
                </a:cubicBezTo>
                <a:cubicBezTo>
                  <a:pt x="4666" y="46"/>
                  <a:pt x="4674" y="59"/>
                  <a:pt x="4680" y="73"/>
                </a:cubicBezTo>
                <a:cubicBezTo>
                  <a:pt x="4686" y="87"/>
                  <a:pt x="4689" y="103"/>
                  <a:pt x="4689" y="118"/>
                </a:cubicBezTo>
                <a:lnTo>
                  <a:pt x="4689" y="1645"/>
                </a:lnTo>
                <a:cubicBezTo>
                  <a:pt x="4689" y="1660"/>
                  <a:pt x="4686" y="1675"/>
                  <a:pt x="4680" y="1690"/>
                </a:cubicBezTo>
                <a:cubicBezTo>
                  <a:pt x="4674" y="1704"/>
                  <a:pt x="4666" y="1717"/>
                  <a:pt x="4655" y="1728"/>
                </a:cubicBezTo>
                <a:cubicBezTo>
                  <a:pt x="4644" y="1739"/>
                  <a:pt x="4631" y="1748"/>
                  <a:pt x="4616" y="1754"/>
                </a:cubicBezTo>
                <a:cubicBezTo>
                  <a:pt x="4602" y="1760"/>
                  <a:pt x="4587" y="1763"/>
                  <a:pt x="4571" y="1763"/>
                </a:cubicBezTo>
                <a:lnTo>
                  <a:pt x="118" y="1763"/>
                </a:lnTo>
                <a:cubicBezTo>
                  <a:pt x="103" y="1763"/>
                  <a:pt x="87" y="1760"/>
                  <a:pt x="73" y="1754"/>
                </a:cubicBezTo>
                <a:cubicBezTo>
                  <a:pt x="58" y="1748"/>
                  <a:pt x="46" y="1739"/>
                  <a:pt x="35" y="1728"/>
                </a:cubicBezTo>
                <a:cubicBezTo>
                  <a:pt x="23" y="1717"/>
                  <a:pt x="15" y="1704"/>
                  <a:pt x="9" y="1690"/>
                </a:cubicBezTo>
                <a:cubicBezTo>
                  <a:pt x="3" y="1675"/>
                  <a:pt x="0" y="1660"/>
                  <a:pt x="0" y="1645"/>
                </a:cubicBezTo>
                <a:lnTo>
                  <a:pt x="0" y="118"/>
                </a:lnTo>
                <a:cubicBezTo>
                  <a:pt x="0" y="103"/>
                  <a:pt x="3" y="87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8" y="15"/>
                  <a:pt x="73" y="9"/>
                </a:cubicBezTo>
                <a:cubicBezTo>
                  <a:pt x="87" y="3"/>
                  <a:pt x="103" y="0"/>
                  <a:pt x="118" y="0"/>
                </a:cubicBezTo>
                <a:close/>
              </a:path>
            </a:pathLst>
          </a:custGeom>
          <a:solidFill>
            <a:srgbClr val="007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1092600" y="4365360"/>
            <a:ext cx="1688040" cy="634680"/>
          </a:xfrm>
          <a:custGeom>
            <a:avLst/>
            <a:gdLst/>
            <a:ahLst/>
            <a:rect l="0" t="0" r="r" b="b"/>
            <a:pathLst>
              <a:path w="4689" h="1763">
                <a:moveTo>
                  <a:pt x="118" y="0"/>
                </a:moveTo>
                <a:lnTo>
                  <a:pt x="4571" y="0"/>
                </a:lnTo>
                <a:cubicBezTo>
                  <a:pt x="4587" y="0"/>
                  <a:pt x="4602" y="3"/>
                  <a:pt x="4616" y="9"/>
                </a:cubicBezTo>
                <a:cubicBezTo>
                  <a:pt x="4631" y="15"/>
                  <a:pt x="4644" y="24"/>
                  <a:pt x="4655" y="35"/>
                </a:cubicBezTo>
                <a:cubicBezTo>
                  <a:pt x="4666" y="46"/>
                  <a:pt x="4674" y="59"/>
                  <a:pt x="4680" y="73"/>
                </a:cubicBezTo>
                <a:cubicBezTo>
                  <a:pt x="4686" y="87"/>
                  <a:pt x="4689" y="103"/>
                  <a:pt x="4689" y="118"/>
                </a:cubicBezTo>
                <a:lnTo>
                  <a:pt x="4689" y="1645"/>
                </a:lnTo>
                <a:cubicBezTo>
                  <a:pt x="4689" y="1660"/>
                  <a:pt x="4686" y="1675"/>
                  <a:pt x="4680" y="1690"/>
                </a:cubicBezTo>
                <a:cubicBezTo>
                  <a:pt x="4674" y="1704"/>
                  <a:pt x="4666" y="1717"/>
                  <a:pt x="4655" y="1728"/>
                </a:cubicBezTo>
                <a:cubicBezTo>
                  <a:pt x="4644" y="1739"/>
                  <a:pt x="4631" y="1748"/>
                  <a:pt x="4616" y="1754"/>
                </a:cubicBezTo>
                <a:cubicBezTo>
                  <a:pt x="4602" y="1760"/>
                  <a:pt x="4587" y="1763"/>
                  <a:pt x="4571" y="1763"/>
                </a:cubicBezTo>
                <a:lnTo>
                  <a:pt x="118" y="1763"/>
                </a:lnTo>
                <a:cubicBezTo>
                  <a:pt x="103" y="1763"/>
                  <a:pt x="87" y="1760"/>
                  <a:pt x="73" y="1754"/>
                </a:cubicBezTo>
                <a:cubicBezTo>
                  <a:pt x="58" y="1748"/>
                  <a:pt x="46" y="1739"/>
                  <a:pt x="35" y="1728"/>
                </a:cubicBezTo>
                <a:cubicBezTo>
                  <a:pt x="23" y="1717"/>
                  <a:pt x="15" y="1704"/>
                  <a:pt x="9" y="1690"/>
                </a:cubicBezTo>
                <a:cubicBezTo>
                  <a:pt x="3" y="1675"/>
                  <a:pt x="0" y="1660"/>
                  <a:pt x="0" y="1645"/>
                </a:cubicBezTo>
                <a:lnTo>
                  <a:pt x="0" y="118"/>
                </a:lnTo>
                <a:cubicBezTo>
                  <a:pt x="0" y="103"/>
                  <a:pt x="3" y="87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8" y="15"/>
                  <a:pt x="73" y="9"/>
                </a:cubicBezTo>
                <a:cubicBezTo>
                  <a:pt x="87" y="3"/>
                  <a:pt x="103" y="0"/>
                  <a:pt x="118" y="0"/>
                </a:cubicBezTo>
                <a:close/>
              </a:path>
            </a:pathLst>
          </a:custGeom>
          <a:noFill/>
          <a:ln w="396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7780680" y="3067560"/>
            <a:ext cx="16603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340" spc="-1" strike="noStrike">
                <a:solidFill>
                  <a:srgbClr val="001d34"/>
                </a:solidFill>
                <a:latin typeface="Calibri"/>
                <a:ea typeface="Calibri"/>
              </a:rPr>
              <a:t>request, track, schedule</a:t>
            </a:r>
            <a:endParaRPr b="0" lang="en-AU" sz="13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1177920" y="4470480"/>
            <a:ext cx="105084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340" spc="-1" strike="noStrike">
                <a:solidFill>
                  <a:srgbClr val="ffffff"/>
                </a:solidFill>
                <a:latin typeface="Calibri"/>
                <a:ea typeface="Calibri"/>
              </a:rPr>
              <a:t>Legacy adapter</a:t>
            </a:r>
            <a:endParaRPr b="0" lang="en-AU" sz="13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" name=""/>
          <p:cNvSpPr/>
          <p:nvPr/>
        </p:nvSpPr>
        <p:spPr>
          <a:xfrm>
            <a:off x="3695400" y="4365360"/>
            <a:ext cx="1493640" cy="634680"/>
          </a:xfrm>
          <a:custGeom>
            <a:avLst/>
            <a:gdLst/>
            <a:ahLst/>
            <a:rect l="0" t="0" r="r" b="b"/>
            <a:pathLst>
              <a:path w="4149" h="1763">
                <a:moveTo>
                  <a:pt x="119" y="0"/>
                </a:moveTo>
                <a:lnTo>
                  <a:pt x="4031" y="0"/>
                </a:lnTo>
                <a:cubicBezTo>
                  <a:pt x="4047" y="0"/>
                  <a:pt x="4062" y="3"/>
                  <a:pt x="4076" y="9"/>
                </a:cubicBezTo>
                <a:cubicBezTo>
                  <a:pt x="4091" y="15"/>
                  <a:pt x="4104" y="24"/>
                  <a:pt x="4115" y="35"/>
                </a:cubicBezTo>
                <a:cubicBezTo>
                  <a:pt x="4126" y="46"/>
                  <a:pt x="4134" y="59"/>
                  <a:pt x="4140" y="73"/>
                </a:cubicBezTo>
                <a:cubicBezTo>
                  <a:pt x="4146" y="87"/>
                  <a:pt x="4149" y="103"/>
                  <a:pt x="4149" y="118"/>
                </a:cubicBezTo>
                <a:lnTo>
                  <a:pt x="4149" y="1645"/>
                </a:lnTo>
                <a:cubicBezTo>
                  <a:pt x="4149" y="1660"/>
                  <a:pt x="4146" y="1675"/>
                  <a:pt x="4140" y="1690"/>
                </a:cubicBezTo>
                <a:cubicBezTo>
                  <a:pt x="4134" y="1704"/>
                  <a:pt x="4126" y="1717"/>
                  <a:pt x="4115" y="1728"/>
                </a:cubicBezTo>
                <a:cubicBezTo>
                  <a:pt x="4104" y="1739"/>
                  <a:pt x="4091" y="1748"/>
                  <a:pt x="4076" y="1754"/>
                </a:cubicBezTo>
                <a:cubicBezTo>
                  <a:pt x="4062" y="1760"/>
                  <a:pt x="4047" y="1763"/>
                  <a:pt x="4031" y="1763"/>
                </a:cubicBezTo>
                <a:lnTo>
                  <a:pt x="119" y="1763"/>
                </a:lnTo>
                <a:cubicBezTo>
                  <a:pt x="102" y="1763"/>
                  <a:pt x="87" y="1760"/>
                  <a:pt x="73" y="1754"/>
                </a:cubicBezTo>
                <a:cubicBezTo>
                  <a:pt x="58" y="1748"/>
                  <a:pt x="45" y="1739"/>
                  <a:pt x="34" y="1728"/>
                </a:cubicBezTo>
                <a:cubicBezTo>
                  <a:pt x="23" y="1717"/>
                  <a:pt x="15" y="1704"/>
                  <a:pt x="9" y="1690"/>
                </a:cubicBezTo>
                <a:cubicBezTo>
                  <a:pt x="3" y="1675"/>
                  <a:pt x="0" y="1660"/>
                  <a:pt x="0" y="1645"/>
                </a:cubicBezTo>
                <a:lnTo>
                  <a:pt x="0" y="118"/>
                </a:lnTo>
                <a:cubicBezTo>
                  <a:pt x="0" y="103"/>
                  <a:pt x="3" y="87"/>
                  <a:pt x="9" y="73"/>
                </a:cubicBezTo>
                <a:cubicBezTo>
                  <a:pt x="15" y="59"/>
                  <a:pt x="23" y="46"/>
                  <a:pt x="34" y="35"/>
                </a:cubicBezTo>
                <a:cubicBezTo>
                  <a:pt x="45" y="24"/>
                  <a:pt x="58" y="15"/>
                  <a:pt x="73" y="9"/>
                </a:cubicBezTo>
                <a:cubicBezTo>
                  <a:pt x="87" y="3"/>
                  <a:pt x="102" y="0"/>
                  <a:pt x="119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3695400" y="4365360"/>
            <a:ext cx="1493640" cy="634680"/>
          </a:xfrm>
          <a:custGeom>
            <a:avLst/>
            <a:gdLst/>
            <a:ahLst/>
            <a:rect l="0" t="0" r="r" b="b"/>
            <a:pathLst>
              <a:path w="4149" h="1763">
                <a:moveTo>
                  <a:pt x="119" y="0"/>
                </a:moveTo>
                <a:lnTo>
                  <a:pt x="4031" y="0"/>
                </a:lnTo>
                <a:cubicBezTo>
                  <a:pt x="4047" y="0"/>
                  <a:pt x="4062" y="3"/>
                  <a:pt x="4076" y="9"/>
                </a:cubicBezTo>
                <a:cubicBezTo>
                  <a:pt x="4091" y="15"/>
                  <a:pt x="4104" y="24"/>
                  <a:pt x="4115" y="35"/>
                </a:cubicBezTo>
                <a:cubicBezTo>
                  <a:pt x="4126" y="46"/>
                  <a:pt x="4134" y="59"/>
                  <a:pt x="4140" y="73"/>
                </a:cubicBezTo>
                <a:cubicBezTo>
                  <a:pt x="4146" y="87"/>
                  <a:pt x="4149" y="103"/>
                  <a:pt x="4149" y="118"/>
                </a:cubicBezTo>
                <a:lnTo>
                  <a:pt x="4149" y="1645"/>
                </a:lnTo>
                <a:cubicBezTo>
                  <a:pt x="4149" y="1660"/>
                  <a:pt x="4146" y="1675"/>
                  <a:pt x="4140" y="1690"/>
                </a:cubicBezTo>
                <a:cubicBezTo>
                  <a:pt x="4134" y="1704"/>
                  <a:pt x="4126" y="1717"/>
                  <a:pt x="4115" y="1728"/>
                </a:cubicBezTo>
                <a:cubicBezTo>
                  <a:pt x="4104" y="1739"/>
                  <a:pt x="4091" y="1748"/>
                  <a:pt x="4076" y="1754"/>
                </a:cubicBezTo>
                <a:cubicBezTo>
                  <a:pt x="4062" y="1760"/>
                  <a:pt x="4047" y="1763"/>
                  <a:pt x="4031" y="1763"/>
                </a:cubicBezTo>
                <a:lnTo>
                  <a:pt x="119" y="1763"/>
                </a:lnTo>
                <a:cubicBezTo>
                  <a:pt x="102" y="1763"/>
                  <a:pt x="87" y="1760"/>
                  <a:pt x="73" y="1754"/>
                </a:cubicBezTo>
                <a:cubicBezTo>
                  <a:pt x="58" y="1748"/>
                  <a:pt x="45" y="1739"/>
                  <a:pt x="34" y="1728"/>
                </a:cubicBezTo>
                <a:cubicBezTo>
                  <a:pt x="23" y="1717"/>
                  <a:pt x="15" y="1704"/>
                  <a:pt x="9" y="1690"/>
                </a:cubicBezTo>
                <a:cubicBezTo>
                  <a:pt x="3" y="1675"/>
                  <a:pt x="0" y="1660"/>
                  <a:pt x="0" y="1645"/>
                </a:cubicBezTo>
                <a:lnTo>
                  <a:pt x="0" y="118"/>
                </a:lnTo>
                <a:cubicBezTo>
                  <a:pt x="0" y="103"/>
                  <a:pt x="3" y="87"/>
                  <a:pt x="9" y="73"/>
                </a:cubicBezTo>
                <a:cubicBezTo>
                  <a:pt x="15" y="59"/>
                  <a:pt x="23" y="46"/>
                  <a:pt x="34" y="35"/>
                </a:cubicBezTo>
                <a:cubicBezTo>
                  <a:pt x="45" y="24"/>
                  <a:pt x="58" y="15"/>
                  <a:pt x="73" y="9"/>
                </a:cubicBezTo>
                <a:cubicBezTo>
                  <a:pt x="87" y="3"/>
                  <a:pt x="102" y="0"/>
                  <a:pt x="119" y="0"/>
                </a:cubicBezTo>
                <a:close/>
              </a:path>
            </a:pathLst>
          </a:custGeom>
          <a:noFill/>
          <a:ln w="396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1177920" y="4702320"/>
            <a:ext cx="13114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340" spc="-1" strike="noStrike">
                <a:solidFill>
                  <a:srgbClr val="ffffff"/>
                </a:solidFill>
                <a:latin typeface="Calibri"/>
                <a:ea typeface="Calibri"/>
              </a:rPr>
              <a:t>HL7 v2 in, FHIR out</a:t>
            </a:r>
            <a:endParaRPr b="0" lang="en-AU" sz="13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3780360" y="4470480"/>
            <a:ext cx="9363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340" spc="-1" strike="noStrike">
                <a:solidFill>
                  <a:srgbClr val="001d34"/>
                </a:solidFill>
                <a:latin typeface="Calibri"/>
                <a:ea typeface="Calibri"/>
              </a:rPr>
              <a:t>Conformance</a:t>
            </a:r>
            <a:endParaRPr b="0" lang="en-AU" sz="13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3780360" y="4702320"/>
            <a:ext cx="11545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340" spc="-1" strike="noStrike">
                <a:solidFill>
                  <a:srgbClr val="001d34"/>
                </a:solidFill>
                <a:latin typeface="Calibri"/>
                <a:ea typeface="Calibri"/>
              </a:rPr>
              <a:t>validate and test</a:t>
            </a:r>
            <a:endParaRPr b="0" lang="en-AU" sz="13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666720" y="5536440"/>
            <a:ext cx="91677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Pale services are conﬁguration, mid-tone ones need an IG, the dark one needs a little code.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5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666720" y="1447560"/>
            <a:ext cx="10858680" cy="29160"/>
          </a:xfrm>
          <a:custGeom>
            <a:avLst/>
            <a:gdLst/>
            <a:ahLst/>
            <a:rect l="0" t="0" r="r" b="b"/>
            <a:pathLst>
              <a:path w="30163" h="81">
                <a:moveTo>
                  <a:pt x="0" y="0"/>
                </a:moveTo>
                <a:lnTo>
                  <a:pt x="30163" y="0"/>
                </a:lnTo>
                <a:lnTo>
                  <a:pt x="3016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>
            <a:off x="717480" y="3010680"/>
            <a:ext cx="1450440" cy="623160"/>
          </a:xfrm>
          <a:custGeom>
            <a:avLst/>
            <a:gdLst/>
            <a:ahLst/>
            <a:rect l="0" t="0" r="r" b="b"/>
            <a:pathLst>
              <a:path w="4029" h="1731">
                <a:moveTo>
                  <a:pt x="103" y="0"/>
                </a:moveTo>
                <a:lnTo>
                  <a:pt x="3928" y="0"/>
                </a:lnTo>
                <a:cubicBezTo>
                  <a:pt x="3942" y="0"/>
                  <a:pt x="3954" y="3"/>
                  <a:pt x="3967" y="8"/>
                </a:cubicBezTo>
                <a:cubicBezTo>
                  <a:pt x="3979" y="13"/>
                  <a:pt x="3990" y="20"/>
                  <a:pt x="4000" y="30"/>
                </a:cubicBezTo>
                <a:cubicBezTo>
                  <a:pt x="4009" y="39"/>
                  <a:pt x="4017" y="50"/>
                  <a:pt x="4022" y="63"/>
                </a:cubicBezTo>
                <a:cubicBezTo>
                  <a:pt x="4027" y="75"/>
                  <a:pt x="4029" y="88"/>
                  <a:pt x="4029" y="101"/>
                </a:cubicBezTo>
                <a:lnTo>
                  <a:pt x="4029" y="1629"/>
                </a:lnTo>
                <a:cubicBezTo>
                  <a:pt x="4029" y="1643"/>
                  <a:pt x="4027" y="1656"/>
                  <a:pt x="4022" y="1668"/>
                </a:cubicBezTo>
                <a:cubicBezTo>
                  <a:pt x="4017" y="1680"/>
                  <a:pt x="4009" y="1691"/>
                  <a:pt x="4000" y="1701"/>
                </a:cubicBezTo>
                <a:cubicBezTo>
                  <a:pt x="3990" y="1710"/>
                  <a:pt x="3979" y="1718"/>
                  <a:pt x="3967" y="1723"/>
                </a:cubicBezTo>
                <a:cubicBezTo>
                  <a:pt x="3954" y="1728"/>
                  <a:pt x="3942" y="1731"/>
                  <a:pt x="3928" y="1731"/>
                </a:cubicBezTo>
                <a:lnTo>
                  <a:pt x="103" y="1731"/>
                </a:lnTo>
                <a:cubicBezTo>
                  <a:pt x="89" y="1731"/>
                  <a:pt x="76" y="1728"/>
                  <a:pt x="64" y="1723"/>
                </a:cubicBezTo>
                <a:cubicBezTo>
                  <a:pt x="51" y="1718"/>
                  <a:pt x="41" y="1710"/>
                  <a:pt x="31" y="1701"/>
                </a:cubicBezTo>
                <a:cubicBezTo>
                  <a:pt x="22" y="1691"/>
                  <a:pt x="13" y="1680"/>
                  <a:pt x="8" y="1668"/>
                </a:cubicBezTo>
                <a:cubicBezTo>
                  <a:pt x="3" y="1656"/>
                  <a:pt x="0" y="1643"/>
                  <a:pt x="0" y="1629"/>
                </a:cubicBezTo>
                <a:lnTo>
                  <a:pt x="0" y="101"/>
                </a:lnTo>
                <a:cubicBezTo>
                  <a:pt x="0" y="88"/>
                  <a:pt x="3" y="75"/>
                  <a:pt x="8" y="63"/>
                </a:cubicBezTo>
                <a:cubicBezTo>
                  <a:pt x="13" y="50"/>
                  <a:pt x="22" y="39"/>
                  <a:pt x="31" y="30"/>
                </a:cubicBezTo>
                <a:cubicBezTo>
                  <a:pt x="41" y="20"/>
                  <a:pt x="51" y="13"/>
                  <a:pt x="64" y="8"/>
                </a:cubicBezTo>
                <a:cubicBezTo>
                  <a:pt x="76" y="3"/>
                  <a:pt x="89" y="0"/>
                  <a:pt x="103" y="0"/>
                </a:cubicBez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717480" y="3010680"/>
            <a:ext cx="1450440" cy="623160"/>
          </a:xfrm>
          <a:custGeom>
            <a:avLst/>
            <a:gdLst/>
            <a:ahLst/>
            <a:rect l="0" t="0" r="r" b="b"/>
            <a:pathLst>
              <a:path w="4029" h="1731">
                <a:moveTo>
                  <a:pt x="103" y="0"/>
                </a:moveTo>
                <a:lnTo>
                  <a:pt x="3928" y="0"/>
                </a:lnTo>
                <a:cubicBezTo>
                  <a:pt x="3942" y="0"/>
                  <a:pt x="3954" y="3"/>
                  <a:pt x="3967" y="8"/>
                </a:cubicBezTo>
                <a:cubicBezTo>
                  <a:pt x="3979" y="13"/>
                  <a:pt x="3990" y="20"/>
                  <a:pt x="4000" y="30"/>
                </a:cubicBezTo>
                <a:cubicBezTo>
                  <a:pt x="4009" y="39"/>
                  <a:pt x="4017" y="50"/>
                  <a:pt x="4022" y="63"/>
                </a:cubicBezTo>
                <a:cubicBezTo>
                  <a:pt x="4027" y="75"/>
                  <a:pt x="4029" y="88"/>
                  <a:pt x="4029" y="101"/>
                </a:cubicBezTo>
                <a:lnTo>
                  <a:pt x="4029" y="1629"/>
                </a:lnTo>
                <a:cubicBezTo>
                  <a:pt x="4029" y="1643"/>
                  <a:pt x="4027" y="1656"/>
                  <a:pt x="4022" y="1668"/>
                </a:cubicBezTo>
                <a:cubicBezTo>
                  <a:pt x="4017" y="1680"/>
                  <a:pt x="4009" y="1691"/>
                  <a:pt x="4000" y="1701"/>
                </a:cubicBezTo>
                <a:cubicBezTo>
                  <a:pt x="3990" y="1710"/>
                  <a:pt x="3979" y="1718"/>
                  <a:pt x="3967" y="1723"/>
                </a:cubicBezTo>
                <a:cubicBezTo>
                  <a:pt x="3954" y="1728"/>
                  <a:pt x="3942" y="1731"/>
                  <a:pt x="3928" y="1731"/>
                </a:cubicBezTo>
                <a:lnTo>
                  <a:pt x="103" y="1731"/>
                </a:lnTo>
                <a:cubicBezTo>
                  <a:pt x="89" y="1731"/>
                  <a:pt x="76" y="1728"/>
                  <a:pt x="64" y="1723"/>
                </a:cubicBezTo>
                <a:cubicBezTo>
                  <a:pt x="51" y="1718"/>
                  <a:pt x="41" y="1710"/>
                  <a:pt x="31" y="1701"/>
                </a:cubicBezTo>
                <a:cubicBezTo>
                  <a:pt x="22" y="1691"/>
                  <a:pt x="13" y="1680"/>
                  <a:pt x="8" y="1668"/>
                </a:cubicBezTo>
                <a:cubicBezTo>
                  <a:pt x="3" y="1656"/>
                  <a:pt x="0" y="1643"/>
                  <a:pt x="0" y="1629"/>
                </a:cubicBezTo>
                <a:lnTo>
                  <a:pt x="0" y="101"/>
                </a:lnTo>
                <a:cubicBezTo>
                  <a:pt x="0" y="88"/>
                  <a:pt x="3" y="75"/>
                  <a:pt x="8" y="63"/>
                </a:cubicBezTo>
                <a:cubicBezTo>
                  <a:pt x="13" y="50"/>
                  <a:pt x="22" y="39"/>
                  <a:pt x="31" y="30"/>
                </a:cubicBezTo>
                <a:cubicBezTo>
                  <a:pt x="41" y="20"/>
                  <a:pt x="51" y="13"/>
                  <a:pt x="64" y="8"/>
                </a:cubicBezTo>
                <a:cubicBezTo>
                  <a:pt x="76" y="3"/>
                  <a:pt x="89" y="0"/>
                  <a:pt x="103" y="0"/>
                </a:cubicBezTo>
                <a:close/>
              </a:path>
            </a:pathLst>
          </a:custGeom>
          <a:noFill/>
          <a:ln w="3600">
            <a:solidFill>
              <a:srgbClr val="757579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666720" y="977400"/>
            <a:ext cx="425124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How they combine (illustrative)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790560" y="3104280"/>
            <a:ext cx="901440" cy="21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380" spc="-1" strike="noStrike">
                <a:solidFill>
                  <a:srgbClr val="001d34"/>
                </a:solidFill>
                <a:latin typeface="Calibri"/>
                <a:ea typeface="Calibri"/>
              </a:rPr>
              <a:t>Referrer app</a:t>
            </a:r>
            <a:endParaRPr b="0" lang="en-AU" sz="13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2613600" y="3010680"/>
            <a:ext cx="1607040" cy="623160"/>
          </a:xfrm>
          <a:custGeom>
            <a:avLst/>
            <a:gdLst/>
            <a:ahLst/>
            <a:rect l="0" t="0" r="r" b="b"/>
            <a:pathLst>
              <a:path w="4464" h="1731">
                <a:moveTo>
                  <a:pt x="101" y="0"/>
                </a:moveTo>
                <a:lnTo>
                  <a:pt x="4363" y="0"/>
                </a:lnTo>
                <a:cubicBezTo>
                  <a:pt x="4376" y="0"/>
                  <a:pt x="4389" y="3"/>
                  <a:pt x="4402" y="8"/>
                </a:cubicBezTo>
                <a:cubicBezTo>
                  <a:pt x="4414" y="13"/>
                  <a:pt x="4425" y="20"/>
                  <a:pt x="4435" y="30"/>
                </a:cubicBezTo>
                <a:cubicBezTo>
                  <a:pt x="4444" y="39"/>
                  <a:pt x="4451" y="50"/>
                  <a:pt x="4457" y="63"/>
                </a:cubicBezTo>
                <a:cubicBezTo>
                  <a:pt x="4462" y="75"/>
                  <a:pt x="4464" y="88"/>
                  <a:pt x="4464" y="101"/>
                </a:cubicBezTo>
                <a:lnTo>
                  <a:pt x="4464" y="1629"/>
                </a:lnTo>
                <a:cubicBezTo>
                  <a:pt x="4464" y="1643"/>
                  <a:pt x="4462" y="1656"/>
                  <a:pt x="4457" y="1668"/>
                </a:cubicBezTo>
                <a:cubicBezTo>
                  <a:pt x="4451" y="1680"/>
                  <a:pt x="4444" y="1691"/>
                  <a:pt x="4435" y="1701"/>
                </a:cubicBezTo>
                <a:cubicBezTo>
                  <a:pt x="4425" y="1710"/>
                  <a:pt x="4414" y="1718"/>
                  <a:pt x="4402" y="1723"/>
                </a:cubicBezTo>
                <a:cubicBezTo>
                  <a:pt x="4389" y="1728"/>
                  <a:pt x="4376" y="1731"/>
                  <a:pt x="4363" y="1731"/>
                </a:cubicBezTo>
                <a:lnTo>
                  <a:pt x="101" y="1731"/>
                </a:lnTo>
                <a:cubicBezTo>
                  <a:pt x="88" y="1731"/>
                  <a:pt x="75" y="1728"/>
                  <a:pt x="63" y="1723"/>
                </a:cubicBezTo>
                <a:cubicBezTo>
                  <a:pt x="50" y="1718"/>
                  <a:pt x="39" y="1710"/>
                  <a:pt x="30" y="1701"/>
                </a:cubicBezTo>
                <a:cubicBezTo>
                  <a:pt x="20" y="1691"/>
                  <a:pt x="13" y="1680"/>
                  <a:pt x="8" y="1668"/>
                </a:cubicBezTo>
                <a:cubicBezTo>
                  <a:pt x="3" y="1656"/>
                  <a:pt x="0" y="1643"/>
                  <a:pt x="0" y="1629"/>
                </a:cubicBezTo>
                <a:lnTo>
                  <a:pt x="0" y="101"/>
                </a:lnTo>
                <a:cubicBezTo>
                  <a:pt x="0" y="88"/>
                  <a:pt x="3" y="75"/>
                  <a:pt x="8" y="63"/>
                </a:cubicBezTo>
                <a:cubicBezTo>
                  <a:pt x="13" y="50"/>
                  <a:pt x="20" y="39"/>
                  <a:pt x="30" y="30"/>
                </a:cubicBezTo>
                <a:cubicBezTo>
                  <a:pt x="39" y="20"/>
                  <a:pt x="50" y="13"/>
                  <a:pt x="63" y="8"/>
                </a:cubicBezTo>
                <a:cubicBezTo>
                  <a:pt x="75" y="3"/>
                  <a:pt x="88" y="0"/>
                  <a:pt x="101" y="0"/>
                </a:cubicBez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2613600" y="3010680"/>
            <a:ext cx="1607040" cy="623160"/>
          </a:xfrm>
          <a:custGeom>
            <a:avLst/>
            <a:gdLst/>
            <a:ahLst/>
            <a:rect l="0" t="0" r="r" b="b"/>
            <a:pathLst>
              <a:path w="4464" h="1731">
                <a:moveTo>
                  <a:pt x="101" y="0"/>
                </a:moveTo>
                <a:lnTo>
                  <a:pt x="4363" y="0"/>
                </a:lnTo>
                <a:cubicBezTo>
                  <a:pt x="4376" y="0"/>
                  <a:pt x="4389" y="3"/>
                  <a:pt x="4402" y="8"/>
                </a:cubicBezTo>
                <a:cubicBezTo>
                  <a:pt x="4414" y="13"/>
                  <a:pt x="4425" y="20"/>
                  <a:pt x="4435" y="30"/>
                </a:cubicBezTo>
                <a:cubicBezTo>
                  <a:pt x="4444" y="39"/>
                  <a:pt x="4451" y="50"/>
                  <a:pt x="4457" y="63"/>
                </a:cubicBezTo>
                <a:cubicBezTo>
                  <a:pt x="4462" y="75"/>
                  <a:pt x="4464" y="88"/>
                  <a:pt x="4464" y="101"/>
                </a:cubicBezTo>
                <a:lnTo>
                  <a:pt x="4464" y="1629"/>
                </a:lnTo>
                <a:cubicBezTo>
                  <a:pt x="4464" y="1643"/>
                  <a:pt x="4462" y="1656"/>
                  <a:pt x="4457" y="1668"/>
                </a:cubicBezTo>
                <a:cubicBezTo>
                  <a:pt x="4451" y="1680"/>
                  <a:pt x="4444" y="1691"/>
                  <a:pt x="4435" y="1701"/>
                </a:cubicBezTo>
                <a:cubicBezTo>
                  <a:pt x="4425" y="1710"/>
                  <a:pt x="4414" y="1718"/>
                  <a:pt x="4402" y="1723"/>
                </a:cubicBezTo>
                <a:cubicBezTo>
                  <a:pt x="4389" y="1728"/>
                  <a:pt x="4376" y="1731"/>
                  <a:pt x="4363" y="1731"/>
                </a:cubicBezTo>
                <a:lnTo>
                  <a:pt x="101" y="1731"/>
                </a:lnTo>
                <a:cubicBezTo>
                  <a:pt x="88" y="1731"/>
                  <a:pt x="75" y="1728"/>
                  <a:pt x="63" y="1723"/>
                </a:cubicBezTo>
                <a:cubicBezTo>
                  <a:pt x="50" y="1718"/>
                  <a:pt x="39" y="1710"/>
                  <a:pt x="30" y="1701"/>
                </a:cubicBezTo>
                <a:cubicBezTo>
                  <a:pt x="20" y="1691"/>
                  <a:pt x="13" y="1680"/>
                  <a:pt x="8" y="1668"/>
                </a:cubicBezTo>
                <a:cubicBezTo>
                  <a:pt x="3" y="1656"/>
                  <a:pt x="0" y="1643"/>
                  <a:pt x="0" y="1629"/>
                </a:cubicBezTo>
                <a:lnTo>
                  <a:pt x="0" y="101"/>
                </a:lnTo>
                <a:cubicBezTo>
                  <a:pt x="0" y="88"/>
                  <a:pt x="3" y="75"/>
                  <a:pt x="8" y="63"/>
                </a:cubicBezTo>
                <a:cubicBezTo>
                  <a:pt x="13" y="50"/>
                  <a:pt x="20" y="39"/>
                  <a:pt x="30" y="30"/>
                </a:cubicBezTo>
                <a:cubicBezTo>
                  <a:pt x="39" y="20"/>
                  <a:pt x="50" y="13"/>
                  <a:pt x="63" y="8"/>
                </a:cubicBezTo>
                <a:cubicBezTo>
                  <a:pt x="75" y="3"/>
                  <a:pt x="88" y="0"/>
                  <a:pt x="101" y="0"/>
                </a:cubicBezTo>
                <a:close/>
              </a:path>
            </a:pathLst>
          </a:custGeom>
          <a:noFill/>
          <a:ln w="3600">
            <a:solidFill>
              <a:srgbClr val="757579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790560" y="3342600"/>
            <a:ext cx="1171080" cy="21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380" spc="-1" strike="noStrike">
                <a:solidFill>
                  <a:srgbClr val="001d34"/>
                </a:solidFill>
                <a:latin typeface="Calibri"/>
                <a:ea typeface="Calibri"/>
              </a:rPr>
              <a:t>(browser / EMR)</a:t>
            </a:r>
            <a:endParaRPr b="0" lang="en-AU" sz="13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2686680" y="3104280"/>
            <a:ext cx="739800" cy="21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380" spc="-1" strike="noStrike">
                <a:solidFill>
                  <a:srgbClr val="001d34"/>
                </a:solidFill>
                <a:latin typeface="Calibri"/>
                <a:ea typeface="Calibri"/>
              </a:rPr>
              <a:t>Legacy RIS</a:t>
            </a:r>
            <a:endParaRPr b="0" lang="en-AU" sz="13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5662080" y="3885840"/>
            <a:ext cx="2038680" cy="622800"/>
          </a:xfrm>
          <a:custGeom>
            <a:avLst/>
            <a:gdLst/>
            <a:ahLst/>
            <a:rect l="0" t="0" r="r" b="b"/>
            <a:pathLst>
              <a:path w="5663" h="1730">
                <a:moveTo>
                  <a:pt x="101" y="0"/>
                </a:moveTo>
                <a:lnTo>
                  <a:pt x="5561" y="0"/>
                </a:lnTo>
                <a:cubicBezTo>
                  <a:pt x="5575" y="0"/>
                  <a:pt x="5588" y="2"/>
                  <a:pt x="5600" y="8"/>
                </a:cubicBezTo>
                <a:cubicBezTo>
                  <a:pt x="5612" y="13"/>
                  <a:pt x="5623" y="20"/>
                  <a:pt x="5633" y="30"/>
                </a:cubicBezTo>
                <a:cubicBezTo>
                  <a:pt x="5642" y="39"/>
                  <a:pt x="5650" y="50"/>
                  <a:pt x="5655" y="62"/>
                </a:cubicBezTo>
                <a:cubicBezTo>
                  <a:pt x="5660" y="75"/>
                  <a:pt x="5663" y="88"/>
                  <a:pt x="5663" y="101"/>
                </a:cubicBezTo>
                <a:lnTo>
                  <a:pt x="5663" y="1629"/>
                </a:lnTo>
                <a:cubicBezTo>
                  <a:pt x="5663" y="1643"/>
                  <a:pt x="5660" y="1655"/>
                  <a:pt x="5655" y="1668"/>
                </a:cubicBezTo>
                <a:cubicBezTo>
                  <a:pt x="5650" y="1680"/>
                  <a:pt x="5642" y="1691"/>
                  <a:pt x="5633" y="1701"/>
                </a:cubicBezTo>
                <a:cubicBezTo>
                  <a:pt x="5623" y="1710"/>
                  <a:pt x="5612" y="1718"/>
                  <a:pt x="5600" y="1723"/>
                </a:cubicBezTo>
                <a:cubicBezTo>
                  <a:pt x="5588" y="1728"/>
                  <a:pt x="5575" y="1730"/>
                  <a:pt x="5561" y="1730"/>
                </a:cubicBezTo>
                <a:lnTo>
                  <a:pt x="101" y="1730"/>
                </a:lnTo>
                <a:cubicBezTo>
                  <a:pt x="87" y="1730"/>
                  <a:pt x="74" y="1728"/>
                  <a:pt x="62" y="1723"/>
                </a:cubicBezTo>
                <a:cubicBezTo>
                  <a:pt x="50" y="1718"/>
                  <a:pt x="39" y="1710"/>
                  <a:pt x="29" y="1701"/>
                </a:cubicBezTo>
                <a:cubicBezTo>
                  <a:pt x="20" y="1691"/>
                  <a:pt x="12" y="1680"/>
                  <a:pt x="7" y="1668"/>
                </a:cubicBezTo>
                <a:cubicBezTo>
                  <a:pt x="2" y="1655"/>
                  <a:pt x="0" y="1643"/>
                  <a:pt x="0" y="1629"/>
                </a:cubicBezTo>
                <a:lnTo>
                  <a:pt x="0" y="101"/>
                </a:lnTo>
                <a:cubicBezTo>
                  <a:pt x="0" y="88"/>
                  <a:pt x="2" y="75"/>
                  <a:pt x="7" y="62"/>
                </a:cubicBezTo>
                <a:cubicBezTo>
                  <a:pt x="12" y="50"/>
                  <a:pt x="20" y="39"/>
                  <a:pt x="29" y="30"/>
                </a:cubicBezTo>
                <a:cubicBezTo>
                  <a:pt x="39" y="20"/>
                  <a:pt x="50" y="13"/>
                  <a:pt x="62" y="8"/>
                </a:cubicBezTo>
                <a:cubicBezTo>
                  <a:pt x="74" y="2"/>
                  <a:pt x="87" y="0"/>
                  <a:pt x="101" y="0"/>
                </a:cubicBezTo>
                <a:close/>
              </a:path>
            </a:pathLst>
          </a:custGeom>
          <a:solidFill>
            <a:srgbClr val="8ad8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5662080" y="3885840"/>
            <a:ext cx="2038680" cy="622800"/>
          </a:xfrm>
          <a:custGeom>
            <a:avLst/>
            <a:gdLst/>
            <a:ahLst/>
            <a:rect l="0" t="0" r="r" b="b"/>
            <a:pathLst>
              <a:path w="5663" h="1730">
                <a:moveTo>
                  <a:pt x="101" y="0"/>
                </a:moveTo>
                <a:lnTo>
                  <a:pt x="5561" y="0"/>
                </a:lnTo>
                <a:cubicBezTo>
                  <a:pt x="5575" y="0"/>
                  <a:pt x="5588" y="2"/>
                  <a:pt x="5600" y="8"/>
                </a:cubicBezTo>
                <a:cubicBezTo>
                  <a:pt x="5612" y="13"/>
                  <a:pt x="5623" y="20"/>
                  <a:pt x="5633" y="30"/>
                </a:cubicBezTo>
                <a:cubicBezTo>
                  <a:pt x="5642" y="39"/>
                  <a:pt x="5650" y="50"/>
                  <a:pt x="5655" y="62"/>
                </a:cubicBezTo>
                <a:cubicBezTo>
                  <a:pt x="5660" y="75"/>
                  <a:pt x="5663" y="88"/>
                  <a:pt x="5663" y="101"/>
                </a:cubicBezTo>
                <a:lnTo>
                  <a:pt x="5663" y="1629"/>
                </a:lnTo>
                <a:cubicBezTo>
                  <a:pt x="5663" y="1643"/>
                  <a:pt x="5660" y="1655"/>
                  <a:pt x="5655" y="1668"/>
                </a:cubicBezTo>
                <a:cubicBezTo>
                  <a:pt x="5650" y="1680"/>
                  <a:pt x="5642" y="1691"/>
                  <a:pt x="5633" y="1701"/>
                </a:cubicBezTo>
                <a:cubicBezTo>
                  <a:pt x="5623" y="1710"/>
                  <a:pt x="5612" y="1718"/>
                  <a:pt x="5600" y="1723"/>
                </a:cubicBezTo>
                <a:cubicBezTo>
                  <a:pt x="5588" y="1728"/>
                  <a:pt x="5575" y="1730"/>
                  <a:pt x="5561" y="1730"/>
                </a:cubicBezTo>
                <a:lnTo>
                  <a:pt x="101" y="1730"/>
                </a:lnTo>
                <a:cubicBezTo>
                  <a:pt x="87" y="1730"/>
                  <a:pt x="74" y="1728"/>
                  <a:pt x="62" y="1723"/>
                </a:cubicBezTo>
                <a:cubicBezTo>
                  <a:pt x="50" y="1718"/>
                  <a:pt x="39" y="1710"/>
                  <a:pt x="29" y="1701"/>
                </a:cubicBezTo>
                <a:cubicBezTo>
                  <a:pt x="20" y="1691"/>
                  <a:pt x="12" y="1680"/>
                  <a:pt x="7" y="1668"/>
                </a:cubicBezTo>
                <a:cubicBezTo>
                  <a:pt x="2" y="1655"/>
                  <a:pt x="0" y="1643"/>
                  <a:pt x="0" y="1629"/>
                </a:cubicBezTo>
                <a:lnTo>
                  <a:pt x="0" y="101"/>
                </a:lnTo>
                <a:cubicBezTo>
                  <a:pt x="0" y="88"/>
                  <a:pt x="2" y="75"/>
                  <a:pt x="7" y="62"/>
                </a:cubicBezTo>
                <a:cubicBezTo>
                  <a:pt x="12" y="50"/>
                  <a:pt x="20" y="39"/>
                  <a:pt x="29" y="30"/>
                </a:cubicBezTo>
                <a:cubicBezTo>
                  <a:pt x="39" y="20"/>
                  <a:pt x="50" y="13"/>
                  <a:pt x="62" y="8"/>
                </a:cubicBezTo>
                <a:cubicBezTo>
                  <a:pt x="74" y="2"/>
                  <a:pt x="87" y="0"/>
                  <a:pt x="101" y="0"/>
                </a:cubicBezTo>
                <a:close/>
              </a:path>
            </a:pathLst>
          </a:custGeom>
          <a:noFill/>
          <a:ln w="360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2686680" y="3342600"/>
            <a:ext cx="1265760" cy="21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380" spc="-1" strike="noStrike">
                <a:solidFill>
                  <a:srgbClr val="001d34"/>
                </a:solidFill>
                <a:latin typeface="Calibri"/>
                <a:ea typeface="Calibri"/>
              </a:rPr>
              <a:t>HL7 v2 over MLLP</a:t>
            </a:r>
            <a:endParaRPr b="0" lang="en-AU" sz="13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5734800" y="3979440"/>
            <a:ext cx="662040" cy="21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380" spc="-1" strike="noStrike">
                <a:solidFill>
                  <a:srgbClr val="001d34"/>
                </a:solidFill>
                <a:latin typeface="Calibri"/>
                <a:ea typeface="Calibri"/>
              </a:rPr>
              <a:t>Directory</a:t>
            </a:r>
            <a:endParaRPr b="0" lang="en-AU" sz="13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"/>
          <p:cNvSpPr/>
          <p:nvPr/>
        </p:nvSpPr>
        <p:spPr>
          <a:xfrm>
            <a:off x="8476920" y="3163680"/>
            <a:ext cx="1380240" cy="623160"/>
          </a:xfrm>
          <a:custGeom>
            <a:avLst/>
            <a:gdLst/>
            <a:ahLst/>
            <a:rect l="0" t="0" r="r" b="b"/>
            <a:pathLst>
              <a:path w="3834" h="1731">
                <a:moveTo>
                  <a:pt x="101" y="0"/>
                </a:moveTo>
                <a:lnTo>
                  <a:pt x="3732" y="0"/>
                </a:lnTo>
                <a:cubicBezTo>
                  <a:pt x="3746" y="0"/>
                  <a:pt x="3759" y="3"/>
                  <a:pt x="3771" y="8"/>
                </a:cubicBezTo>
                <a:cubicBezTo>
                  <a:pt x="3784" y="13"/>
                  <a:pt x="3795" y="21"/>
                  <a:pt x="3804" y="30"/>
                </a:cubicBezTo>
                <a:cubicBezTo>
                  <a:pt x="3814" y="40"/>
                  <a:pt x="3821" y="51"/>
                  <a:pt x="3826" y="63"/>
                </a:cubicBezTo>
                <a:cubicBezTo>
                  <a:pt x="3831" y="75"/>
                  <a:pt x="3834" y="88"/>
                  <a:pt x="3834" y="102"/>
                </a:cubicBezTo>
                <a:lnTo>
                  <a:pt x="3834" y="1630"/>
                </a:lnTo>
                <a:cubicBezTo>
                  <a:pt x="3834" y="1643"/>
                  <a:pt x="3831" y="1656"/>
                  <a:pt x="3826" y="1668"/>
                </a:cubicBezTo>
                <a:cubicBezTo>
                  <a:pt x="3821" y="1681"/>
                  <a:pt x="3814" y="1692"/>
                  <a:pt x="3804" y="1701"/>
                </a:cubicBezTo>
                <a:cubicBezTo>
                  <a:pt x="3795" y="1711"/>
                  <a:pt x="3784" y="1718"/>
                  <a:pt x="3771" y="1723"/>
                </a:cubicBezTo>
                <a:cubicBezTo>
                  <a:pt x="3759" y="1728"/>
                  <a:pt x="3746" y="1731"/>
                  <a:pt x="3732" y="1731"/>
                </a:cubicBezTo>
                <a:lnTo>
                  <a:pt x="101" y="1731"/>
                </a:lnTo>
                <a:cubicBezTo>
                  <a:pt x="88" y="1731"/>
                  <a:pt x="75" y="1728"/>
                  <a:pt x="62" y="1723"/>
                </a:cubicBezTo>
                <a:cubicBezTo>
                  <a:pt x="50" y="1718"/>
                  <a:pt x="39" y="1711"/>
                  <a:pt x="29" y="1701"/>
                </a:cubicBezTo>
                <a:cubicBezTo>
                  <a:pt x="20" y="1692"/>
                  <a:pt x="13" y="1681"/>
                  <a:pt x="7" y="1668"/>
                </a:cubicBezTo>
                <a:cubicBezTo>
                  <a:pt x="2" y="1656"/>
                  <a:pt x="0" y="1643"/>
                  <a:pt x="0" y="1630"/>
                </a:cubicBezTo>
                <a:lnTo>
                  <a:pt x="0" y="102"/>
                </a:lnTo>
                <a:cubicBezTo>
                  <a:pt x="0" y="88"/>
                  <a:pt x="2" y="75"/>
                  <a:pt x="7" y="63"/>
                </a:cubicBezTo>
                <a:cubicBezTo>
                  <a:pt x="13" y="51"/>
                  <a:pt x="20" y="40"/>
                  <a:pt x="29" y="30"/>
                </a:cubicBezTo>
                <a:cubicBezTo>
                  <a:pt x="39" y="21"/>
                  <a:pt x="50" y="13"/>
                  <a:pt x="62" y="8"/>
                </a:cubicBezTo>
                <a:cubicBezTo>
                  <a:pt x="75" y="3"/>
                  <a:pt x="88" y="0"/>
                  <a:pt x="101" y="0"/>
                </a:cubicBezTo>
                <a:close/>
              </a:path>
            </a:pathLst>
          </a:custGeom>
          <a:solidFill>
            <a:srgbClr val="8ad8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8476920" y="3163680"/>
            <a:ext cx="1380240" cy="623160"/>
          </a:xfrm>
          <a:custGeom>
            <a:avLst/>
            <a:gdLst/>
            <a:ahLst/>
            <a:rect l="0" t="0" r="r" b="b"/>
            <a:pathLst>
              <a:path w="3834" h="1731">
                <a:moveTo>
                  <a:pt x="101" y="0"/>
                </a:moveTo>
                <a:lnTo>
                  <a:pt x="3732" y="0"/>
                </a:lnTo>
                <a:cubicBezTo>
                  <a:pt x="3746" y="0"/>
                  <a:pt x="3759" y="3"/>
                  <a:pt x="3771" y="8"/>
                </a:cubicBezTo>
                <a:cubicBezTo>
                  <a:pt x="3784" y="13"/>
                  <a:pt x="3795" y="21"/>
                  <a:pt x="3804" y="30"/>
                </a:cubicBezTo>
                <a:cubicBezTo>
                  <a:pt x="3814" y="40"/>
                  <a:pt x="3821" y="51"/>
                  <a:pt x="3826" y="63"/>
                </a:cubicBezTo>
                <a:cubicBezTo>
                  <a:pt x="3831" y="75"/>
                  <a:pt x="3834" y="88"/>
                  <a:pt x="3834" y="102"/>
                </a:cubicBezTo>
                <a:lnTo>
                  <a:pt x="3834" y="1630"/>
                </a:lnTo>
                <a:cubicBezTo>
                  <a:pt x="3834" y="1643"/>
                  <a:pt x="3831" y="1656"/>
                  <a:pt x="3826" y="1668"/>
                </a:cubicBezTo>
                <a:cubicBezTo>
                  <a:pt x="3821" y="1681"/>
                  <a:pt x="3814" y="1692"/>
                  <a:pt x="3804" y="1701"/>
                </a:cubicBezTo>
                <a:cubicBezTo>
                  <a:pt x="3795" y="1711"/>
                  <a:pt x="3784" y="1718"/>
                  <a:pt x="3771" y="1723"/>
                </a:cubicBezTo>
                <a:cubicBezTo>
                  <a:pt x="3759" y="1728"/>
                  <a:pt x="3746" y="1731"/>
                  <a:pt x="3732" y="1731"/>
                </a:cubicBezTo>
                <a:lnTo>
                  <a:pt x="101" y="1731"/>
                </a:lnTo>
                <a:cubicBezTo>
                  <a:pt x="88" y="1731"/>
                  <a:pt x="75" y="1728"/>
                  <a:pt x="62" y="1723"/>
                </a:cubicBezTo>
                <a:cubicBezTo>
                  <a:pt x="50" y="1718"/>
                  <a:pt x="39" y="1711"/>
                  <a:pt x="29" y="1701"/>
                </a:cubicBezTo>
                <a:cubicBezTo>
                  <a:pt x="20" y="1692"/>
                  <a:pt x="13" y="1681"/>
                  <a:pt x="7" y="1668"/>
                </a:cubicBezTo>
                <a:cubicBezTo>
                  <a:pt x="2" y="1656"/>
                  <a:pt x="0" y="1643"/>
                  <a:pt x="0" y="1630"/>
                </a:cubicBezTo>
                <a:lnTo>
                  <a:pt x="0" y="102"/>
                </a:lnTo>
                <a:cubicBezTo>
                  <a:pt x="0" y="88"/>
                  <a:pt x="2" y="75"/>
                  <a:pt x="7" y="63"/>
                </a:cubicBezTo>
                <a:cubicBezTo>
                  <a:pt x="13" y="51"/>
                  <a:pt x="20" y="40"/>
                  <a:pt x="29" y="30"/>
                </a:cubicBezTo>
                <a:cubicBezTo>
                  <a:pt x="39" y="21"/>
                  <a:pt x="50" y="13"/>
                  <a:pt x="62" y="8"/>
                </a:cubicBezTo>
                <a:cubicBezTo>
                  <a:pt x="75" y="3"/>
                  <a:pt x="88" y="0"/>
                  <a:pt x="101" y="0"/>
                </a:cubicBezTo>
                <a:close/>
              </a:path>
            </a:pathLst>
          </a:custGeom>
          <a:noFill/>
          <a:ln w="360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5734800" y="4217760"/>
            <a:ext cx="1628280" cy="21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380" spc="-1" strike="noStrike">
                <a:solidFill>
                  <a:srgbClr val="001d34"/>
                </a:solidFill>
                <a:latin typeface="Calibri"/>
                <a:ea typeface="Calibri"/>
              </a:rPr>
              <a:t>HCPD / Qld PD on FHIR</a:t>
            </a:r>
            <a:endParaRPr b="0" lang="en-AU" sz="13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8550000" y="3257280"/>
            <a:ext cx="876960" cy="21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380" spc="-1" strike="noStrike">
                <a:solidFill>
                  <a:srgbClr val="001d34"/>
                </a:solidFill>
                <a:latin typeface="Calibri"/>
                <a:ea typeface="Calibri"/>
              </a:rPr>
              <a:t>Referral and</a:t>
            </a:r>
            <a:endParaRPr b="0" lang="en-AU" sz="13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5942520" y="3010680"/>
            <a:ext cx="1482840" cy="623160"/>
          </a:xfrm>
          <a:custGeom>
            <a:avLst/>
            <a:gdLst/>
            <a:ahLst/>
            <a:rect l="0" t="0" r="r" b="b"/>
            <a:pathLst>
              <a:path w="4119" h="1731">
                <a:moveTo>
                  <a:pt x="102" y="0"/>
                </a:moveTo>
                <a:lnTo>
                  <a:pt x="4018" y="0"/>
                </a:lnTo>
                <a:cubicBezTo>
                  <a:pt x="4032" y="0"/>
                  <a:pt x="4044" y="3"/>
                  <a:pt x="4057" y="8"/>
                </a:cubicBezTo>
                <a:cubicBezTo>
                  <a:pt x="4069" y="13"/>
                  <a:pt x="4080" y="20"/>
                  <a:pt x="4090" y="30"/>
                </a:cubicBezTo>
                <a:cubicBezTo>
                  <a:pt x="4099" y="39"/>
                  <a:pt x="4107" y="50"/>
                  <a:pt x="4112" y="63"/>
                </a:cubicBezTo>
                <a:cubicBezTo>
                  <a:pt x="4117" y="75"/>
                  <a:pt x="4119" y="88"/>
                  <a:pt x="4119" y="101"/>
                </a:cubicBezTo>
                <a:lnTo>
                  <a:pt x="4119" y="1629"/>
                </a:lnTo>
                <a:cubicBezTo>
                  <a:pt x="4119" y="1643"/>
                  <a:pt x="4117" y="1656"/>
                  <a:pt x="4112" y="1668"/>
                </a:cubicBezTo>
                <a:cubicBezTo>
                  <a:pt x="4107" y="1680"/>
                  <a:pt x="4099" y="1691"/>
                  <a:pt x="4090" y="1701"/>
                </a:cubicBezTo>
                <a:cubicBezTo>
                  <a:pt x="4080" y="1710"/>
                  <a:pt x="4069" y="1718"/>
                  <a:pt x="4057" y="1723"/>
                </a:cubicBezTo>
                <a:cubicBezTo>
                  <a:pt x="4044" y="1728"/>
                  <a:pt x="4032" y="1731"/>
                  <a:pt x="4018" y="1731"/>
                </a:cubicBezTo>
                <a:lnTo>
                  <a:pt x="102" y="1731"/>
                </a:lnTo>
                <a:cubicBezTo>
                  <a:pt x="88" y="1731"/>
                  <a:pt x="75" y="1728"/>
                  <a:pt x="63" y="1723"/>
                </a:cubicBezTo>
                <a:cubicBezTo>
                  <a:pt x="51" y="1718"/>
                  <a:pt x="40" y="1710"/>
                  <a:pt x="30" y="1701"/>
                </a:cubicBezTo>
                <a:cubicBezTo>
                  <a:pt x="21" y="1691"/>
                  <a:pt x="13" y="1680"/>
                  <a:pt x="8" y="1668"/>
                </a:cubicBezTo>
                <a:cubicBezTo>
                  <a:pt x="3" y="1656"/>
                  <a:pt x="0" y="1643"/>
                  <a:pt x="0" y="1629"/>
                </a:cubicBezTo>
                <a:lnTo>
                  <a:pt x="0" y="101"/>
                </a:lnTo>
                <a:cubicBezTo>
                  <a:pt x="0" y="88"/>
                  <a:pt x="3" y="75"/>
                  <a:pt x="8" y="63"/>
                </a:cubicBezTo>
                <a:cubicBezTo>
                  <a:pt x="13" y="50"/>
                  <a:pt x="21" y="39"/>
                  <a:pt x="30" y="30"/>
                </a:cubicBezTo>
                <a:cubicBezTo>
                  <a:pt x="40" y="20"/>
                  <a:pt x="51" y="13"/>
                  <a:pt x="63" y="8"/>
                </a:cubicBezTo>
                <a:cubicBezTo>
                  <a:pt x="75" y="3"/>
                  <a:pt x="88" y="0"/>
                  <a:pt x="102" y="0"/>
                </a:cubicBezTo>
                <a:close/>
              </a:path>
            </a:pathLst>
          </a:custGeom>
          <a:solidFill>
            <a:srgbClr val="007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0" name=""/>
          <p:cNvSpPr/>
          <p:nvPr/>
        </p:nvSpPr>
        <p:spPr>
          <a:xfrm>
            <a:off x="5942520" y="3010680"/>
            <a:ext cx="1482840" cy="623160"/>
          </a:xfrm>
          <a:custGeom>
            <a:avLst/>
            <a:gdLst/>
            <a:ahLst/>
            <a:rect l="0" t="0" r="r" b="b"/>
            <a:pathLst>
              <a:path w="4119" h="1731">
                <a:moveTo>
                  <a:pt x="102" y="0"/>
                </a:moveTo>
                <a:lnTo>
                  <a:pt x="4018" y="0"/>
                </a:lnTo>
                <a:cubicBezTo>
                  <a:pt x="4032" y="0"/>
                  <a:pt x="4044" y="3"/>
                  <a:pt x="4057" y="8"/>
                </a:cubicBezTo>
                <a:cubicBezTo>
                  <a:pt x="4069" y="13"/>
                  <a:pt x="4080" y="20"/>
                  <a:pt x="4090" y="30"/>
                </a:cubicBezTo>
                <a:cubicBezTo>
                  <a:pt x="4099" y="39"/>
                  <a:pt x="4107" y="50"/>
                  <a:pt x="4112" y="63"/>
                </a:cubicBezTo>
                <a:cubicBezTo>
                  <a:pt x="4117" y="75"/>
                  <a:pt x="4119" y="88"/>
                  <a:pt x="4119" y="101"/>
                </a:cubicBezTo>
                <a:lnTo>
                  <a:pt x="4119" y="1629"/>
                </a:lnTo>
                <a:cubicBezTo>
                  <a:pt x="4119" y="1643"/>
                  <a:pt x="4117" y="1656"/>
                  <a:pt x="4112" y="1668"/>
                </a:cubicBezTo>
                <a:cubicBezTo>
                  <a:pt x="4107" y="1680"/>
                  <a:pt x="4099" y="1691"/>
                  <a:pt x="4090" y="1701"/>
                </a:cubicBezTo>
                <a:cubicBezTo>
                  <a:pt x="4080" y="1710"/>
                  <a:pt x="4069" y="1718"/>
                  <a:pt x="4057" y="1723"/>
                </a:cubicBezTo>
                <a:cubicBezTo>
                  <a:pt x="4044" y="1728"/>
                  <a:pt x="4032" y="1731"/>
                  <a:pt x="4018" y="1731"/>
                </a:cubicBezTo>
                <a:lnTo>
                  <a:pt x="102" y="1731"/>
                </a:lnTo>
                <a:cubicBezTo>
                  <a:pt x="88" y="1731"/>
                  <a:pt x="75" y="1728"/>
                  <a:pt x="63" y="1723"/>
                </a:cubicBezTo>
                <a:cubicBezTo>
                  <a:pt x="51" y="1718"/>
                  <a:pt x="40" y="1710"/>
                  <a:pt x="30" y="1701"/>
                </a:cubicBezTo>
                <a:cubicBezTo>
                  <a:pt x="21" y="1691"/>
                  <a:pt x="13" y="1680"/>
                  <a:pt x="8" y="1668"/>
                </a:cubicBezTo>
                <a:cubicBezTo>
                  <a:pt x="3" y="1656"/>
                  <a:pt x="0" y="1643"/>
                  <a:pt x="0" y="1629"/>
                </a:cubicBezTo>
                <a:lnTo>
                  <a:pt x="0" y="101"/>
                </a:lnTo>
                <a:cubicBezTo>
                  <a:pt x="0" y="88"/>
                  <a:pt x="3" y="75"/>
                  <a:pt x="8" y="63"/>
                </a:cubicBezTo>
                <a:cubicBezTo>
                  <a:pt x="13" y="50"/>
                  <a:pt x="21" y="39"/>
                  <a:pt x="30" y="30"/>
                </a:cubicBezTo>
                <a:cubicBezTo>
                  <a:pt x="40" y="20"/>
                  <a:pt x="51" y="13"/>
                  <a:pt x="63" y="8"/>
                </a:cubicBezTo>
                <a:cubicBezTo>
                  <a:pt x="75" y="3"/>
                  <a:pt x="88" y="0"/>
                  <a:pt x="102" y="0"/>
                </a:cubicBezTo>
                <a:close/>
              </a:path>
            </a:pathLst>
          </a:custGeom>
          <a:noFill/>
          <a:ln w="360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8550000" y="3495600"/>
            <a:ext cx="1055160" cy="21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380" spc="-1" strike="noStrike">
                <a:solidFill>
                  <a:srgbClr val="001d34"/>
                </a:solidFill>
                <a:latin typeface="Calibri"/>
                <a:ea typeface="Calibri"/>
              </a:rPr>
              <a:t>booking server</a:t>
            </a:r>
            <a:endParaRPr b="0" lang="en-AU" sz="13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6015960" y="3104280"/>
            <a:ext cx="1079640" cy="21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380" spc="-1" strike="noStrike">
                <a:solidFill>
                  <a:srgbClr val="ffffff"/>
                </a:solidFill>
                <a:latin typeface="Calibri"/>
                <a:ea typeface="Calibri"/>
              </a:rPr>
              <a:t>Legacy adapter</a:t>
            </a:r>
            <a:endParaRPr b="0" lang="en-AU" sz="13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" name=""/>
          <p:cNvSpPr/>
          <p:nvPr/>
        </p:nvSpPr>
        <p:spPr>
          <a:xfrm>
            <a:off x="10299960" y="3740040"/>
            <a:ext cx="1185120" cy="622800"/>
          </a:xfrm>
          <a:custGeom>
            <a:avLst/>
            <a:gdLst/>
            <a:ahLst/>
            <a:rect l="0" t="0" r="r" b="b"/>
            <a:pathLst>
              <a:path w="3292" h="1730">
                <a:moveTo>
                  <a:pt x="101" y="0"/>
                </a:moveTo>
                <a:lnTo>
                  <a:pt x="3191" y="0"/>
                </a:lnTo>
                <a:cubicBezTo>
                  <a:pt x="3205" y="0"/>
                  <a:pt x="3217" y="2"/>
                  <a:pt x="3230" y="7"/>
                </a:cubicBezTo>
                <a:cubicBezTo>
                  <a:pt x="3242" y="13"/>
                  <a:pt x="3253" y="20"/>
                  <a:pt x="3263" y="29"/>
                </a:cubicBezTo>
                <a:cubicBezTo>
                  <a:pt x="3272" y="39"/>
                  <a:pt x="3280" y="50"/>
                  <a:pt x="3285" y="62"/>
                </a:cubicBezTo>
                <a:cubicBezTo>
                  <a:pt x="3290" y="75"/>
                  <a:pt x="3292" y="88"/>
                  <a:pt x="3292" y="101"/>
                </a:cubicBezTo>
                <a:lnTo>
                  <a:pt x="3292" y="1629"/>
                </a:lnTo>
                <a:cubicBezTo>
                  <a:pt x="3292" y="1642"/>
                  <a:pt x="3290" y="1655"/>
                  <a:pt x="3285" y="1668"/>
                </a:cubicBezTo>
                <a:cubicBezTo>
                  <a:pt x="3280" y="1680"/>
                  <a:pt x="3272" y="1691"/>
                  <a:pt x="3263" y="1701"/>
                </a:cubicBezTo>
                <a:cubicBezTo>
                  <a:pt x="3253" y="1710"/>
                  <a:pt x="3242" y="1717"/>
                  <a:pt x="3230" y="1723"/>
                </a:cubicBezTo>
                <a:cubicBezTo>
                  <a:pt x="3217" y="1728"/>
                  <a:pt x="3205" y="1730"/>
                  <a:pt x="3191" y="1730"/>
                </a:cubicBezTo>
                <a:lnTo>
                  <a:pt x="101" y="1730"/>
                </a:lnTo>
                <a:cubicBezTo>
                  <a:pt x="88" y="1730"/>
                  <a:pt x="75" y="1728"/>
                  <a:pt x="62" y="1723"/>
                </a:cubicBezTo>
                <a:cubicBezTo>
                  <a:pt x="50" y="1717"/>
                  <a:pt x="39" y="1710"/>
                  <a:pt x="30" y="1701"/>
                </a:cubicBezTo>
                <a:cubicBezTo>
                  <a:pt x="20" y="1691"/>
                  <a:pt x="13" y="1680"/>
                  <a:pt x="8" y="1668"/>
                </a:cubicBezTo>
                <a:cubicBezTo>
                  <a:pt x="2" y="1655"/>
                  <a:pt x="0" y="1642"/>
                  <a:pt x="0" y="1629"/>
                </a:cubicBezTo>
                <a:lnTo>
                  <a:pt x="0" y="101"/>
                </a:lnTo>
                <a:cubicBezTo>
                  <a:pt x="0" y="88"/>
                  <a:pt x="2" y="75"/>
                  <a:pt x="8" y="62"/>
                </a:cubicBezTo>
                <a:cubicBezTo>
                  <a:pt x="13" y="50"/>
                  <a:pt x="20" y="39"/>
                  <a:pt x="30" y="29"/>
                </a:cubicBezTo>
                <a:cubicBezTo>
                  <a:pt x="39" y="20"/>
                  <a:pt x="50" y="13"/>
                  <a:pt x="62" y="7"/>
                </a:cubicBezTo>
                <a:cubicBezTo>
                  <a:pt x="75" y="2"/>
                  <a:pt x="88" y="0"/>
                  <a:pt x="101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" name=""/>
          <p:cNvSpPr/>
          <p:nvPr/>
        </p:nvSpPr>
        <p:spPr>
          <a:xfrm>
            <a:off x="10299960" y="3740040"/>
            <a:ext cx="1185120" cy="622800"/>
          </a:xfrm>
          <a:custGeom>
            <a:avLst/>
            <a:gdLst/>
            <a:ahLst/>
            <a:rect l="0" t="0" r="r" b="b"/>
            <a:pathLst>
              <a:path w="3292" h="1730">
                <a:moveTo>
                  <a:pt x="101" y="0"/>
                </a:moveTo>
                <a:lnTo>
                  <a:pt x="3191" y="0"/>
                </a:lnTo>
                <a:cubicBezTo>
                  <a:pt x="3205" y="0"/>
                  <a:pt x="3217" y="2"/>
                  <a:pt x="3230" y="7"/>
                </a:cubicBezTo>
                <a:cubicBezTo>
                  <a:pt x="3242" y="13"/>
                  <a:pt x="3253" y="20"/>
                  <a:pt x="3263" y="29"/>
                </a:cubicBezTo>
                <a:cubicBezTo>
                  <a:pt x="3272" y="39"/>
                  <a:pt x="3280" y="50"/>
                  <a:pt x="3285" y="62"/>
                </a:cubicBezTo>
                <a:cubicBezTo>
                  <a:pt x="3290" y="75"/>
                  <a:pt x="3292" y="88"/>
                  <a:pt x="3292" y="101"/>
                </a:cubicBezTo>
                <a:lnTo>
                  <a:pt x="3292" y="1629"/>
                </a:lnTo>
                <a:cubicBezTo>
                  <a:pt x="3292" y="1642"/>
                  <a:pt x="3290" y="1655"/>
                  <a:pt x="3285" y="1668"/>
                </a:cubicBezTo>
                <a:cubicBezTo>
                  <a:pt x="3280" y="1680"/>
                  <a:pt x="3272" y="1691"/>
                  <a:pt x="3263" y="1701"/>
                </a:cubicBezTo>
                <a:cubicBezTo>
                  <a:pt x="3253" y="1710"/>
                  <a:pt x="3242" y="1717"/>
                  <a:pt x="3230" y="1723"/>
                </a:cubicBezTo>
                <a:cubicBezTo>
                  <a:pt x="3217" y="1728"/>
                  <a:pt x="3205" y="1730"/>
                  <a:pt x="3191" y="1730"/>
                </a:cubicBezTo>
                <a:lnTo>
                  <a:pt x="101" y="1730"/>
                </a:lnTo>
                <a:cubicBezTo>
                  <a:pt x="88" y="1730"/>
                  <a:pt x="75" y="1728"/>
                  <a:pt x="62" y="1723"/>
                </a:cubicBezTo>
                <a:cubicBezTo>
                  <a:pt x="50" y="1717"/>
                  <a:pt x="39" y="1710"/>
                  <a:pt x="30" y="1701"/>
                </a:cubicBezTo>
                <a:cubicBezTo>
                  <a:pt x="20" y="1691"/>
                  <a:pt x="13" y="1680"/>
                  <a:pt x="8" y="1668"/>
                </a:cubicBezTo>
                <a:cubicBezTo>
                  <a:pt x="2" y="1655"/>
                  <a:pt x="0" y="1642"/>
                  <a:pt x="0" y="1629"/>
                </a:cubicBezTo>
                <a:lnTo>
                  <a:pt x="0" y="101"/>
                </a:lnTo>
                <a:cubicBezTo>
                  <a:pt x="0" y="88"/>
                  <a:pt x="2" y="75"/>
                  <a:pt x="8" y="62"/>
                </a:cubicBezTo>
                <a:cubicBezTo>
                  <a:pt x="13" y="50"/>
                  <a:pt x="20" y="39"/>
                  <a:pt x="30" y="29"/>
                </a:cubicBezTo>
                <a:cubicBezTo>
                  <a:pt x="39" y="20"/>
                  <a:pt x="50" y="13"/>
                  <a:pt x="62" y="7"/>
                </a:cubicBezTo>
                <a:cubicBezTo>
                  <a:pt x="75" y="2"/>
                  <a:pt x="88" y="0"/>
                  <a:pt x="101" y="0"/>
                </a:cubicBezTo>
                <a:close/>
              </a:path>
            </a:pathLst>
          </a:custGeom>
          <a:noFill/>
          <a:ln w="360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6015960" y="3342600"/>
            <a:ext cx="1151280" cy="21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380" spc="-1" strike="noStrike">
                <a:solidFill>
                  <a:srgbClr val="ffffff"/>
                </a:solidFill>
                <a:latin typeface="Calibri"/>
                <a:ea typeface="Calibri"/>
              </a:rPr>
              <a:t>v2 to FHIR maps</a:t>
            </a:r>
            <a:endParaRPr b="0" lang="en-AU" sz="13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10373040" y="3833640"/>
            <a:ext cx="892440" cy="21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380" spc="-1" strike="noStrike">
                <a:solidFill>
                  <a:srgbClr val="001d34"/>
                </a:solidFill>
                <a:latin typeface="Calibri"/>
                <a:ea typeface="Calibri"/>
              </a:rPr>
              <a:t>Terminology</a:t>
            </a:r>
            <a:endParaRPr b="0" lang="en-AU" sz="13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" name=""/>
          <p:cNvSpPr/>
          <p:nvPr/>
        </p:nvSpPr>
        <p:spPr>
          <a:xfrm>
            <a:off x="1896120" y="3632040"/>
            <a:ext cx="3721680" cy="641880"/>
          </a:xfrm>
          <a:custGeom>
            <a:avLst/>
            <a:gdLst/>
            <a:ahLst/>
            <a:rect l="0" t="0" r="r" b="b"/>
            <a:pathLst>
              <a:path fill="none" w="10338" h="1783">
                <a:moveTo>
                  <a:pt x="0" y="0"/>
                </a:moveTo>
                <a:cubicBezTo>
                  <a:pt x="579" y="357"/>
                  <a:pt x="1293" y="735"/>
                  <a:pt x="1993" y="938"/>
                </a:cubicBezTo>
                <a:cubicBezTo>
                  <a:pt x="4791" y="1750"/>
                  <a:pt x="8018" y="1836"/>
                  <a:pt x="10338" y="1761"/>
                </a:cubicBezTo>
              </a:path>
            </a:pathLst>
          </a:custGeom>
          <a:ln w="10800">
            <a:solidFill>
              <a:srgbClr val="001d3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>
            <a:off x="5594760" y="4237200"/>
            <a:ext cx="66960" cy="58680"/>
          </a:xfrm>
          <a:custGeom>
            <a:avLst/>
            <a:gdLst/>
            <a:ahLst/>
            <a:rect l="0" t="0" r="r" b="b"/>
            <a:pathLst>
              <a:path w="186" h="163">
                <a:moveTo>
                  <a:pt x="186" y="76"/>
                </a:moveTo>
                <a:lnTo>
                  <a:pt x="0" y="0"/>
                </a:lnTo>
                <a:lnTo>
                  <a:pt x="84" y="79"/>
                </a:lnTo>
                <a:lnTo>
                  <a:pt x="5" y="163"/>
                </a:lnTo>
                <a:lnTo>
                  <a:pt x="186" y="76"/>
                </a:lnTo>
                <a:close/>
              </a:path>
            </a:pathLst>
          </a:custGeom>
          <a:solidFill>
            <a:srgbClr val="001d34"/>
          </a:solidFill>
          <a:ln w="10800">
            <a:solidFill>
              <a:srgbClr val="001d3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10373040" y="4071960"/>
            <a:ext cx="803880" cy="21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380" spc="-1" strike="noStrike">
                <a:solidFill>
                  <a:srgbClr val="001d34"/>
                </a:solidFill>
                <a:latin typeface="Calibri"/>
                <a:ea typeface="Calibri"/>
              </a:rPr>
              <a:t>Ontoserver</a:t>
            </a:r>
            <a:endParaRPr b="0" lang="en-AU" sz="13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"/>
          <p:cNvSpPr/>
          <p:nvPr/>
        </p:nvSpPr>
        <p:spPr>
          <a:xfrm>
            <a:off x="2152440" y="2602080"/>
            <a:ext cx="6379560" cy="543240"/>
          </a:xfrm>
          <a:custGeom>
            <a:avLst/>
            <a:gdLst/>
            <a:ahLst/>
            <a:rect l="0" t="0" r="r" b="b"/>
            <a:pathLst>
              <a:path fill="none" w="17721" h="1509">
                <a:moveTo>
                  <a:pt x="0" y="1137"/>
                </a:moveTo>
                <a:cubicBezTo>
                  <a:pt x="415" y="989"/>
                  <a:pt x="857" y="859"/>
                  <a:pt x="1281" y="782"/>
                </a:cubicBezTo>
                <a:cubicBezTo>
                  <a:pt x="7465" y="-343"/>
                  <a:pt x="9211" y="-176"/>
                  <a:pt x="15421" y="782"/>
                </a:cubicBezTo>
                <a:cubicBezTo>
                  <a:pt x="16248" y="909"/>
                  <a:pt x="17004" y="1183"/>
                  <a:pt x="17721" y="1509"/>
                </a:cubicBezTo>
              </a:path>
            </a:pathLst>
          </a:custGeom>
          <a:ln w="10800">
            <a:solidFill>
              <a:srgbClr val="001d3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" name=""/>
          <p:cNvSpPr/>
          <p:nvPr/>
        </p:nvSpPr>
        <p:spPr>
          <a:xfrm>
            <a:off x="8499600" y="3108960"/>
            <a:ext cx="72360" cy="54000"/>
          </a:xfrm>
          <a:custGeom>
            <a:avLst/>
            <a:gdLst/>
            <a:ahLst/>
            <a:rect l="0" t="0" r="r" b="b"/>
            <a:pathLst>
              <a:path w="201" h="150">
                <a:moveTo>
                  <a:pt x="201" y="150"/>
                </a:moveTo>
                <a:lnTo>
                  <a:pt x="67" y="0"/>
                </a:lnTo>
                <a:lnTo>
                  <a:pt x="107" y="108"/>
                </a:lnTo>
                <a:lnTo>
                  <a:pt x="0" y="149"/>
                </a:lnTo>
                <a:lnTo>
                  <a:pt x="201" y="150"/>
                </a:lnTo>
                <a:close/>
              </a:path>
            </a:pathLst>
          </a:custGeom>
          <a:solidFill>
            <a:srgbClr val="001d34"/>
          </a:solidFill>
          <a:ln w="10800">
            <a:solidFill>
              <a:srgbClr val="001d3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3069720" y="3782880"/>
            <a:ext cx="604080" cy="17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150" spc="-1" strike="noStrike">
                <a:solidFill>
                  <a:srgbClr val="4d4d50"/>
                </a:solidFill>
                <a:latin typeface="Calibri"/>
                <a:ea typeface="Calibri"/>
              </a:rPr>
              <a:t>1 discover</a:t>
            </a:r>
            <a:endParaRPr b="0" lang="en-AU" sz="11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4218840" y="3320640"/>
            <a:ext cx="1678320" cy="0"/>
          </a:xfrm>
          <a:custGeom>
            <a:avLst/>
            <a:gdLst/>
            <a:ahLst/>
            <a:rect l="0" t="0" r="r" b="b"/>
            <a:pathLst>
              <a:path fill="none" w="4662" h="0">
                <a:moveTo>
                  <a:pt x="0" y="0"/>
                </a:moveTo>
                <a:cubicBezTo>
                  <a:pt x="1460" y="0"/>
                  <a:pt x="3238" y="0"/>
                  <a:pt x="4662" y="0"/>
                </a:cubicBezTo>
              </a:path>
            </a:pathLst>
          </a:custGeom>
          <a:ln w="10800">
            <a:solidFill>
              <a:srgbClr val="001d34"/>
            </a:solidFill>
            <a:miter/>
          </a:ln>
        </p:spPr>
        <p:txBody>
          <a:bodyPr lIns="5400" rIns="5400" tIns="-5400" bIns="-54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>
            <a:off x="5875200" y="3291480"/>
            <a:ext cx="66240" cy="58680"/>
          </a:xfrm>
          <a:custGeom>
            <a:avLst/>
            <a:gdLst/>
            <a:ahLst/>
            <a:rect l="0" t="0" r="r" b="b"/>
            <a:pathLst>
              <a:path w="184" h="163">
                <a:moveTo>
                  <a:pt x="184" y="82"/>
                </a:moveTo>
                <a:lnTo>
                  <a:pt x="0" y="0"/>
                </a:lnTo>
                <a:lnTo>
                  <a:pt x="81" y="82"/>
                </a:lnTo>
                <a:lnTo>
                  <a:pt x="0" y="163"/>
                </a:lnTo>
                <a:lnTo>
                  <a:pt x="184" y="82"/>
                </a:lnTo>
                <a:close/>
              </a:path>
            </a:pathLst>
          </a:custGeom>
          <a:solidFill>
            <a:srgbClr val="001d34"/>
          </a:solidFill>
          <a:ln w="10800">
            <a:solidFill>
              <a:srgbClr val="001d3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4444200" y="2419200"/>
            <a:ext cx="874080" cy="17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150" spc="-1" strike="noStrike">
                <a:solidFill>
                  <a:srgbClr val="4d4d50"/>
                </a:solidFill>
                <a:latin typeface="Calibri"/>
                <a:ea typeface="Calibri"/>
              </a:rPr>
              <a:t>2 refer, 3 book</a:t>
            </a:r>
            <a:endParaRPr b="0" lang="en-AU" sz="11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" name=""/>
          <p:cNvSpPr/>
          <p:nvPr/>
        </p:nvSpPr>
        <p:spPr>
          <a:xfrm>
            <a:off x="7424640" y="3442320"/>
            <a:ext cx="1007280" cy="58680"/>
          </a:xfrm>
          <a:custGeom>
            <a:avLst/>
            <a:gdLst/>
            <a:ahLst/>
            <a:rect l="0" t="0" r="r" b="b"/>
            <a:pathLst>
              <a:path fill="none" w="2798" h="163">
                <a:moveTo>
                  <a:pt x="0" y="0"/>
                </a:moveTo>
                <a:cubicBezTo>
                  <a:pt x="455" y="63"/>
                  <a:pt x="935" y="117"/>
                  <a:pt x="1384" y="149"/>
                </a:cubicBezTo>
                <a:cubicBezTo>
                  <a:pt x="1797" y="178"/>
                  <a:pt x="1902" y="154"/>
                  <a:pt x="2316" y="149"/>
                </a:cubicBezTo>
                <a:cubicBezTo>
                  <a:pt x="2511" y="147"/>
                  <a:pt x="2594" y="146"/>
                  <a:pt x="2798" y="142"/>
                </a:cubicBezTo>
              </a:path>
            </a:pathLst>
          </a:custGeom>
          <a:ln w="10800">
            <a:solidFill>
              <a:srgbClr val="001d3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" name=""/>
          <p:cNvSpPr/>
          <p:nvPr/>
        </p:nvSpPr>
        <p:spPr>
          <a:xfrm>
            <a:off x="8408880" y="3464280"/>
            <a:ext cx="66600" cy="58680"/>
          </a:xfrm>
          <a:custGeom>
            <a:avLst/>
            <a:gdLst/>
            <a:ahLst/>
            <a:rect l="0" t="0" r="r" b="b"/>
            <a:pathLst>
              <a:path w="185" h="163">
                <a:moveTo>
                  <a:pt x="185" y="78"/>
                </a:moveTo>
                <a:lnTo>
                  <a:pt x="0" y="0"/>
                </a:lnTo>
                <a:lnTo>
                  <a:pt x="83" y="80"/>
                </a:lnTo>
                <a:lnTo>
                  <a:pt x="3" y="163"/>
                </a:lnTo>
                <a:lnTo>
                  <a:pt x="185" y="78"/>
                </a:lnTo>
                <a:close/>
              </a:path>
            </a:pathLst>
          </a:custGeom>
          <a:solidFill>
            <a:srgbClr val="001d34"/>
          </a:solidFill>
          <a:ln w="10800">
            <a:solidFill>
              <a:srgbClr val="001d3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4710240" y="3133800"/>
            <a:ext cx="399960" cy="17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150" spc="-1" strike="noStrike">
                <a:solidFill>
                  <a:srgbClr val="4d4d50"/>
                </a:solidFill>
                <a:latin typeface="Calibri"/>
                <a:ea typeface="Calibri"/>
              </a:rPr>
              <a:t>HL7 v2</a:t>
            </a:r>
            <a:endParaRPr b="0" lang="en-AU" sz="11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" name=""/>
          <p:cNvSpPr/>
          <p:nvPr/>
        </p:nvSpPr>
        <p:spPr>
          <a:xfrm>
            <a:off x="7705080" y="4071600"/>
            <a:ext cx="2549160" cy="89280"/>
          </a:xfrm>
          <a:custGeom>
            <a:avLst/>
            <a:gdLst/>
            <a:ahLst/>
            <a:rect l="0" t="0" r="r" b="b"/>
            <a:pathLst>
              <a:path fill="none" w="7081" h="248">
                <a:moveTo>
                  <a:pt x="0" y="248"/>
                </a:moveTo>
                <a:cubicBezTo>
                  <a:pt x="2256" y="169"/>
                  <a:pt x="5219" y="65"/>
                  <a:pt x="7081" y="0"/>
                </a:cubicBezTo>
              </a:path>
            </a:pathLst>
          </a:custGeom>
          <a:ln w="10800">
            <a:solidFill>
              <a:srgbClr val="001d3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" name=""/>
          <p:cNvSpPr/>
          <p:nvPr/>
        </p:nvSpPr>
        <p:spPr>
          <a:xfrm>
            <a:off x="10230840" y="4043520"/>
            <a:ext cx="66960" cy="58680"/>
          </a:xfrm>
          <a:custGeom>
            <a:avLst/>
            <a:gdLst/>
            <a:ahLst/>
            <a:rect l="0" t="0" r="r" b="b"/>
            <a:pathLst>
              <a:path w="186" h="163">
                <a:moveTo>
                  <a:pt x="186" y="74"/>
                </a:moveTo>
                <a:lnTo>
                  <a:pt x="0" y="0"/>
                </a:lnTo>
                <a:lnTo>
                  <a:pt x="84" y="78"/>
                </a:lnTo>
                <a:lnTo>
                  <a:pt x="6" y="163"/>
                </a:lnTo>
                <a:lnTo>
                  <a:pt x="186" y="74"/>
                </a:lnTo>
                <a:close/>
              </a:path>
            </a:pathLst>
          </a:custGeom>
          <a:solidFill>
            <a:srgbClr val="001d34"/>
          </a:solidFill>
          <a:ln w="10800">
            <a:solidFill>
              <a:srgbClr val="001d3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1" name=""/>
          <p:cNvSpPr/>
          <p:nvPr/>
        </p:nvSpPr>
        <p:spPr>
          <a:xfrm>
            <a:off x="9856440" y="3704040"/>
            <a:ext cx="399960" cy="135000"/>
          </a:xfrm>
          <a:custGeom>
            <a:avLst/>
            <a:gdLst/>
            <a:ahLst/>
            <a:rect l="0" t="0" r="r" b="b"/>
            <a:pathLst>
              <a:path fill="none" w="1111" h="375">
                <a:moveTo>
                  <a:pt x="0" y="0"/>
                </a:moveTo>
                <a:cubicBezTo>
                  <a:pt x="406" y="136"/>
                  <a:pt x="716" y="241"/>
                  <a:pt x="1111" y="375"/>
                </a:cubicBezTo>
              </a:path>
            </a:pathLst>
          </a:custGeom>
          <a:ln w="10800">
            <a:solidFill>
              <a:srgbClr val="001d3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" name=""/>
          <p:cNvSpPr/>
          <p:nvPr/>
        </p:nvSpPr>
        <p:spPr>
          <a:xfrm>
            <a:off x="10226160" y="3804120"/>
            <a:ext cx="71640" cy="55440"/>
          </a:xfrm>
          <a:custGeom>
            <a:avLst/>
            <a:gdLst/>
            <a:ahLst/>
            <a:rect l="0" t="0" r="r" b="b"/>
            <a:pathLst>
              <a:path w="199" h="154">
                <a:moveTo>
                  <a:pt x="199" y="136"/>
                </a:moveTo>
                <a:lnTo>
                  <a:pt x="53" y="0"/>
                </a:lnTo>
                <a:lnTo>
                  <a:pt x="103" y="103"/>
                </a:lnTo>
                <a:lnTo>
                  <a:pt x="0" y="154"/>
                </a:lnTo>
                <a:lnTo>
                  <a:pt x="199" y="136"/>
                </a:lnTo>
                <a:close/>
              </a:path>
            </a:pathLst>
          </a:custGeom>
          <a:solidFill>
            <a:srgbClr val="001d34"/>
          </a:solidFill>
          <a:ln w="10800">
            <a:solidFill>
              <a:srgbClr val="001d3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7930080" y="3308760"/>
            <a:ext cx="275040" cy="17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150" spc="-1" strike="noStrike">
                <a:solidFill>
                  <a:srgbClr val="4d4d50"/>
                </a:solidFill>
                <a:latin typeface="Calibri"/>
                <a:ea typeface="Calibri"/>
              </a:rPr>
              <a:t>FHIR</a:t>
            </a:r>
            <a:endParaRPr b="0" lang="en-AU" sz="11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666720" y="5536440"/>
            <a:ext cx="103867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Illustrative: the two demo stacks (Track 2A and Caret) are separate and share no infrastructure or data.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6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"/>
          <p:cNvSpPr/>
          <p:nvPr/>
        </p:nvSpPr>
        <p:spPr>
          <a:xfrm>
            <a:off x="666720" y="285732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666720" y="2396880"/>
            <a:ext cx="319212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Worked example: Caret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666720" y="3069360"/>
            <a:ext cx="65325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Stock: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HAPI server, validator, mapping engine, storage, Postgres.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666720" y="3593160"/>
            <a:ext cx="84160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Ours: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a small plugin (listener 155 lines, parser 68) and maps of 45 to 105 lines each.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666720" y="4117320"/>
            <a:ext cx="27698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Apache-2.0. Synthetic data.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7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" name=""/>
          <p:cNvSpPr/>
          <p:nvPr/>
        </p:nvSpPr>
        <p:spPr>
          <a:xfrm>
            <a:off x="666720" y="2761920"/>
            <a:ext cx="10858680" cy="29160"/>
          </a:xfrm>
          <a:custGeom>
            <a:avLst/>
            <a:gdLst/>
            <a:ahLst/>
            <a:rect l="0" t="0" r="r" b="b"/>
            <a:pathLst>
              <a:path w="30163" h="81">
                <a:moveTo>
                  <a:pt x="0" y="0"/>
                </a:moveTo>
                <a:lnTo>
                  <a:pt x="30163" y="0"/>
                </a:lnTo>
                <a:lnTo>
                  <a:pt x="3016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1" name=""/>
          <p:cNvSpPr/>
          <p:nvPr/>
        </p:nvSpPr>
        <p:spPr>
          <a:xfrm>
            <a:off x="942840" y="30952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1"/>
                  <a:pt x="191" y="172"/>
                  <a:pt x="182" y="182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2"/>
                </a:cubicBezTo>
                <a:cubicBezTo>
                  <a:pt x="22" y="172"/>
                  <a:pt x="13" y="161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2"/>
                  <a:pt x="53" y="14"/>
                  <a:pt x="66" y="9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9"/>
                </a:cubicBezTo>
                <a:cubicBezTo>
                  <a:pt x="160" y="14"/>
                  <a:pt x="172" y="22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666720" y="2301480"/>
            <a:ext cx="194976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Limits of Caret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" name=""/>
          <p:cNvSpPr/>
          <p:nvPr/>
        </p:nvSpPr>
        <p:spPr>
          <a:xfrm>
            <a:off x="942840" y="353376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5"/>
                </a:moveTo>
                <a:cubicBezTo>
                  <a:pt x="213" y="119"/>
                  <a:pt x="210" y="133"/>
                  <a:pt x="204" y="146"/>
                </a:cubicBezTo>
                <a:cubicBezTo>
                  <a:pt x="199" y="159"/>
                  <a:pt x="191" y="170"/>
                  <a:pt x="182" y="180"/>
                </a:cubicBezTo>
                <a:cubicBezTo>
                  <a:pt x="172" y="190"/>
                  <a:pt x="160" y="198"/>
                  <a:pt x="147" y="203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3"/>
                </a:cubicBezTo>
                <a:cubicBezTo>
                  <a:pt x="53" y="198"/>
                  <a:pt x="42" y="190"/>
                  <a:pt x="32" y="180"/>
                </a:cubicBezTo>
                <a:cubicBezTo>
                  <a:pt x="22" y="170"/>
                  <a:pt x="13" y="159"/>
                  <a:pt x="8" y="146"/>
                </a:cubicBezTo>
                <a:cubicBezTo>
                  <a:pt x="3" y="133"/>
                  <a:pt x="0" y="119"/>
                  <a:pt x="0" y="105"/>
                </a:cubicBezTo>
                <a:cubicBezTo>
                  <a:pt x="0" y="91"/>
                  <a:pt x="3" y="78"/>
                  <a:pt x="8" y="65"/>
                </a:cubicBezTo>
                <a:cubicBezTo>
                  <a:pt x="13" y="52"/>
                  <a:pt x="22" y="40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0"/>
                  <a:pt x="199" y="52"/>
                  <a:pt x="204" y="65"/>
                </a:cubicBezTo>
                <a:cubicBezTo>
                  <a:pt x="210" y="78"/>
                  <a:pt x="213" y="91"/>
                  <a:pt x="213" y="105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1162080" y="2974320"/>
            <a:ext cx="94251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Reference, not a product: ﬁve message types, no authentication or TLS, one ﬁctional hospital.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1162080" y="3412440"/>
            <a:ext cx="100713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Two defects ﬁxed in the plugin: unescaped "^" gave AE with no audit record; contained Observation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" name=""/>
          <p:cNvSpPr/>
          <p:nvPr/>
        </p:nvSpPr>
        <p:spPr>
          <a:xfrm>
            <a:off x="942840" y="43336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1162080" y="3783960"/>
            <a:ext cx="24757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showed an object name.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1162080" y="4212360"/>
            <a:ext cx="63176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Failures now get a rejected acknowledgement and AuditEvent.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8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" name=""/>
          <p:cNvSpPr/>
          <p:nvPr/>
        </p:nvSpPr>
        <p:spPr>
          <a:xfrm>
            <a:off x="666720" y="177156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5" name=""/>
          <p:cNvSpPr/>
          <p:nvPr/>
        </p:nvSpPr>
        <p:spPr>
          <a:xfrm>
            <a:off x="676080" y="1952280"/>
            <a:ext cx="3734280" cy="438840"/>
          </a:xfrm>
          <a:custGeom>
            <a:avLst/>
            <a:gdLst/>
            <a:ahLst/>
            <a:rect l="0" t="0" r="r" b="b"/>
            <a:pathLst>
              <a:path w="10373" h="1219">
                <a:moveTo>
                  <a:pt x="0" y="0"/>
                </a:moveTo>
                <a:lnTo>
                  <a:pt x="10373" y="0"/>
                </a:lnTo>
                <a:lnTo>
                  <a:pt x="10373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" name=""/>
          <p:cNvSpPr/>
          <p:nvPr/>
        </p:nvSpPr>
        <p:spPr>
          <a:xfrm>
            <a:off x="4410000" y="1952280"/>
            <a:ext cx="2619720" cy="438840"/>
          </a:xfrm>
          <a:custGeom>
            <a:avLst/>
            <a:gdLst/>
            <a:ahLst/>
            <a:rect l="0" t="0" r="r" b="b"/>
            <a:pathLst>
              <a:path w="7277" h="1219">
                <a:moveTo>
                  <a:pt x="0" y="0"/>
                </a:moveTo>
                <a:lnTo>
                  <a:pt x="7277" y="0"/>
                </a:lnTo>
                <a:lnTo>
                  <a:pt x="7277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676080" y="1952280"/>
            <a:ext cx="3734280" cy="438840"/>
          </a:xfrm>
          <a:custGeom>
            <a:avLst/>
            <a:gdLst/>
            <a:ahLst/>
            <a:rect l="0" t="0" r="r" b="b"/>
            <a:pathLst>
              <a:path w="10373" h="1219">
                <a:moveTo>
                  <a:pt x="0" y="0"/>
                </a:moveTo>
                <a:lnTo>
                  <a:pt x="10373" y="0"/>
                </a:lnTo>
                <a:lnTo>
                  <a:pt x="10373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4410000" y="1952280"/>
            <a:ext cx="2619720" cy="438840"/>
          </a:xfrm>
          <a:custGeom>
            <a:avLst/>
            <a:gdLst/>
            <a:ahLst/>
            <a:rect l="0" t="0" r="r" b="b"/>
            <a:pathLst>
              <a:path w="7277" h="1219">
                <a:moveTo>
                  <a:pt x="0" y="0"/>
                </a:moveTo>
                <a:lnTo>
                  <a:pt x="7277" y="0"/>
                </a:lnTo>
                <a:lnTo>
                  <a:pt x="7277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9" name=""/>
          <p:cNvSpPr/>
          <p:nvPr/>
        </p:nvSpPr>
        <p:spPr>
          <a:xfrm>
            <a:off x="676080" y="2390760"/>
            <a:ext cx="3734280" cy="438480"/>
          </a:xfrm>
          <a:custGeom>
            <a:avLst/>
            <a:gdLst/>
            <a:ahLst/>
            <a:rect l="0" t="0" r="r" b="b"/>
            <a:pathLst>
              <a:path w="10373" h="1218">
                <a:moveTo>
                  <a:pt x="0" y="0"/>
                </a:moveTo>
                <a:lnTo>
                  <a:pt x="10373" y="0"/>
                </a:lnTo>
                <a:lnTo>
                  <a:pt x="10373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" name=""/>
          <p:cNvSpPr/>
          <p:nvPr/>
        </p:nvSpPr>
        <p:spPr>
          <a:xfrm>
            <a:off x="4410000" y="2390760"/>
            <a:ext cx="2619720" cy="438480"/>
          </a:xfrm>
          <a:custGeom>
            <a:avLst/>
            <a:gdLst/>
            <a:ahLst/>
            <a:rect l="0" t="0" r="r" b="b"/>
            <a:pathLst>
              <a:path w="7277" h="1218">
                <a:moveTo>
                  <a:pt x="0" y="0"/>
                </a:moveTo>
                <a:lnTo>
                  <a:pt x="7277" y="0"/>
                </a:lnTo>
                <a:lnTo>
                  <a:pt x="727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" name=""/>
          <p:cNvSpPr/>
          <p:nvPr/>
        </p:nvSpPr>
        <p:spPr>
          <a:xfrm>
            <a:off x="676080" y="2828880"/>
            <a:ext cx="3734280" cy="438480"/>
          </a:xfrm>
          <a:custGeom>
            <a:avLst/>
            <a:gdLst/>
            <a:ahLst/>
            <a:rect l="0" t="0" r="r" b="b"/>
            <a:pathLst>
              <a:path w="10373" h="1218">
                <a:moveTo>
                  <a:pt x="0" y="0"/>
                </a:moveTo>
                <a:lnTo>
                  <a:pt x="10373" y="0"/>
                </a:lnTo>
                <a:lnTo>
                  <a:pt x="10373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" name=""/>
          <p:cNvSpPr/>
          <p:nvPr/>
        </p:nvSpPr>
        <p:spPr>
          <a:xfrm>
            <a:off x="4410000" y="2828880"/>
            <a:ext cx="2619720" cy="438480"/>
          </a:xfrm>
          <a:custGeom>
            <a:avLst/>
            <a:gdLst/>
            <a:ahLst/>
            <a:rect l="0" t="0" r="r" b="b"/>
            <a:pathLst>
              <a:path w="7277" h="1218">
                <a:moveTo>
                  <a:pt x="0" y="0"/>
                </a:moveTo>
                <a:lnTo>
                  <a:pt x="7277" y="0"/>
                </a:lnTo>
                <a:lnTo>
                  <a:pt x="727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" name=""/>
          <p:cNvSpPr/>
          <p:nvPr/>
        </p:nvSpPr>
        <p:spPr>
          <a:xfrm>
            <a:off x="676080" y="3267000"/>
            <a:ext cx="3734280" cy="438480"/>
          </a:xfrm>
          <a:custGeom>
            <a:avLst/>
            <a:gdLst/>
            <a:ahLst/>
            <a:rect l="0" t="0" r="r" b="b"/>
            <a:pathLst>
              <a:path w="10373" h="1218">
                <a:moveTo>
                  <a:pt x="0" y="0"/>
                </a:moveTo>
                <a:lnTo>
                  <a:pt x="10373" y="0"/>
                </a:lnTo>
                <a:lnTo>
                  <a:pt x="10373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" name=""/>
          <p:cNvSpPr/>
          <p:nvPr/>
        </p:nvSpPr>
        <p:spPr>
          <a:xfrm>
            <a:off x="4410000" y="3267000"/>
            <a:ext cx="2619720" cy="438480"/>
          </a:xfrm>
          <a:custGeom>
            <a:avLst/>
            <a:gdLst/>
            <a:ahLst/>
            <a:rect l="0" t="0" r="r" b="b"/>
            <a:pathLst>
              <a:path w="7277" h="1218">
                <a:moveTo>
                  <a:pt x="0" y="0"/>
                </a:moveTo>
                <a:lnTo>
                  <a:pt x="7277" y="0"/>
                </a:lnTo>
                <a:lnTo>
                  <a:pt x="727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" name=""/>
          <p:cNvSpPr/>
          <p:nvPr/>
        </p:nvSpPr>
        <p:spPr>
          <a:xfrm>
            <a:off x="676080" y="3705120"/>
            <a:ext cx="3734280" cy="438480"/>
          </a:xfrm>
          <a:custGeom>
            <a:avLst/>
            <a:gdLst/>
            <a:ahLst/>
            <a:rect l="0" t="0" r="r" b="b"/>
            <a:pathLst>
              <a:path w="10373" h="1218">
                <a:moveTo>
                  <a:pt x="0" y="0"/>
                </a:moveTo>
                <a:lnTo>
                  <a:pt x="10373" y="0"/>
                </a:lnTo>
                <a:lnTo>
                  <a:pt x="10373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" name=""/>
          <p:cNvSpPr/>
          <p:nvPr/>
        </p:nvSpPr>
        <p:spPr>
          <a:xfrm>
            <a:off x="4410000" y="3705120"/>
            <a:ext cx="2619720" cy="438480"/>
          </a:xfrm>
          <a:custGeom>
            <a:avLst/>
            <a:gdLst/>
            <a:ahLst/>
            <a:rect l="0" t="0" r="r" b="b"/>
            <a:pathLst>
              <a:path w="7277" h="1218">
                <a:moveTo>
                  <a:pt x="0" y="0"/>
                </a:moveTo>
                <a:lnTo>
                  <a:pt x="7277" y="0"/>
                </a:lnTo>
                <a:lnTo>
                  <a:pt x="727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" name=""/>
          <p:cNvSpPr/>
          <p:nvPr/>
        </p:nvSpPr>
        <p:spPr>
          <a:xfrm>
            <a:off x="676080" y="4143240"/>
            <a:ext cx="3734280" cy="438480"/>
          </a:xfrm>
          <a:custGeom>
            <a:avLst/>
            <a:gdLst/>
            <a:ahLst/>
            <a:rect l="0" t="0" r="r" b="b"/>
            <a:pathLst>
              <a:path w="10373" h="1218">
                <a:moveTo>
                  <a:pt x="0" y="0"/>
                </a:moveTo>
                <a:lnTo>
                  <a:pt x="10373" y="0"/>
                </a:lnTo>
                <a:lnTo>
                  <a:pt x="10373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" name=""/>
          <p:cNvSpPr/>
          <p:nvPr/>
        </p:nvSpPr>
        <p:spPr>
          <a:xfrm>
            <a:off x="4410000" y="4143240"/>
            <a:ext cx="2619720" cy="438480"/>
          </a:xfrm>
          <a:custGeom>
            <a:avLst/>
            <a:gdLst/>
            <a:ahLst/>
            <a:rect l="0" t="0" r="r" b="b"/>
            <a:pathLst>
              <a:path w="7277" h="1218">
                <a:moveTo>
                  <a:pt x="0" y="0"/>
                </a:moveTo>
                <a:lnTo>
                  <a:pt x="7277" y="0"/>
                </a:lnTo>
                <a:lnTo>
                  <a:pt x="727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" name=""/>
          <p:cNvSpPr/>
          <p:nvPr/>
        </p:nvSpPr>
        <p:spPr>
          <a:xfrm>
            <a:off x="676080" y="4581360"/>
            <a:ext cx="3734280" cy="438480"/>
          </a:xfrm>
          <a:custGeom>
            <a:avLst/>
            <a:gdLst/>
            <a:ahLst/>
            <a:rect l="0" t="0" r="r" b="b"/>
            <a:pathLst>
              <a:path w="10373" h="1218">
                <a:moveTo>
                  <a:pt x="0" y="0"/>
                </a:moveTo>
                <a:lnTo>
                  <a:pt x="10373" y="0"/>
                </a:lnTo>
                <a:lnTo>
                  <a:pt x="10373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" name=""/>
          <p:cNvSpPr/>
          <p:nvPr/>
        </p:nvSpPr>
        <p:spPr>
          <a:xfrm>
            <a:off x="4410000" y="4581360"/>
            <a:ext cx="2619720" cy="438480"/>
          </a:xfrm>
          <a:custGeom>
            <a:avLst/>
            <a:gdLst/>
            <a:ahLst/>
            <a:rect l="0" t="0" r="r" b="b"/>
            <a:pathLst>
              <a:path w="7277" h="1218">
                <a:moveTo>
                  <a:pt x="0" y="0"/>
                </a:moveTo>
                <a:lnTo>
                  <a:pt x="7277" y="0"/>
                </a:lnTo>
                <a:lnTo>
                  <a:pt x="727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" name=""/>
          <p:cNvSpPr/>
          <p:nvPr/>
        </p:nvSpPr>
        <p:spPr>
          <a:xfrm>
            <a:off x="666720" y="1952280"/>
            <a:ext cx="9720" cy="448200"/>
          </a:xfrm>
          <a:custGeom>
            <a:avLst/>
            <a:gdLst/>
            <a:ahLst/>
            <a:rect l="0" t="0" r="r" b="b"/>
            <a:pathLst>
              <a:path w="27" h="1245">
                <a:moveTo>
                  <a:pt x="0" y="0"/>
                </a:moveTo>
                <a:lnTo>
                  <a:pt x="27" y="0"/>
                </a:lnTo>
                <a:lnTo>
                  <a:pt x="27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" name=""/>
          <p:cNvSpPr/>
          <p:nvPr/>
        </p:nvSpPr>
        <p:spPr>
          <a:xfrm>
            <a:off x="666720" y="1952280"/>
            <a:ext cx="3743640" cy="10080"/>
          </a:xfrm>
          <a:custGeom>
            <a:avLst/>
            <a:gdLst/>
            <a:ahLst/>
            <a:rect l="0" t="0" r="r" b="b"/>
            <a:pathLst>
              <a:path w="10399" h="28">
                <a:moveTo>
                  <a:pt x="0" y="0"/>
                </a:moveTo>
                <a:lnTo>
                  <a:pt x="10399" y="0"/>
                </a:lnTo>
                <a:lnTo>
                  <a:pt x="103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" name=""/>
          <p:cNvSpPr/>
          <p:nvPr/>
        </p:nvSpPr>
        <p:spPr>
          <a:xfrm>
            <a:off x="4400280" y="1952280"/>
            <a:ext cx="10080" cy="448200"/>
          </a:xfrm>
          <a:custGeom>
            <a:avLst/>
            <a:gdLst/>
            <a:ahLst/>
            <a:rect l="0" t="0" r="r" b="b"/>
            <a:pathLst>
              <a:path w="28" h="1245">
                <a:moveTo>
                  <a:pt x="0" y="0"/>
                </a:moveTo>
                <a:lnTo>
                  <a:pt x="28" y="0"/>
                </a:lnTo>
                <a:lnTo>
                  <a:pt x="28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"/>
          <p:cNvSpPr/>
          <p:nvPr/>
        </p:nvSpPr>
        <p:spPr>
          <a:xfrm>
            <a:off x="4410000" y="1952280"/>
            <a:ext cx="2619720" cy="10080"/>
          </a:xfrm>
          <a:custGeom>
            <a:avLst/>
            <a:gdLst/>
            <a:ahLst/>
            <a:rect l="0" t="0" r="r" b="b"/>
            <a:pathLst>
              <a:path w="7277" h="28">
                <a:moveTo>
                  <a:pt x="0" y="0"/>
                </a:moveTo>
                <a:lnTo>
                  <a:pt x="7277" y="0"/>
                </a:lnTo>
                <a:lnTo>
                  <a:pt x="727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"/>
          <p:cNvSpPr/>
          <p:nvPr/>
        </p:nvSpPr>
        <p:spPr>
          <a:xfrm>
            <a:off x="7019640" y="1952280"/>
            <a:ext cx="10080" cy="448200"/>
          </a:xfrm>
          <a:custGeom>
            <a:avLst/>
            <a:gdLst/>
            <a:ahLst/>
            <a:rect l="0" t="0" r="r" b="b"/>
            <a:pathLst>
              <a:path w="28" h="1245">
                <a:moveTo>
                  <a:pt x="0" y="0"/>
                </a:moveTo>
                <a:lnTo>
                  <a:pt x="28" y="0"/>
                </a:lnTo>
                <a:lnTo>
                  <a:pt x="28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"/>
          <p:cNvSpPr/>
          <p:nvPr/>
        </p:nvSpPr>
        <p:spPr>
          <a:xfrm>
            <a:off x="666720" y="2390760"/>
            <a:ext cx="3743640" cy="9720"/>
          </a:xfrm>
          <a:custGeom>
            <a:avLst/>
            <a:gdLst/>
            <a:ahLst/>
            <a:rect l="0" t="0" r="r" b="b"/>
            <a:pathLst>
              <a:path w="10399" h="27">
                <a:moveTo>
                  <a:pt x="0" y="0"/>
                </a:moveTo>
                <a:lnTo>
                  <a:pt x="10399" y="0"/>
                </a:lnTo>
                <a:lnTo>
                  <a:pt x="103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"/>
          <p:cNvSpPr/>
          <p:nvPr/>
        </p:nvSpPr>
        <p:spPr>
          <a:xfrm>
            <a:off x="4410000" y="2390760"/>
            <a:ext cx="2619720" cy="9720"/>
          </a:xfrm>
          <a:custGeom>
            <a:avLst/>
            <a:gdLst/>
            <a:ahLst/>
            <a:rect l="0" t="0" r="r" b="b"/>
            <a:pathLst>
              <a:path w="7277" h="27">
                <a:moveTo>
                  <a:pt x="0" y="0"/>
                </a:moveTo>
                <a:lnTo>
                  <a:pt x="7277" y="0"/>
                </a:lnTo>
                <a:lnTo>
                  <a:pt x="727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>
            <a:off x="666720" y="240012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"/>
          <p:cNvSpPr/>
          <p:nvPr/>
        </p:nvSpPr>
        <p:spPr>
          <a:xfrm>
            <a:off x="4400280" y="240012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" name=""/>
          <p:cNvSpPr/>
          <p:nvPr/>
        </p:nvSpPr>
        <p:spPr>
          <a:xfrm>
            <a:off x="7019640" y="240012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" name=""/>
          <p:cNvSpPr/>
          <p:nvPr/>
        </p:nvSpPr>
        <p:spPr>
          <a:xfrm>
            <a:off x="666720" y="283824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" name=""/>
          <p:cNvSpPr/>
          <p:nvPr/>
        </p:nvSpPr>
        <p:spPr>
          <a:xfrm>
            <a:off x="666720" y="2828880"/>
            <a:ext cx="3743640" cy="9720"/>
          </a:xfrm>
          <a:custGeom>
            <a:avLst/>
            <a:gdLst/>
            <a:ahLst/>
            <a:rect l="0" t="0" r="r" b="b"/>
            <a:pathLst>
              <a:path w="10399" h="27">
                <a:moveTo>
                  <a:pt x="0" y="0"/>
                </a:moveTo>
                <a:lnTo>
                  <a:pt x="10399" y="0"/>
                </a:lnTo>
                <a:lnTo>
                  <a:pt x="103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" name=""/>
          <p:cNvSpPr/>
          <p:nvPr/>
        </p:nvSpPr>
        <p:spPr>
          <a:xfrm>
            <a:off x="4400280" y="283824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" name=""/>
          <p:cNvSpPr/>
          <p:nvPr/>
        </p:nvSpPr>
        <p:spPr>
          <a:xfrm>
            <a:off x="4410000" y="2828880"/>
            <a:ext cx="2619720" cy="9720"/>
          </a:xfrm>
          <a:custGeom>
            <a:avLst/>
            <a:gdLst/>
            <a:ahLst/>
            <a:rect l="0" t="0" r="r" b="b"/>
            <a:pathLst>
              <a:path w="7277" h="27">
                <a:moveTo>
                  <a:pt x="0" y="0"/>
                </a:moveTo>
                <a:lnTo>
                  <a:pt x="7277" y="0"/>
                </a:lnTo>
                <a:lnTo>
                  <a:pt x="727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" name=""/>
          <p:cNvSpPr/>
          <p:nvPr/>
        </p:nvSpPr>
        <p:spPr>
          <a:xfrm>
            <a:off x="7019640" y="283824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" name=""/>
          <p:cNvSpPr/>
          <p:nvPr/>
        </p:nvSpPr>
        <p:spPr>
          <a:xfrm>
            <a:off x="666720" y="32763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" name=""/>
          <p:cNvSpPr/>
          <p:nvPr/>
        </p:nvSpPr>
        <p:spPr>
          <a:xfrm>
            <a:off x="666720" y="3267000"/>
            <a:ext cx="3743640" cy="9720"/>
          </a:xfrm>
          <a:custGeom>
            <a:avLst/>
            <a:gdLst/>
            <a:ahLst/>
            <a:rect l="0" t="0" r="r" b="b"/>
            <a:pathLst>
              <a:path w="10399" h="27">
                <a:moveTo>
                  <a:pt x="0" y="0"/>
                </a:moveTo>
                <a:lnTo>
                  <a:pt x="10399" y="0"/>
                </a:lnTo>
                <a:lnTo>
                  <a:pt x="103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" name=""/>
          <p:cNvSpPr/>
          <p:nvPr/>
        </p:nvSpPr>
        <p:spPr>
          <a:xfrm>
            <a:off x="4400280" y="327636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" name=""/>
          <p:cNvSpPr/>
          <p:nvPr/>
        </p:nvSpPr>
        <p:spPr>
          <a:xfrm>
            <a:off x="4410000" y="3267000"/>
            <a:ext cx="2619720" cy="9720"/>
          </a:xfrm>
          <a:custGeom>
            <a:avLst/>
            <a:gdLst/>
            <a:ahLst/>
            <a:rect l="0" t="0" r="r" b="b"/>
            <a:pathLst>
              <a:path w="7277" h="27">
                <a:moveTo>
                  <a:pt x="0" y="0"/>
                </a:moveTo>
                <a:lnTo>
                  <a:pt x="7277" y="0"/>
                </a:lnTo>
                <a:lnTo>
                  <a:pt x="727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" name=""/>
          <p:cNvSpPr/>
          <p:nvPr/>
        </p:nvSpPr>
        <p:spPr>
          <a:xfrm>
            <a:off x="7019640" y="327636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" name=""/>
          <p:cNvSpPr/>
          <p:nvPr/>
        </p:nvSpPr>
        <p:spPr>
          <a:xfrm>
            <a:off x="666720" y="37144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" name=""/>
          <p:cNvSpPr/>
          <p:nvPr/>
        </p:nvSpPr>
        <p:spPr>
          <a:xfrm>
            <a:off x="666720" y="3705120"/>
            <a:ext cx="3743640" cy="9720"/>
          </a:xfrm>
          <a:custGeom>
            <a:avLst/>
            <a:gdLst/>
            <a:ahLst/>
            <a:rect l="0" t="0" r="r" b="b"/>
            <a:pathLst>
              <a:path w="10399" h="27">
                <a:moveTo>
                  <a:pt x="0" y="0"/>
                </a:moveTo>
                <a:lnTo>
                  <a:pt x="10399" y="0"/>
                </a:lnTo>
                <a:lnTo>
                  <a:pt x="103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4400280" y="371448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" name=""/>
          <p:cNvSpPr/>
          <p:nvPr/>
        </p:nvSpPr>
        <p:spPr>
          <a:xfrm>
            <a:off x="4410000" y="3705120"/>
            <a:ext cx="2619720" cy="9720"/>
          </a:xfrm>
          <a:custGeom>
            <a:avLst/>
            <a:gdLst/>
            <a:ahLst/>
            <a:rect l="0" t="0" r="r" b="b"/>
            <a:pathLst>
              <a:path w="7277" h="27">
                <a:moveTo>
                  <a:pt x="0" y="0"/>
                </a:moveTo>
                <a:lnTo>
                  <a:pt x="7277" y="0"/>
                </a:lnTo>
                <a:lnTo>
                  <a:pt x="727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" name=""/>
          <p:cNvSpPr/>
          <p:nvPr/>
        </p:nvSpPr>
        <p:spPr>
          <a:xfrm>
            <a:off x="7019640" y="371448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" name=""/>
          <p:cNvSpPr/>
          <p:nvPr/>
        </p:nvSpPr>
        <p:spPr>
          <a:xfrm>
            <a:off x="666720" y="41526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" name=""/>
          <p:cNvSpPr/>
          <p:nvPr/>
        </p:nvSpPr>
        <p:spPr>
          <a:xfrm>
            <a:off x="666720" y="4143240"/>
            <a:ext cx="3743640" cy="9720"/>
          </a:xfrm>
          <a:custGeom>
            <a:avLst/>
            <a:gdLst/>
            <a:ahLst/>
            <a:rect l="0" t="0" r="r" b="b"/>
            <a:pathLst>
              <a:path w="10399" h="27">
                <a:moveTo>
                  <a:pt x="0" y="0"/>
                </a:moveTo>
                <a:lnTo>
                  <a:pt x="10399" y="0"/>
                </a:lnTo>
                <a:lnTo>
                  <a:pt x="103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4400280" y="415260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" name=""/>
          <p:cNvSpPr/>
          <p:nvPr/>
        </p:nvSpPr>
        <p:spPr>
          <a:xfrm>
            <a:off x="4410000" y="4143240"/>
            <a:ext cx="2619720" cy="9720"/>
          </a:xfrm>
          <a:custGeom>
            <a:avLst/>
            <a:gdLst/>
            <a:ahLst/>
            <a:rect l="0" t="0" r="r" b="b"/>
            <a:pathLst>
              <a:path w="7277" h="27">
                <a:moveTo>
                  <a:pt x="0" y="0"/>
                </a:moveTo>
                <a:lnTo>
                  <a:pt x="7277" y="0"/>
                </a:lnTo>
                <a:lnTo>
                  <a:pt x="727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" name=""/>
          <p:cNvSpPr/>
          <p:nvPr/>
        </p:nvSpPr>
        <p:spPr>
          <a:xfrm>
            <a:off x="7019640" y="415260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" name=""/>
          <p:cNvSpPr/>
          <p:nvPr/>
        </p:nvSpPr>
        <p:spPr>
          <a:xfrm>
            <a:off x="666720" y="459072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" name=""/>
          <p:cNvSpPr/>
          <p:nvPr/>
        </p:nvSpPr>
        <p:spPr>
          <a:xfrm>
            <a:off x="666720" y="4581360"/>
            <a:ext cx="3743640" cy="9720"/>
          </a:xfrm>
          <a:custGeom>
            <a:avLst/>
            <a:gdLst/>
            <a:ahLst/>
            <a:rect l="0" t="0" r="r" b="b"/>
            <a:pathLst>
              <a:path w="10399" h="27">
                <a:moveTo>
                  <a:pt x="0" y="0"/>
                </a:moveTo>
                <a:lnTo>
                  <a:pt x="10399" y="0"/>
                </a:lnTo>
                <a:lnTo>
                  <a:pt x="103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3" name=""/>
          <p:cNvSpPr/>
          <p:nvPr/>
        </p:nvSpPr>
        <p:spPr>
          <a:xfrm>
            <a:off x="4400280" y="459072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4" name=""/>
          <p:cNvSpPr/>
          <p:nvPr/>
        </p:nvSpPr>
        <p:spPr>
          <a:xfrm>
            <a:off x="4410000" y="4581360"/>
            <a:ext cx="2619720" cy="9720"/>
          </a:xfrm>
          <a:custGeom>
            <a:avLst/>
            <a:gdLst/>
            <a:ahLst/>
            <a:rect l="0" t="0" r="r" b="b"/>
            <a:pathLst>
              <a:path w="7277" h="27">
                <a:moveTo>
                  <a:pt x="0" y="0"/>
                </a:moveTo>
                <a:lnTo>
                  <a:pt x="7277" y="0"/>
                </a:lnTo>
                <a:lnTo>
                  <a:pt x="727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" name=""/>
          <p:cNvSpPr/>
          <p:nvPr/>
        </p:nvSpPr>
        <p:spPr>
          <a:xfrm>
            <a:off x="7019640" y="459072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" name=""/>
          <p:cNvSpPr/>
          <p:nvPr/>
        </p:nvSpPr>
        <p:spPr>
          <a:xfrm>
            <a:off x="666720" y="5019480"/>
            <a:ext cx="3743640" cy="9720"/>
          </a:xfrm>
          <a:custGeom>
            <a:avLst/>
            <a:gdLst/>
            <a:ahLst/>
            <a:rect l="0" t="0" r="r" b="b"/>
            <a:pathLst>
              <a:path w="10399" h="27">
                <a:moveTo>
                  <a:pt x="0" y="0"/>
                </a:moveTo>
                <a:lnTo>
                  <a:pt x="10399" y="0"/>
                </a:lnTo>
                <a:lnTo>
                  <a:pt x="103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" name=""/>
          <p:cNvSpPr/>
          <p:nvPr/>
        </p:nvSpPr>
        <p:spPr>
          <a:xfrm>
            <a:off x="4410000" y="5019480"/>
            <a:ext cx="2619720" cy="9720"/>
          </a:xfrm>
          <a:custGeom>
            <a:avLst/>
            <a:gdLst/>
            <a:ahLst/>
            <a:rect l="0" t="0" r="r" b="b"/>
            <a:pathLst>
              <a:path w="7277" h="27">
                <a:moveTo>
                  <a:pt x="0" y="0"/>
                </a:moveTo>
                <a:lnTo>
                  <a:pt x="7277" y="0"/>
                </a:lnTo>
                <a:lnTo>
                  <a:pt x="727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666720" y="1301400"/>
            <a:ext cx="525240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Which pattern answers which question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2144880" y="2048400"/>
            <a:ext cx="79020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Question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5398920" y="2048400"/>
            <a:ext cx="64224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Pattern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799920" y="2486520"/>
            <a:ext cx="30412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Who oﬀers this service, and where?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4537440" y="2486520"/>
            <a:ext cx="23659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Naming and Trading Service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799920" y="2924640"/>
            <a:ext cx="30304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How do I request work and track it?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4537440" y="2924640"/>
            <a:ext cx="21373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Asynchronous Invocation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799920" y="3362760"/>
            <a:ext cx="34768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How do I tell others something changed?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4537440" y="3362760"/>
            <a:ext cx="197136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Event Observer, Broker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799920" y="3800880"/>
            <a:ext cx="306540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How does the legacy system join in?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4537440" y="3800880"/>
            <a:ext cx="130680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Legacy Adapter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799920" y="4239000"/>
            <a:ext cx="25336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Do we mean the same codes?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4537440" y="4239000"/>
            <a:ext cx="10414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PL-09, PL-10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799920" y="4677480"/>
            <a:ext cx="20854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How do I know it works?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4537440" y="4677480"/>
            <a:ext cx="10414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PL-15, PL-17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666720" y="5212440"/>
            <a:ext cx="24069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Source: fhirpatterns.net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9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" name=""/>
          <p:cNvSpPr/>
          <p:nvPr/>
        </p:nvSpPr>
        <p:spPr>
          <a:xfrm>
            <a:off x="666720" y="2514240"/>
            <a:ext cx="10858680" cy="29160"/>
          </a:xfrm>
          <a:custGeom>
            <a:avLst/>
            <a:gdLst/>
            <a:ahLst/>
            <a:rect l="0" t="0" r="r" b="b"/>
            <a:pathLst>
              <a:path w="30163" h="81">
                <a:moveTo>
                  <a:pt x="0" y="0"/>
                </a:moveTo>
                <a:lnTo>
                  <a:pt x="30163" y="0"/>
                </a:lnTo>
                <a:lnTo>
                  <a:pt x="3016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0" name=""/>
          <p:cNvSpPr/>
          <p:nvPr/>
        </p:nvSpPr>
        <p:spPr>
          <a:xfrm>
            <a:off x="942840" y="284796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2"/>
                </a:cubicBezTo>
                <a:cubicBezTo>
                  <a:pt x="42" y="22"/>
                  <a:pt x="53" y="14"/>
                  <a:pt x="66" y="9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9"/>
                </a:cubicBezTo>
                <a:cubicBezTo>
                  <a:pt x="160" y="14"/>
                  <a:pt x="172" y="22"/>
                  <a:pt x="182" y="32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666720" y="2053800"/>
            <a:ext cx="328500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Experiments: akkadakka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" name=""/>
          <p:cNvSpPr/>
          <p:nvPr/>
        </p:nvSpPr>
        <p:spPr>
          <a:xfrm>
            <a:off x="942840" y="328608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1162080" y="2726640"/>
            <a:ext cx="61484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Wiki, snippets and tutorial trail for the HAPI FHIR JPA Starter.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" name=""/>
          <p:cNvSpPr/>
          <p:nvPr/>
        </p:nvSpPr>
        <p:spPr>
          <a:xfrm>
            <a:off x="942840" y="37144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5"/>
                  <a:pt x="204" y="148"/>
                </a:cubicBezTo>
                <a:cubicBezTo>
                  <a:pt x="199" y="161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1"/>
                  <a:pt x="8" y="148"/>
                </a:cubicBezTo>
                <a:cubicBezTo>
                  <a:pt x="3" y="135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1162080" y="3164760"/>
            <a:ext cx="44690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Conﬁguration and reuse; no HAPI code held.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6" name=""/>
          <p:cNvSpPr/>
          <p:nvPr/>
        </p:nvSpPr>
        <p:spPr>
          <a:xfrm>
            <a:off x="942840" y="415260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0"/>
                  <a:pt x="191" y="171"/>
                  <a:pt x="182" y="182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2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1162080" y="3593160"/>
            <a:ext cx="86097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More than a dozen snippets. Not yet covered: terminology, directory, legacy adapter.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" name=""/>
          <p:cNvSpPr/>
          <p:nvPr/>
        </p:nvSpPr>
        <p:spPr>
          <a:xfrm>
            <a:off x="942840" y="458136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2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1162080" y="4031280"/>
            <a:ext cx="55281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"Activate IPS" leads to the AU Patient Summary plugin.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1162080" y="4460040"/>
            <a:ext cx="59061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gitlab.com/australian-e-health-research-centre/akkadakka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11674440" y="6345000"/>
            <a:ext cx="232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10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" name=""/>
          <p:cNvSpPr/>
          <p:nvPr/>
        </p:nvSpPr>
        <p:spPr>
          <a:xfrm>
            <a:off x="666720" y="273348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7" name=""/>
          <p:cNvSpPr/>
          <p:nvPr/>
        </p:nvSpPr>
        <p:spPr>
          <a:xfrm>
            <a:off x="942840" y="30668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2"/>
                  <a:pt x="32" y="32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2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666720" y="2273040"/>
            <a:ext cx="277884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Conformance checks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" name=""/>
          <p:cNvSpPr/>
          <p:nvPr/>
        </p:nvSpPr>
        <p:spPr>
          <a:xfrm>
            <a:off x="942840" y="350496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79"/>
                  <a:pt x="8" y="65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3"/>
                  <a:pt x="204" y="65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1162080" y="2945520"/>
            <a:ext cx="79790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Two layers: HAPI $validate for resources, fhir-frog for conformance test scripts.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" name=""/>
          <p:cNvSpPr/>
          <p:nvPr/>
        </p:nvSpPr>
        <p:spPr>
          <a:xfrm>
            <a:off x="942840" y="393372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60"/>
                  <a:pt x="191" y="172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2"/>
                  <a:pt x="13" y="160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1162080" y="3383640"/>
            <a:ext cx="65250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frog-runner is public (early trial): gitlab.com/fhirfrog/frog-runner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" name=""/>
          <p:cNvSpPr/>
          <p:nvPr/>
        </p:nvSpPr>
        <p:spPr>
          <a:xfrm>
            <a:off x="942840" y="43718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59"/>
                  <a:pt x="191" y="171"/>
                  <a:pt x="182" y="181"/>
                </a:cubicBezTo>
                <a:cubicBezTo>
                  <a:pt x="172" y="190"/>
                  <a:pt x="160" y="198"/>
                  <a:pt x="147" y="204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4"/>
                </a:cubicBezTo>
                <a:cubicBezTo>
                  <a:pt x="53" y="198"/>
                  <a:pt x="42" y="190"/>
                  <a:pt x="32" y="181"/>
                </a:cubicBezTo>
                <a:cubicBezTo>
                  <a:pt x="22" y="171"/>
                  <a:pt x="13" y="159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1162080" y="3812400"/>
            <a:ext cx="87681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Track 2 repo: directory bundle and referral bundle recorded as passing (referral 6 of 6).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1162080" y="4250520"/>
            <a:ext cx="53683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akkadakka: validator snippets. Patterns: PL-15, PL-17.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11674440" y="6345000"/>
            <a:ext cx="232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11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"/>
          <p:cNvSpPr/>
          <p:nvPr/>
        </p:nvSpPr>
        <p:spPr>
          <a:xfrm>
            <a:off x="666720" y="202860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2" name=""/>
          <p:cNvSpPr/>
          <p:nvPr/>
        </p:nvSpPr>
        <p:spPr>
          <a:xfrm>
            <a:off x="676080" y="2219040"/>
            <a:ext cx="2019600" cy="438480"/>
          </a:xfrm>
          <a:custGeom>
            <a:avLst/>
            <a:gdLst/>
            <a:ahLst/>
            <a:rect l="0" t="0" r="r" b="b"/>
            <a:pathLst>
              <a:path w="5610" h="1218">
                <a:moveTo>
                  <a:pt x="0" y="0"/>
                </a:moveTo>
                <a:lnTo>
                  <a:pt x="5610" y="0"/>
                </a:lnTo>
                <a:lnTo>
                  <a:pt x="561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" name=""/>
          <p:cNvSpPr/>
          <p:nvPr/>
        </p:nvSpPr>
        <p:spPr>
          <a:xfrm>
            <a:off x="2695320" y="2219040"/>
            <a:ext cx="1953000" cy="438480"/>
          </a:xfrm>
          <a:custGeom>
            <a:avLst/>
            <a:gdLst/>
            <a:ahLst/>
            <a:rect l="0" t="0" r="r" b="b"/>
            <a:pathLst>
              <a:path w="5425" h="1218">
                <a:moveTo>
                  <a:pt x="0" y="0"/>
                </a:moveTo>
                <a:lnTo>
                  <a:pt x="5425" y="0"/>
                </a:lnTo>
                <a:lnTo>
                  <a:pt x="5425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" name=""/>
          <p:cNvSpPr/>
          <p:nvPr/>
        </p:nvSpPr>
        <p:spPr>
          <a:xfrm>
            <a:off x="4647960" y="2219040"/>
            <a:ext cx="895680" cy="438480"/>
          </a:xfrm>
          <a:custGeom>
            <a:avLst/>
            <a:gdLst/>
            <a:ahLst/>
            <a:rect l="0" t="0" r="r" b="b"/>
            <a:pathLst>
              <a:path w="2488" h="1218">
                <a:moveTo>
                  <a:pt x="0" y="0"/>
                </a:moveTo>
                <a:lnTo>
                  <a:pt x="2488" y="0"/>
                </a:lnTo>
                <a:lnTo>
                  <a:pt x="248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5" name=""/>
          <p:cNvSpPr/>
          <p:nvPr/>
        </p:nvSpPr>
        <p:spPr>
          <a:xfrm>
            <a:off x="5543280" y="2219040"/>
            <a:ext cx="1476720" cy="438480"/>
          </a:xfrm>
          <a:custGeom>
            <a:avLst/>
            <a:gdLst/>
            <a:ahLst/>
            <a:rect l="0" t="0" r="r" b="b"/>
            <a:pathLst>
              <a:path w="4102" h="1218">
                <a:moveTo>
                  <a:pt x="0" y="0"/>
                </a:moveTo>
                <a:lnTo>
                  <a:pt x="4102" y="0"/>
                </a:lnTo>
                <a:lnTo>
                  <a:pt x="410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6" name=""/>
          <p:cNvSpPr/>
          <p:nvPr/>
        </p:nvSpPr>
        <p:spPr>
          <a:xfrm>
            <a:off x="676080" y="2219040"/>
            <a:ext cx="2019600" cy="438480"/>
          </a:xfrm>
          <a:custGeom>
            <a:avLst/>
            <a:gdLst/>
            <a:ahLst/>
            <a:rect l="0" t="0" r="r" b="b"/>
            <a:pathLst>
              <a:path w="5610" h="1218">
                <a:moveTo>
                  <a:pt x="0" y="0"/>
                </a:moveTo>
                <a:lnTo>
                  <a:pt x="5610" y="0"/>
                </a:lnTo>
                <a:lnTo>
                  <a:pt x="561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7" name=""/>
          <p:cNvSpPr/>
          <p:nvPr/>
        </p:nvSpPr>
        <p:spPr>
          <a:xfrm>
            <a:off x="2695320" y="2219040"/>
            <a:ext cx="1953000" cy="438480"/>
          </a:xfrm>
          <a:custGeom>
            <a:avLst/>
            <a:gdLst/>
            <a:ahLst/>
            <a:rect l="0" t="0" r="r" b="b"/>
            <a:pathLst>
              <a:path w="5425" h="1218">
                <a:moveTo>
                  <a:pt x="0" y="0"/>
                </a:moveTo>
                <a:lnTo>
                  <a:pt x="5425" y="0"/>
                </a:lnTo>
                <a:lnTo>
                  <a:pt x="5425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8" name=""/>
          <p:cNvSpPr/>
          <p:nvPr/>
        </p:nvSpPr>
        <p:spPr>
          <a:xfrm>
            <a:off x="4647960" y="2219040"/>
            <a:ext cx="895680" cy="438480"/>
          </a:xfrm>
          <a:custGeom>
            <a:avLst/>
            <a:gdLst/>
            <a:ahLst/>
            <a:rect l="0" t="0" r="r" b="b"/>
            <a:pathLst>
              <a:path w="2488" h="1218">
                <a:moveTo>
                  <a:pt x="0" y="0"/>
                </a:moveTo>
                <a:lnTo>
                  <a:pt x="2488" y="0"/>
                </a:lnTo>
                <a:lnTo>
                  <a:pt x="248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9" name=""/>
          <p:cNvSpPr/>
          <p:nvPr/>
        </p:nvSpPr>
        <p:spPr>
          <a:xfrm>
            <a:off x="5543280" y="2219040"/>
            <a:ext cx="1476720" cy="438480"/>
          </a:xfrm>
          <a:custGeom>
            <a:avLst/>
            <a:gdLst/>
            <a:ahLst/>
            <a:rect l="0" t="0" r="r" b="b"/>
            <a:pathLst>
              <a:path w="4102" h="1218">
                <a:moveTo>
                  <a:pt x="0" y="0"/>
                </a:moveTo>
                <a:lnTo>
                  <a:pt x="4102" y="0"/>
                </a:lnTo>
                <a:lnTo>
                  <a:pt x="410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0" name=""/>
          <p:cNvSpPr/>
          <p:nvPr/>
        </p:nvSpPr>
        <p:spPr>
          <a:xfrm>
            <a:off x="676080" y="2657160"/>
            <a:ext cx="2019600" cy="438480"/>
          </a:xfrm>
          <a:custGeom>
            <a:avLst/>
            <a:gdLst/>
            <a:ahLst/>
            <a:rect l="0" t="0" r="r" b="b"/>
            <a:pathLst>
              <a:path w="5610" h="1218">
                <a:moveTo>
                  <a:pt x="0" y="0"/>
                </a:moveTo>
                <a:lnTo>
                  <a:pt x="5610" y="0"/>
                </a:lnTo>
                <a:lnTo>
                  <a:pt x="561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1" name=""/>
          <p:cNvSpPr/>
          <p:nvPr/>
        </p:nvSpPr>
        <p:spPr>
          <a:xfrm>
            <a:off x="2695320" y="2657160"/>
            <a:ext cx="1953000" cy="438480"/>
          </a:xfrm>
          <a:custGeom>
            <a:avLst/>
            <a:gdLst/>
            <a:ahLst/>
            <a:rect l="0" t="0" r="r" b="b"/>
            <a:pathLst>
              <a:path w="5425" h="1218">
                <a:moveTo>
                  <a:pt x="0" y="0"/>
                </a:moveTo>
                <a:lnTo>
                  <a:pt x="5425" y="0"/>
                </a:lnTo>
                <a:lnTo>
                  <a:pt x="5425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2" name=""/>
          <p:cNvSpPr/>
          <p:nvPr/>
        </p:nvSpPr>
        <p:spPr>
          <a:xfrm>
            <a:off x="4647960" y="2657160"/>
            <a:ext cx="895680" cy="438480"/>
          </a:xfrm>
          <a:custGeom>
            <a:avLst/>
            <a:gdLst/>
            <a:ahLst/>
            <a:rect l="0" t="0" r="r" b="b"/>
            <a:pathLst>
              <a:path w="2488" h="1218">
                <a:moveTo>
                  <a:pt x="0" y="0"/>
                </a:moveTo>
                <a:lnTo>
                  <a:pt x="2488" y="0"/>
                </a:lnTo>
                <a:lnTo>
                  <a:pt x="248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3" name=""/>
          <p:cNvSpPr/>
          <p:nvPr/>
        </p:nvSpPr>
        <p:spPr>
          <a:xfrm>
            <a:off x="5543280" y="2657160"/>
            <a:ext cx="1476720" cy="438480"/>
          </a:xfrm>
          <a:custGeom>
            <a:avLst/>
            <a:gdLst/>
            <a:ahLst/>
            <a:rect l="0" t="0" r="r" b="b"/>
            <a:pathLst>
              <a:path w="4102" h="1218">
                <a:moveTo>
                  <a:pt x="0" y="0"/>
                </a:moveTo>
                <a:lnTo>
                  <a:pt x="4102" y="0"/>
                </a:lnTo>
                <a:lnTo>
                  <a:pt x="410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4" name=""/>
          <p:cNvSpPr/>
          <p:nvPr/>
        </p:nvSpPr>
        <p:spPr>
          <a:xfrm>
            <a:off x="676080" y="3095280"/>
            <a:ext cx="2019600" cy="438840"/>
          </a:xfrm>
          <a:custGeom>
            <a:avLst/>
            <a:gdLst/>
            <a:ahLst/>
            <a:rect l="0" t="0" r="r" b="b"/>
            <a:pathLst>
              <a:path w="5610" h="1219">
                <a:moveTo>
                  <a:pt x="0" y="0"/>
                </a:moveTo>
                <a:lnTo>
                  <a:pt x="5610" y="0"/>
                </a:lnTo>
                <a:lnTo>
                  <a:pt x="5610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5" name=""/>
          <p:cNvSpPr/>
          <p:nvPr/>
        </p:nvSpPr>
        <p:spPr>
          <a:xfrm>
            <a:off x="2695320" y="3095280"/>
            <a:ext cx="1953000" cy="438840"/>
          </a:xfrm>
          <a:custGeom>
            <a:avLst/>
            <a:gdLst/>
            <a:ahLst/>
            <a:rect l="0" t="0" r="r" b="b"/>
            <a:pathLst>
              <a:path w="5425" h="1219">
                <a:moveTo>
                  <a:pt x="0" y="0"/>
                </a:moveTo>
                <a:lnTo>
                  <a:pt x="5425" y="0"/>
                </a:lnTo>
                <a:lnTo>
                  <a:pt x="5425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6" name=""/>
          <p:cNvSpPr/>
          <p:nvPr/>
        </p:nvSpPr>
        <p:spPr>
          <a:xfrm>
            <a:off x="4647960" y="3095280"/>
            <a:ext cx="895680" cy="438840"/>
          </a:xfrm>
          <a:custGeom>
            <a:avLst/>
            <a:gdLst/>
            <a:ahLst/>
            <a:rect l="0" t="0" r="r" b="b"/>
            <a:pathLst>
              <a:path w="2488" h="1219">
                <a:moveTo>
                  <a:pt x="0" y="0"/>
                </a:moveTo>
                <a:lnTo>
                  <a:pt x="2488" y="0"/>
                </a:lnTo>
                <a:lnTo>
                  <a:pt x="2488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7" name=""/>
          <p:cNvSpPr/>
          <p:nvPr/>
        </p:nvSpPr>
        <p:spPr>
          <a:xfrm>
            <a:off x="5543280" y="3095280"/>
            <a:ext cx="1476720" cy="438840"/>
          </a:xfrm>
          <a:custGeom>
            <a:avLst/>
            <a:gdLst/>
            <a:ahLst/>
            <a:rect l="0" t="0" r="r" b="b"/>
            <a:pathLst>
              <a:path w="4102" h="1219">
                <a:moveTo>
                  <a:pt x="0" y="0"/>
                </a:moveTo>
                <a:lnTo>
                  <a:pt x="4102" y="0"/>
                </a:lnTo>
                <a:lnTo>
                  <a:pt x="4102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8" name=""/>
          <p:cNvSpPr/>
          <p:nvPr/>
        </p:nvSpPr>
        <p:spPr>
          <a:xfrm>
            <a:off x="676080" y="3533760"/>
            <a:ext cx="2019600" cy="438480"/>
          </a:xfrm>
          <a:custGeom>
            <a:avLst/>
            <a:gdLst/>
            <a:ahLst/>
            <a:rect l="0" t="0" r="r" b="b"/>
            <a:pathLst>
              <a:path w="5610" h="1218">
                <a:moveTo>
                  <a:pt x="0" y="0"/>
                </a:moveTo>
                <a:lnTo>
                  <a:pt x="5610" y="0"/>
                </a:lnTo>
                <a:lnTo>
                  <a:pt x="561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9" name=""/>
          <p:cNvSpPr/>
          <p:nvPr/>
        </p:nvSpPr>
        <p:spPr>
          <a:xfrm>
            <a:off x="2695320" y="3533760"/>
            <a:ext cx="1953000" cy="438480"/>
          </a:xfrm>
          <a:custGeom>
            <a:avLst/>
            <a:gdLst/>
            <a:ahLst/>
            <a:rect l="0" t="0" r="r" b="b"/>
            <a:pathLst>
              <a:path w="5425" h="1218">
                <a:moveTo>
                  <a:pt x="0" y="0"/>
                </a:moveTo>
                <a:lnTo>
                  <a:pt x="5425" y="0"/>
                </a:lnTo>
                <a:lnTo>
                  <a:pt x="5425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0" name=""/>
          <p:cNvSpPr/>
          <p:nvPr/>
        </p:nvSpPr>
        <p:spPr>
          <a:xfrm>
            <a:off x="4647960" y="3533760"/>
            <a:ext cx="895680" cy="438480"/>
          </a:xfrm>
          <a:custGeom>
            <a:avLst/>
            <a:gdLst/>
            <a:ahLst/>
            <a:rect l="0" t="0" r="r" b="b"/>
            <a:pathLst>
              <a:path w="2488" h="1218">
                <a:moveTo>
                  <a:pt x="0" y="0"/>
                </a:moveTo>
                <a:lnTo>
                  <a:pt x="2488" y="0"/>
                </a:lnTo>
                <a:lnTo>
                  <a:pt x="248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1" name=""/>
          <p:cNvSpPr/>
          <p:nvPr/>
        </p:nvSpPr>
        <p:spPr>
          <a:xfrm>
            <a:off x="5543280" y="3533760"/>
            <a:ext cx="1476720" cy="438480"/>
          </a:xfrm>
          <a:custGeom>
            <a:avLst/>
            <a:gdLst/>
            <a:ahLst/>
            <a:rect l="0" t="0" r="r" b="b"/>
            <a:pathLst>
              <a:path w="4102" h="1218">
                <a:moveTo>
                  <a:pt x="0" y="0"/>
                </a:moveTo>
                <a:lnTo>
                  <a:pt x="4102" y="0"/>
                </a:lnTo>
                <a:lnTo>
                  <a:pt x="410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2" name=""/>
          <p:cNvSpPr/>
          <p:nvPr/>
        </p:nvSpPr>
        <p:spPr>
          <a:xfrm>
            <a:off x="676080" y="3971880"/>
            <a:ext cx="2019600" cy="438480"/>
          </a:xfrm>
          <a:custGeom>
            <a:avLst/>
            <a:gdLst/>
            <a:ahLst/>
            <a:rect l="0" t="0" r="r" b="b"/>
            <a:pathLst>
              <a:path w="5610" h="1218">
                <a:moveTo>
                  <a:pt x="0" y="0"/>
                </a:moveTo>
                <a:lnTo>
                  <a:pt x="5610" y="0"/>
                </a:lnTo>
                <a:lnTo>
                  <a:pt x="561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" name=""/>
          <p:cNvSpPr/>
          <p:nvPr/>
        </p:nvSpPr>
        <p:spPr>
          <a:xfrm>
            <a:off x="2695320" y="3971880"/>
            <a:ext cx="1953000" cy="438480"/>
          </a:xfrm>
          <a:custGeom>
            <a:avLst/>
            <a:gdLst/>
            <a:ahLst/>
            <a:rect l="0" t="0" r="r" b="b"/>
            <a:pathLst>
              <a:path w="5425" h="1218">
                <a:moveTo>
                  <a:pt x="0" y="0"/>
                </a:moveTo>
                <a:lnTo>
                  <a:pt x="5425" y="0"/>
                </a:lnTo>
                <a:lnTo>
                  <a:pt x="5425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4" name=""/>
          <p:cNvSpPr/>
          <p:nvPr/>
        </p:nvSpPr>
        <p:spPr>
          <a:xfrm>
            <a:off x="4647960" y="3971880"/>
            <a:ext cx="895680" cy="438480"/>
          </a:xfrm>
          <a:custGeom>
            <a:avLst/>
            <a:gdLst/>
            <a:ahLst/>
            <a:rect l="0" t="0" r="r" b="b"/>
            <a:pathLst>
              <a:path w="2488" h="1218">
                <a:moveTo>
                  <a:pt x="0" y="0"/>
                </a:moveTo>
                <a:lnTo>
                  <a:pt x="2488" y="0"/>
                </a:lnTo>
                <a:lnTo>
                  <a:pt x="248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5" name=""/>
          <p:cNvSpPr/>
          <p:nvPr/>
        </p:nvSpPr>
        <p:spPr>
          <a:xfrm>
            <a:off x="5543280" y="3971880"/>
            <a:ext cx="1476720" cy="438480"/>
          </a:xfrm>
          <a:custGeom>
            <a:avLst/>
            <a:gdLst/>
            <a:ahLst/>
            <a:rect l="0" t="0" r="r" b="b"/>
            <a:pathLst>
              <a:path w="4102" h="1218">
                <a:moveTo>
                  <a:pt x="0" y="0"/>
                </a:moveTo>
                <a:lnTo>
                  <a:pt x="4102" y="0"/>
                </a:lnTo>
                <a:lnTo>
                  <a:pt x="410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6" name=""/>
          <p:cNvSpPr/>
          <p:nvPr/>
        </p:nvSpPr>
        <p:spPr>
          <a:xfrm>
            <a:off x="676080" y="4410000"/>
            <a:ext cx="2019600" cy="438480"/>
          </a:xfrm>
          <a:custGeom>
            <a:avLst/>
            <a:gdLst/>
            <a:ahLst/>
            <a:rect l="0" t="0" r="r" b="b"/>
            <a:pathLst>
              <a:path w="5610" h="1218">
                <a:moveTo>
                  <a:pt x="0" y="0"/>
                </a:moveTo>
                <a:lnTo>
                  <a:pt x="5610" y="0"/>
                </a:lnTo>
                <a:lnTo>
                  <a:pt x="561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7" name=""/>
          <p:cNvSpPr/>
          <p:nvPr/>
        </p:nvSpPr>
        <p:spPr>
          <a:xfrm>
            <a:off x="2695320" y="4410000"/>
            <a:ext cx="1953000" cy="438480"/>
          </a:xfrm>
          <a:custGeom>
            <a:avLst/>
            <a:gdLst/>
            <a:ahLst/>
            <a:rect l="0" t="0" r="r" b="b"/>
            <a:pathLst>
              <a:path w="5425" h="1218">
                <a:moveTo>
                  <a:pt x="0" y="0"/>
                </a:moveTo>
                <a:lnTo>
                  <a:pt x="5425" y="0"/>
                </a:lnTo>
                <a:lnTo>
                  <a:pt x="5425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8" name=""/>
          <p:cNvSpPr/>
          <p:nvPr/>
        </p:nvSpPr>
        <p:spPr>
          <a:xfrm>
            <a:off x="4647960" y="4410000"/>
            <a:ext cx="895680" cy="438480"/>
          </a:xfrm>
          <a:custGeom>
            <a:avLst/>
            <a:gdLst/>
            <a:ahLst/>
            <a:rect l="0" t="0" r="r" b="b"/>
            <a:pathLst>
              <a:path w="2488" h="1218">
                <a:moveTo>
                  <a:pt x="0" y="0"/>
                </a:moveTo>
                <a:lnTo>
                  <a:pt x="2488" y="0"/>
                </a:lnTo>
                <a:lnTo>
                  <a:pt x="248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9" name=""/>
          <p:cNvSpPr/>
          <p:nvPr/>
        </p:nvSpPr>
        <p:spPr>
          <a:xfrm>
            <a:off x="5543280" y="4410000"/>
            <a:ext cx="1476720" cy="438480"/>
          </a:xfrm>
          <a:custGeom>
            <a:avLst/>
            <a:gdLst/>
            <a:ahLst/>
            <a:rect l="0" t="0" r="r" b="b"/>
            <a:pathLst>
              <a:path w="4102" h="1218">
                <a:moveTo>
                  <a:pt x="0" y="0"/>
                </a:moveTo>
                <a:lnTo>
                  <a:pt x="4102" y="0"/>
                </a:lnTo>
                <a:lnTo>
                  <a:pt x="410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0" name=""/>
          <p:cNvSpPr/>
          <p:nvPr/>
        </p:nvSpPr>
        <p:spPr>
          <a:xfrm>
            <a:off x="676080" y="4848120"/>
            <a:ext cx="2019600" cy="438480"/>
          </a:xfrm>
          <a:custGeom>
            <a:avLst/>
            <a:gdLst/>
            <a:ahLst/>
            <a:rect l="0" t="0" r="r" b="b"/>
            <a:pathLst>
              <a:path w="5610" h="1218">
                <a:moveTo>
                  <a:pt x="0" y="0"/>
                </a:moveTo>
                <a:lnTo>
                  <a:pt x="5610" y="0"/>
                </a:lnTo>
                <a:lnTo>
                  <a:pt x="561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1" name=""/>
          <p:cNvSpPr/>
          <p:nvPr/>
        </p:nvSpPr>
        <p:spPr>
          <a:xfrm>
            <a:off x="2695320" y="4848120"/>
            <a:ext cx="1953000" cy="438480"/>
          </a:xfrm>
          <a:custGeom>
            <a:avLst/>
            <a:gdLst/>
            <a:ahLst/>
            <a:rect l="0" t="0" r="r" b="b"/>
            <a:pathLst>
              <a:path w="5425" h="1218">
                <a:moveTo>
                  <a:pt x="0" y="0"/>
                </a:moveTo>
                <a:lnTo>
                  <a:pt x="5425" y="0"/>
                </a:lnTo>
                <a:lnTo>
                  <a:pt x="5425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2" name=""/>
          <p:cNvSpPr/>
          <p:nvPr/>
        </p:nvSpPr>
        <p:spPr>
          <a:xfrm>
            <a:off x="4647960" y="4848120"/>
            <a:ext cx="895680" cy="438480"/>
          </a:xfrm>
          <a:custGeom>
            <a:avLst/>
            <a:gdLst/>
            <a:ahLst/>
            <a:rect l="0" t="0" r="r" b="b"/>
            <a:pathLst>
              <a:path w="2488" h="1218">
                <a:moveTo>
                  <a:pt x="0" y="0"/>
                </a:moveTo>
                <a:lnTo>
                  <a:pt x="2488" y="0"/>
                </a:lnTo>
                <a:lnTo>
                  <a:pt x="248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3" name=""/>
          <p:cNvSpPr/>
          <p:nvPr/>
        </p:nvSpPr>
        <p:spPr>
          <a:xfrm>
            <a:off x="5543280" y="4848120"/>
            <a:ext cx="1476720" cy="438480"/>
          </a:xfrm>
          <a:custGeom>
            <a:avLst/>
            <a:gdLst/>
            <a:ahLst/>
            <a:rect l="0" t="0" r="r" b="b"/>
            <a:pathLst>
              <a:path w="4102" h="1218">
                <a:moveTo>
                  <a:pt x="0" y="0"/>
                </a:moveTo>
                <a:lnTo>
                  <a:pt x="4102" y="0"/>
                </a:lnTo>
                <a:lnTo>
                  <a:pt x="410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4" name=""/>
          <p:cNvSpPr/>
          <p:nvPr/>
        </p:nvSpPr>
        <p:spPr>
          <a:xfrm>
            <a:off x="666720" y="2209680"/>
            <a:ext cx="9720" cy="447840"/>
          </a:xfrm>
          <a:custGeom>
            <a:avLst/>
            <a:gdLst/>
            <a:ahLst/>
            <a:rect l="0" t="0" r="r" b="b"/>
            <a:pathLst>
              <a:path w="27" h="1244">
                <a:moveTo>
                  <a:pt x="0" y="0"/>
                </a:moveTo>
                <a:lnTo>
                  <a:pt x="27" y="0"/>
                </a:lnTo>
                <a:lnTo>
                  <a:pt x="27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5" name=""/>
          <p:cNvSpPr/>
          <p:nvPr/>
        </p:nvSpPr>
        <p:spPr>
          <a:xfrm>
            <a:off x="666720" y="2209680"/>
            <a:ext cx="2028960" cy="9720"/>
          </a:xfrm>
          <a:custGeom>
            <a:avLst/>
            <a:gdLst/>
            <a:ahLst/>
            <a:rect l="0" t="0" r="r" b="b"/>
            <a:pathLst>
              <a:path w="5636" h="27">
                <a:moveTo>
                  <a:pt x="0" y="0"/>
                </a:moveTo>
                <a:lnTo>
                  <a:pt x="5636" y="0"/>
                </a:lnTo>
                <a:lnTo>
                  <a:pt x="56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6" name=""/>
          <p:cNvSpPr/>
          <p:nvPr/>
        </p:nvSpPr>
        <p:spPr>
          <a:xfrm>
            <a:off x="2685960" y="2209680"/>
            <a:ext cx="9720" cy="447840"/>
          </a:xfrm>
          <a:custGeom>
            <a:avLst/>
            <a:gdLst/>
            <a:ahLst/>
            <a:rect l="0" t="0" r="r" b="b"/>
            <a:pathLst>
              <a:path w="27" h="1244">
                <a:moveTo>
                  <a:pt x="0" y="0"/>
                </a:moveTo>
                <a:lnTo>
                  <a:pt x="27" y="0"/>
                </a:lnTo>
                <a:lnTo>
                  <a:pt x="27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" name=""/>
          <p:cNvSpPr/>
          <p:nvPr/>
        </p:nvSpPr>
        <p:spPr>
          <a:xfrm>
            <a:off x="2695320" y="2209680"/>
            <a:ext cx="1962720" cy="9720"/>
          </a:xfrm>
          <a:custGeom>
            <a:avLst/>
            <a:gdLst/>
            <a:ahLst/>
            <a:rect l="0" t="0" r="r" b="b"/>
            <a:pathLst>
              <a:path w="5452" h="27">
                <a:moveTo>
                  <a:pt x="0" y="0"/>
                </a:moveTo>
                <a:lnTo>
                  <a:pt x="5452" y="0"/>
                </a:lnTo>
                <a:lnTo>
                  <a:pt x="54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8" name=""/>
          <p:cNvSpPr/>
          <p:nvPr/>
        </p:nvSpPr>
        <p:spPr>
          <a:xfrm>
            <a:off x="4647960" y="2209680"/>
            <a:ext cx="10080" cy="447840"/>
          </a:xfrm>
          <a:custGeom>
            <a:avLst/>
            <a:gdLst/>
            <a:ahLst/>
            <a:rect l="0" t="0" r="r" b="b"/>
            <a:pathLst>
              <a:path w="28" h="1244">
                <a:moveTo>
                  <a:pt x="0" y="0"/>
                </a:moveTo>
                <a:lnTo>
                  <a:pt x="28" y="0"/>
                </a:lnTo>
                <a:lnTo>
                  <a:pt x="28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9" name=""/>
          <p:cNvSpPr/>
          <p:nvPr/>
        </p:nvSpPr>
        <p:spPr>
          <a:xfrm>
            <a:off x="4657680" y="2209680"/>
            <a:ext cx="885960" cy="9720"/>
          </a:xfrm>
          <a:custGeom>
            <a:avLst/>
            <a:gdLst/>
            <a:ahLst/>
            <a:rect l="0" t="0" r="r" b="b"/>
            <a:pathLst>
              <a:path w="2461" h="27">
                <a:moveTo>
                  <a:pt x="0" y="0"/>
                </a:moveTo>
                <a:lnTo>
                  <a:pt x="2461" y="0"/>
                </a:lnTo>
                <a:lnTo>
                  <a:pt x="246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0" name=""/>
          <p:cNvSpPr/>
          <p:nvPr/>
        </p:nvSpPr>
        <p:spPr>
          <a:xfrm>
            <a:off x="5533920" y="2209680"/>
            <a:ext cx="9720" cy="447840"/>
          </a:xfrm>
          <a:custGeom>
            <a:avLst/>
            <a:gdLst/>
            <a:ahLst/>
            <a:rect l="0" t="0" r="r" b="b"/>
            <a:pathLst>
              <a:path w="27" h="1244">
                <a:moveTo>
                  <a:pt x="0" y="0"/>
                </a:moveTo>
                <a:lnTo>
                  <a:pt x="27" y="0"/>
                </a:lnTo>
                <a:lnTo>
                  <a:pt x="27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" name=""/>
          <p:cNvSpPr/>
          <p:nvPr/>
        </p:nvSpPr>
        <p:spPr>
          <a:xfrm>
            <a:off x="5543280" y="2209680"/>
            <a:ext cx="1476720" cy="9720"/>
          </a:xfrm>
          <a:custGeom>
            <a:avLst/>
            <a:gdLst/>
            <a:ahLst/>
            <a:rect l="0" t="0" r="r" b="b"/>
            <a:pathLst>
              <a:path w="4102" h="27">
                <a:moveTo>
                  <a:pt x="0" y="0"/>
                </a:moveTo>
                <a:lnTo>
                  <a:pt x="4102" y="0"/>
                </a:lnTo>
                <a:lnTo>
                  <a:pt x="410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2" name=""/>
          <p:cNvSpPr/>
          <p:nvPr/>
        </p:nvSpPr>
        <p:spPr>
          <a:xfrm>
            <a:off x="7010280" y="2209680"/>
            <a:ext cx="9720" cy="447840"/>
          </a:xfrm>
          <a:custGeom>
            <a:avLst/>
            <a:gdLst/>
            <a:ahLst/>
            <a:rect l="0" t="0" r="r" b="b"/>
            <a:pathLst>
              <a:path w="27" h="1244">
                <a:moveTo>
                  <a:pt x="0" y="0"/>
                </a:moveTo>
                <a:lnTo>
                  <a:pt x="27" y="0"/>
                </a:lnTo>
                <a:lnTo>
                  <a:pt x="27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3" name=""/>
          <p:cNvSpPr/>
          <p:nvPr/>
        </p:nvSpPr>
        <p:spPr>
          <a:xfrm>
            <a:off x="666720" y="2647800"/>
            <a:ext cx="2028960" cy="9720"/>
          </a:xfrm>
          <a:custGeom>
            <a:avLst/>
            <a:gdLst/>
            <a:ahLst/>
            <a:rect l="0" t="0" r="r" b="b"/>
            <a:pathLst>
              <a:path w="5636" h="27">
                <a:moveTo>
                  <a:pt x="0" y="0"/>
                </a:moveTo>
                <a:lnTo>
                  <a:pt x="5636" y="0"/>
                </a:lnTo>
                <a:lnTo>
                  <a:pt x="56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4" name=""/>
          <p:cNvSpPr/>
          <p:nvPr/>
        </p:nvSpPr>
        <p:spPr>
          <a:xfrm>
            <a:off x="2695320" y="2647800"/>
            <a:ext cx="1962720" cy="9720"/>
          </a:xfrm>
          <a:custGeom>
            <a:avLst/>
            <a:gdLst/>
            <a:ahLst/>
            <a:rect l="0" t="0" r="r" b="b"/>
            <a:pathLst>
              <a:path w="5452" h="27">
                <a:moveTo>
                  <a:pt x="0" y="0"/>
                </a:moveTo>
                <a:lnTo>
                  <a:pt x="5452" y="0"/>
                </a:lnTo>
                <a:lnTo>
                  <a:pt x="54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5" name=""/>
          <p:cNvSpPr/>
          <p:nvPr/>
        </p:nvSpPr>
        <p:spPr>
          <a:xfrm>
            <a:off x="4657680" y="2647800"/>
            <a:ext cx="885960" cy="9720"/>
          </a:xfrm>
          <a:custGeom>
            <a:avLst/>
            <a:gdLst/>
            <a:ahLst/>
            <a:rect l="0" t="0" r="r" b="b"/>
            <a:pathLst>
              <a:path w="2461" h="27">
                <a:moveTo>
                  <a:pt x="0" y="0"/>
                </a:moveTo>
                <a:lnTo>
                  <a:pt x="2461" y="0"/>
                </a:lnTo>
                <a:lnTo>
                  <a:pt x="246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6" name=""/>
          <p:cNvSpPr/>
          <p:nvPr/>
        </p:nvSpPr>
        <p:spPr>
          <a:xfrm>
            <a:off x="5543280" y="2647800"/>
            <a:ext cx="1476720" cy="9720"/>
          </a:xfrm>
          <a:custGeom>
            <a:avLst/>
            <a:gdLst/>
            <a:ahLst/>
            <a:rect l="0" t="0" r="r" b="b"/>
            <a:pathLst>
              <a:path w="4102" h="27">
                <a:moveTo>
                  <a:pt x="0" y="0"/>
                </a:moveTo>
                <a:lnTo>
                  <a:pt x="4102" y="0"/>
                </a:lnTo>
                <a:lnTo>
                  <a:pt x="410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7" name=""/>
          <p:cNvSpPr/>
          <p:nvPr/>
        </p:nvSpPr>
        <p:spPr>
          <a:xfrm>
            <a:off x="666720" y="26571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8" name=""/>
          <p:cNvSpPr/>
          <p:nvPr/>
        </p:nvSpPr>
        <p:spPr>
          <a:xfrm>
            <a:off x="2685960" y="26571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9" name=""/>
          <p:cNvSpPr/>
          <p:nvPr/>
        </p:nvSpPr>
        <p:spPr>
          <a:xfrm>
            <a:off x="4647960" y="265716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0" name=""/>
          <p:cNvSpPr/>
          <p:nvPr/>
        </p:nvSpPr>
        <p:spPr>
          <a:xfrm>
            <a:off x="5533920" y="26571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1" name=""/>
          <p:cNvSpPr/>
          <p:nvPr/>
        </p:nvSpPr>
        <p:spPr>
          <a:xfrm>
            <a:off x="7010280" y="26571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2" name=""/>
          <p:cNvSpPr/>
          <p:nvPr/>
        </p:nvSpPr>
        <p:spPr>
          <a:xfrm>
            <a:off x="666720" y="3095280"/>
            <a:ext cx="9720" cy="438840"/>
          </a:xfrm>
          <a:custGeom>
            <a:avLst/>
            <a:gdLst/>
            <a:ahLst/>
            <a:rect l="0" t="0" r="r" b="b"/>
            <a:pathLst>
              <a:path w="27" h="1219">
                <a:moveTo>
                  <a:pt x="0" y="0"/>
                </a:moveTo>
                <a:lnTo>
                  <a:pt x="27" y="0"/>
                </a:lnTo>
                <a:lnTo>
                  <a:pt x="27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3" name=""/>
          <p:cNvSpPr/>
          <p:nvPr/>
        </p:nvSpPr>
        <p:spPr>
          <a:xfrm>
            <a:off x="666720" y="3085920"/>
            <a:ext cx="2028960" cy="9720"/>
          </a:xfrm>
          <a:custGeom>
            <a:avLst/>
            <a:gdLst/>
            <a:ahLst/>
            <a:rect l="0" t="0" r="r" b="b"/>
            <a:pathLst>
              <a:path w="5636" h="27">
                <a:moveTo>
                  <a:pt x="0" y="0"/>
                </a:moveTo>
                <a:lnTo>
                  <a:pt x="5636" y="0"/>
                </a:lnTo>
                <a:lnTo>
                  <a:pt x="56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4" name=""/>
          <p:cNvSpPr/>
          <p:nvPr/>
        </p:nvSpPr>
        <p:spPr>
          <a:xfrm>
            <a:off x="2685960" y="3095280"/>
            <a:ext cx="9720" cy="438840"/>
          </a:xfrm>
          <a:custGeom>
            <a:avLst/>
            <a:gdLst/>
            <a:ahLst/>
            <a:rect l="0" t="0" r="r" b="b"/>
            <a:pathLst>
              <a:path w="27" h="1219">
                <a:moveTo>
                  <a:pt x="0" y="0"/>
                </a:moveTo>
                <a:lnTo>
                  <a:pt x="27" y="0"/>
                </a:lnTo>
                <a:lnTo>
                  <a:pt x="27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5" name=""/>
          <p:cNvSpPr/>
          <p:nvPr/>
        </p:nvSpPr>
        <p:spPr>
          <a:xfrm>
            <a:off x="2695320" y="3085920"/>
            <a:ext cx="1962720" cy="9720"/>
          </a:xfrm>
          <a:custGeom>
            <a:avLst/>
            <a:gdLst/>
            <a:ahLst/>
            <a:rect l="0" t="0" r="r" b="b"/>
            <a:pathLst>
              <a:path w="5452" h="27">
                <a:moveTo>
                  <a:pt x="0" y="0"/>
                </a:moveTo>
                <a:lnTo>
                  <a:pt x="5452" y="0"/>
                </a:lnTo>
                <a:lnTo>
                  <a:pt x="54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6" name=""/>
          <p:cNvSpPr/>
          <p:nvPr/>
        </p:nvSpPr>
        <p:spPr>
          <a:xfrm>
            <a:off x="4647960" y="3095280"/>
            <a:ext cx="10080" cy="438840"/>
          </a:xfrm>
          <a:custGeom>
            <a:avLst/>
            <a:gdLst/>
            <a:ahLst/>
            <a:rect l="0" t="0" r="r" b="b"/>
            <a:pathLst>
              <a:path w="28" h="1219">
                <a:moveTo>
                  <a:pt x="0" y="0"/>
                </a:moveTo>
                <a:lnTo>
                  <a:pt x="28" y="0"/>
                </a:lnTo>
                <a:lnTo>
                  <a:pt x="28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7" name=""/>
          <p:cNvSpPr/>
          <p:nvPr/>
        </p:nvSpPr>
        <p:spPr>
          <a:xfrm>
            <a:off x="4657680" y="3085920"/>
            <a:ext cx="885960" cy="9720"/>
          </a:xfrm>
          <a:custGeom>
            <a:avLst/>
            <a:gdLst/>
            <a:ahLst/>
            <a:rect l="0" t="0" r="r" b="b"/>
            <a:pathLst>
              <a:path w="2461" h="27">
                <a:moveTo>
                  <a:pt x="0" y="0"/>
                </a:moveTo>
                <a:lnTo>
                  <a:pt x="2461" y="0"/>
                </a:lnTo>
                <a:lnTo>
                  <a:pt x="246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8" name=""/>
          <p:cNvSpPr/>
          <p:nvPr/>
        </p:nvSpPr>
        <p:spPr>
          <a:xfrm>
            <a:off x="5533920" y="3095280"/>
            <a:ext cx="9720" cy="438840"/>
          </a:xfrm>
          <a:custGeom>
            <a:avLst/>
            <a:gdLst/>
            <a:ahLst/>
            <a:rect l="0" t="0" r="r" b="b"/>
            <a:pathLst>
              <a:path w="27" h="1219">
                <a:moveTo>
                  <a:pt x="0" y="0"/>
                </a:moveTo>
                <a:lnTo>
                  <a:pt x="27" y="0"/>
                </a:lnTo>
                <a:lnTo>
                  <a:pt x="27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9" name=""/>
          <p:cNvSpPr/>
          <p:nvPr/>
        </p:nvSpPr>
        <p:spPr>
          <a:xfrm>
            <a:off x="5543280" y="3085920"/>
            <a:ext cx="1476720" cy="9720"/>
          </a:xfrm>
          <a:custGeom>
            <a:avLst/>
            <a:gdLst/>
            <a:ahLst/>
            <a:rect l="0" t="0" r="r" b="b"/>
            <a:pathLst>
              <a:path w="4102" h="27">
                <a:moveTo>
                  <a:pt x="0" y="0"/>
                </a:moveTo>
                <a:lnTo>
                  <a:pt x="4102" y="0"/>
                </a:lnTo>
                <a:lnTo>
                  <a:pt x="410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0" name=""/>
          <p:cNvSpPr/>
          <p:nvPr/>
        </p:nvSpPr>
        <p:spPr>
          <a:xfrm>
            <a:off x="7010280" y="3095280"/>
            <a:ext cx="9720" cy="438840"/>
          </a:xfrm>
          <a:custGeom>
            <a:avLst/>
            <a:gdLst/>
            <a:ahLst/>
            <a:rect l="0" t="0" r="r" b="b"/>
            <a:pathLst>
              <a:path w="27" h="1219">
                <a:moveTo>
                  <a:pt x="0" y="0"/>
                </a:moveTo>
                <a:lnTo>
                  <a:pt x="27" y="0"/>
                </a:lnTo>
                <a:lnTo>
                  <a:pt x="27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1" name=""/>
          <p:cNvSpPr/>
          <p:nvPr/>
        </p:nvSpPr>
        <p:spPr>
          <a:xfrm>
            <a:off x="666720" y="35337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2" name=""/>
          <p:cNvSpPr/>
          <p:nvPr/>
        </p:nvSpPr>
        <p:spPr>
          <a:xfrm>
            <a:off x="666720" y="3524040"/>
            <a:ext cx="2028960" cy="10080"/>
          </a:xfrm>
          <a:custGeom>
            <a:avLst/>
            <a:gdLst/>
            <a:ahLst/>
            <a:rect l="0" t="0" r="r" b="b"/>
            <a:pathLst>
              <a:path w="5636" h="28">
                <a:moveTo>
                  <a:pt x="0" y="0"/>
                </a:moveTo>
                <a:lnTo>
                  <a:pt x="5636" y="0"/>
                </a:lnTo>
                <a:lnTo>
                  <a:pt x="56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3" name=""/>
          <p:cNvSpPr/>
          <p:nvPr/>
        </p:nvSpPr>
        <p:spPr>
          <a:xfrm>
            <a:off x="2685960" y="35337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4" name=""/>
          <p:cNvSpPr/>
          <p:nvPr/>
        </p:nvSpPr>
        <p:spPr>
          <a:xfrm>
            <a:off x="2695320" y="3524040"/>
            <a:ext cx="1962720" cy="10080"/>
          </a:xfrm>
          <a:custGeom>
            <a:avLst/>
            <a:gdLst/>
            <a:ahLst/>
            <a:rect l="0" t="0" r="r" b="b"/>
            <a:pathLst>
              <a:path w="5452" h="28">
                <a:moveTo>
                  <a:pt x="0" y="0"/>
                </a:moveTo>
                <a:lnTo>
                  <a:pt x="5452" y="0"/>
                </a:lnTo>
                <a:lnTo>
                  <a:pt x="545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5" name=""/>
          <p:cNvSpPr/>
          <p:nvPr/>
        </p:nvSpPr>
        <p:spPr>
          <a:xfrm>
            <a:off x="4647960" y="353376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6" name=""/>
          <p:cNvSpPr/>
          <p:nvPr/>
        </p:nvSpPr>
        <p:spPr>
          <a:xfrm>
            <a:off x="4657680" y="3524040"/>
            <a:ext cx="885960" cy="10080"/>
          </a:xfrm>
          <a:custGeom>
            <a:avLst/>
            <a:gdLst/>
            <a:ahLst/>
            <a:rect l="0" t="0" r="r" b="b"/>
            <a:pathLst>
              <a:path w="2461" h="28">
                <a:moveTo>
                  <a:pt x="0" y="0"/>
                </a:moveTo>
                <a:lnTo>
                  <a:pt x="2461" y="0"/>
                </a:lnTo>
                <a:lnTo>
                  <a:pt x="246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7" name=""/>
          <p:cNvSpPr/>
          <p:nvPr/>
        </p:nvSpPr>
        <p:spPr>
          <a:xfrm>
            <a:off x="5533920" y="35337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8" name=""/>
          <p:cNvSpPr/>
          <p:nvPr/>
        </p:nvSpPr>
        <p:spPr>
          <a:xfrm>
            <a:off x="5543280" y="3524040"/>
            <a:ext cx="1476720" cy="10080"/>
          </a:xfrm>
          <a:custGeom>
            <a:avLst/>
            <a:gdLst/>
            <a:ahLst/>
            <a:rect l="0" t="0" r="r" b="b"/>
            <a:pathLst>
              <a:path w="4102" h="28">
                <a:moveTo>
                  <a:pt x="0" y="0"/>
                </a:moveTo>
                <a:lnTo>
                  <a:pt x="4102" y="0"/>
                </a:lnTo>
                <a:lnTo>
                  <a:pt x="410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9" name=""/>
          <p:cNvSpPr/>
          <p:nvPr/>
        </p:nvSpPr>
        <p:spPr>
          <a:xfrm>
            <a:off x="7010280" y="35337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0" name=""/>
          <p:cNvSpPr/>
          <p:nvPr/>
        </p:nvSpPr>
        <p:spPr>
          <a:xfrm>
            <a:off x="666720" y="39718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1" name=""/>
          <p:cNvSpPr/>
          <p:nvPr/>
        </p:nvSpPr>
        <p:spPr>
          <a:xfrm>
            <a:off x="666720" y="3962160"/>
            <a:ext cx="2028960" cy="10080"/>
          </a:xfrm>
          <a:custGeom>
            <a:avLst/>
            <a:gdLst/>
            <a:ahLst/>
            <a:rect l="0" t="0" r="r" b="b"/>
            <a:pathLst>
              <a:path w="5636" h="28">
                <a:moveTo>
                  <a:pt x="0" y="0"/>
                </a:moveTo>
                <a:lnTo>
                  <a:pt x="5636" y="0"/>
                </a:lnTo>
                <a:lnTo>
                  <a:pt x="56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2" name=""/>
          <p:cNvSpPr/>
          <p:nvPr/>
        </p:nvSpPr>
        <p:spPr>
          <a:xfrm>
            <a:off x="2685960" y="39718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3" name=""/>
          <p:cNvSpPr/>
          <p:nvPr/>
        </p:nvSpPr>
        <p:spPr>
          <a:xfrm>
            <a:off x="2695320" y="3962160"/>
            <a:ext cx="1962720" cy="10080"/>
          </a:xfrm>
          <a:custGeom>
            <a:avLst/>
            <a:gdLst/>
            <a:ahLst/>
            <a:rect l="0" t="0" r="r" b="b"/>
            <a:pathLst>
              <a:path w="5452" h="28">
                <a:moveTo>
                  <a:pt x="0" y="0"/>
                </a:moveTo>
                <a:lnTo>
                  <a:pt x="5452" y="0"/>
                </a:lnTo>
                <a:lnTo>
                  <a:pt x="545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4" name=""/>
          <p:cNvSpPr/>
          <p:nvPr/>
        </p:nvSpPr>
        <p:spPr>
          <a:xfrm>
            <a:off x="4647960" y="397188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5" name=""/>
          <p:cNvSpPr/>
          <p:nvPr/>
        </p:nvSpPr>
        <p:spPr>
          <a:xfrm>
            <a:off x="4657680" y="3962160"/>
            <a:ext cx="885960" cy="10080"/>
          </a:xfrm>
          <a:custGeom>
            <a:avLst/>
            <a:gdLst/>
            <a:ahLst/>
            <a:rect l="0" t="0" r="r" b="b"/>
            <a:pathLst>
              <a:path w="2461" h="28">
                <a:moveTo>
                  <a:pt x="0" y="0"/>
                </a:moveTo>
                <a:lnTo>
                  <a:pt x="2461" y="0"/>
                </a:lnTo>
                <a:lnTo>
                  <a:pt x="246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6" name=""/>
          <p:cNvSpPr/>
          <p:nvPr/>
        </p:nvSpPr>
        <p:spPr>
          <a:xfrm>
            <a:off x="5533920" y="39718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7" name=""/>
          <p:cNvSpPr/>
          <p:nvPr/>
        </p:nvSpPr>
        <p:spPr>
          <a:xfrm>
            <a:off x="5543280" y="3962160"/>
            <a:ext cx="1476720" cy="10080"/>
          </a:xfrm>
          <a:custGeom>
            <a:avLst/>
            <a:gdLst/>
            <a:ahLst/>
            <a:rect l="0" t="0" r="r" b="b"/>
            <a:pathLst>
              <a:path w="4102" h="28">
                <a:moveTo>
                  <a:pt x="0" y="0"/>
                </a:moveTo>
                <a:lnTo>
                  <a:pt x="4102" y="0"/>
                </a:lnTo>
                <a:lnTo>
                  <a:pt x="410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"/>
          <p:cNvSpPr/>
          <p:nvPr/>
        </p:nvSpPr>
        <p:spPr>
          <a:xfrm>
            <a:off x="7010280" y="39718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" name=""/>
          <p:cNvSpPr/>
          <p:nvPr/>
        </p:nvSpPr>
        <p:spPr>
          <a:xfrm>
            <a:off x="666720" y="44100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" name=""/>
          <p:cNvSpPr/>
          <p:nvPr/>
        </p:nvSpPr>
        <p:spPr>
          <a:xfrm>
            <a:off x="666720" y="4400280"/>
            <a:ext cx="2028960" cy="10080"/>
          </a:xfrm>
          <a:custGeom>
            <a:avLst/>
            <a:gdLst/>
            <a:ahLst/>
            <a:rect l="0" t="0" r="r" b="b"/>
            <a:pathLst>
              <a:path w="5636" h="28">
                <a:moveTo>
                  <a:pt x="0" y="0"/>
                </a:moveTo>
                <a:lnTo>
                  <a:pt x="5636" y="0"/>
                </a:lnTo>
                <a:lnTo>
                  <a:pt x="56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" name=""/>
          <p:cNvSpPr/>
          <p:nvPr/>
        </p:nvSpPr>
        <p:spPr>
          <a:xfrm>
            <a:off x="2685960" y="44100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" name=""/>
          <p:cNvSpPr/>
          <p:nvPr/>
        </p:nvSpPr>
        <p:spPr>
          <a:xfrm>
            <a:off x="2695320" y="4400280"/>
            <a:ext cx="1962720" cy="10080"/>
          </a:xfrm>
          <a:custGeom>
            <a:avLst/>
            <a:gdLst/>
            <a:ahLst/>
            <a:rect l="0" t="0" r="r" b="b"/>
            <a:pathLst>
              <a:path w="5452" h="28">
                <a:moveTo>
                  <a:pt x="0" y="0"/>
                </a:moveTo>
                <a:lnTo>
                  <a:pt x="5452" y="0"/>
                </a:lnTo>
                <a:lnTo>
                  <a:pt x="545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3" name=""/>
          <p:cNvSpPr/>
          <p:nvPr/>
        </p:nvSpPr>
        <p:spPr>
          <a:xfrm>
            <a:off x="4647960" y="441000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4" name=""/>
          <p:cNvSpPr/>
          <p:nvPr/>
        </p:nvSpPr>
        <p:spPr>
          <a:xfrm>
            <a:off x="4657680" y="4400280"/>
            <a:ext cx="885960" cy="10080"/>
          </a:xfrm>
          <a:custGeom>
            <a:avLst/>
            <a:gdLst/>
            <a:ahLst/>
            <a:rect l="0" t="0" r="r" b="b"/>
            <a:pathLst>
              <a:path w="2461" h="28">
                <a:moveTo>
                  <a:pt x="0" y="0"/>
                </a:moveTo>
                <a:lnTo>
                  <a:pt x="2461" y="0"/>
                </a:lnTo>
                <a:lnTo>
                  <a:pt x="246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5" name=""/>
          <p:cNvSpPr/>
          <p:nvPr/>
        </p:nvSpPr>
        <p:spPr>
          <a:xfrm>
            <a:off x="5533920" y="44100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6" name=""/>
          <p:cNvSpPr/>
          <p:nvPr/>
        </p:nvSpPr>
        <p:spPr>
          <a:xfrm>
            <a:off x="5543280" y="4400280"/>
            <a:ext cx="1476720" cy="10080"/>
          </a:xfrm>
          <a:custGeom>
            <a:avLst/>
            <a:gdLst/>
            <a:ahLst/>
            <a:rect l="0" t="0" r="r" b="b"/>
            <a:pathLst>
              <a:path w="4102" h="28">
                <a:moveTo>
                  <a:pt x="0" y="0"/>
                </a:moveTo>
                <a:lnTo>
                  <a:pt x="4102" y="0"/>
                </a:lnTo>
                <a:lnTo>
                  <a:pt x="410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7" name=""/>
          <p:cNvSpPr/>
          <p:nvPr/>
        </p:nvSpPr>
        <p:spPr>
          <a:xfrm>
            <a:off x="7010280" y="44100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8" name=""/>
          <p:cNvSpPr/>
          <p:nvPr/>
        </p:nvSpPr>
        <p:spPr>
          <a:xfrm>
            <a:off x="666720" y="484812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9" name=""/>
          <p:cNvSpPr/>
          <p:nvPr/>
        </p:nvSpPr>
        <p:spPr>
          <a:xfrm>
            <a:off x="666720" y="4838400"/>
            <a:ext cx="2028960" cy="10080"/>
          </a:xfrm>
          <a:custGeom>
            <a:avLst/>
            <a:gdLst/>
            <a:ahLst/>
            <a:rect l="0" t="0" r="r" b="b"/>
            <a:pathLst>
              <a:path w="5636" h="28">
                <a:moveTo>
                  <a:pt x="0" y="0"/>
                </a:moveTo>
                <a:lnTo>
                  <a:pt x="5636" y="0"/>
                </a:lnTo>
                <a:lnTo>
                  <a:pt x="56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0" name=""/>
          <p:cNvSpPr/>
          <p:nvPr/>
        </p:nvSpPr>
        <p:spPr>
          <a:xfrm>
            <a:off x="2685960" y="484812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1" name=""/>
          <p:cNvSpPr/>
          <p:nvPr/>
        </p:nvSpPr>
        <p:spPr>
          <a:xfrm>
            <a:off x="2695320" y="4838400"/>
            <a:ext cx="1962720" cy="10080"/>
          </a:xfrm>
          <a:custGeom>
            <a:avLst/>
            <a:gdLst/>
            <a:ahLst/>
            <a:rect l="0" t="0" r="r" b="b"/>
            <a:pathLst>
              <a:path w="5452" h="28">
                <a:moveTo>
                  <a:pt x="0" y="0"/>
                </a:moveTo>
                <a:lnTo>
                  <a:pt x="5452" y="0"/>
                </a:lnTo>
                <a:lnTo>
                  <a:pt x="545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2" name=""/>
          <p:cNvSpPr/>
          <p:nvPr/>
        </p:nvSpPr>
        <p:spPr>
          <a:xfrm>
            <a:off x="4647960" y="484812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3" name=""/>
          <p:cNvSpPr/>
          <p:nvPr/>
        </p:nvSpPr>
        <p:spPr>
          <a:xfrm>
            <a:off x="4657680" y="4838400"/>
            <a:ext cx="885960" cy="10080"/>
          </a:xfrm>
          <a:custGeom>
            <a:avLst/>
            <a:gdLst/>
            <a:ahLst/>
            <a:rect l="0" t="0" r="r" b="b"/>
            <a:pathLst>
              <a:path w="2461" h="28">
                <a:moveTo>
                  <a:pt x="0" y="0"/>
                </a:moveTo>
                <a:lnTo>
                  <a:pt x="2461" y="0"/>
                </a:lnTo>
                <a:lnTo>
                  <a:pt x="246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4" name=""/>
          <p:cNvSpPr/>
          <p:nvPr/>
        </p:nvSpPr>
        <p:spPr>
          <a:xfrm>
            <a:off x="5533920" y="484812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5" name=""/>
          <p:cNvSpPr/>
          <p:nvPr/>
        </p:nvSpPr>
        <p:spPr>
          <a:xfrm>
            <a:off x="5543280" y="4838400"/>
            <a:ext cx="1476720" cy="10080"/>
          </a:xfrm>
          <a:custGeom>
            <a:avLst/>
            <a:gdLst/>
            <a:ahLst/>
            <a:rect l="0" t="0" r="r" b="b"/>
            <a:pathLst>
              <a:path w="4102" h="28">
                <a:moveTo>
                  <a:pt x="0" y="0"/>
                </a:moveTo>
                <a:lnTo>
                  <a:pt x="4102" y="0"/>
                </a:lnTo>
                <a:lnTo>
                  <a:pt x="410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6" name=""/>
          <p:cNvSpPr/>
          <p:nvPr/>
        </p:nvSpPr>
        <p:spPr>
          <a:xfrm>
            <a:off x="7010280" y="484812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7" name=""/>
          <p:cNvSpPr/>
          <p:nvPr/>
        </p:nvSpPr>
        <p:spPr>
          <a:xfrm>
            <a:off x="666720" y="5276520"/>
            <a:ext cx="2028960" cy="10080"/>
          </a:xfrm>
          <a:custGeom>
            <a:avLst/>
            <a:gdLst/>
            <a:ahLst/>
            <a:rect l="0" t="0" r="r" b="b"/>
            <a:pathLst>
              <a:path w="5636" h="28">
                <a:moveTo>
                  <a:pt x="0" y="0"/>
                </a:moveTo>
                <a:lnTo>
                  <a:pt x="5636" y="0"/>
                </a:lnTo>
                <a:lnTo>
                  <a:pt x="56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8" name=""/>
          <p:cNvSpPr/>
          <p:nvPr/>
        </p:nvSpPr>
        <p:spPr>
          <a:xfrm>
            <a:off x="2695320" y="5276520"/>
            <a:ext cx="1962720" cy="10080"/>
          </a:xfrm>
          <a:custGeom>
            <a:avLst/>
            <a:gdLst/>
            <a:ahLst/>
            <a:rect l="0" t="0" r="r" b="b"/>
            <a:pathLst>
              <a:path w="5452" h="28">
                <a:moveTo>
                  <a:pt x="0" y="0"/>
                </a:moveTo>
                <a:lnTo>
                  <a:pt x="5452" y="0"/>
                </a:lnTo>
                <a:lnTo>
                  <a:pt x="545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9" name=""/>
          <p:cNvSpPr/>
          <p:nvPr/>
        </p:nvSpPr>
        <p:spPr>
          <a:xfrm>
            <a:off x="4657680" y="5276520"/>
            <a:ext cx="885960" cy="10080"/>
          </a:xfrm>
          <a:custGeom>
            <a:avLst/>
            <a:gdLst/>
            <a:ahLst/>
            <a:rect l="0" t="0" r="r" b="b"/>
            <a:pathLst>
              <a:path w="2461" h="28">
                <a:moveTo>
                  <a:pt x="0" y="0"/>
                </a:moveTo>
                <a:lnTo>
                  <a:pt x="2461" y="0"/>
                </a:lnTo>
                <a:lnTo>
                  <a:pt x="246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0" name=""/>
          <p:cNvSpPr/>
          <p:nvPr/>
        </p:nvSpPr>
        <p:spPr>
          <a:xfrm>
            <a:off x="5543280" y="5276520"/>
            <a:ext cx="1476720" cy="10080"/>
          </a:xfrm>
          <a:custGeom>
            <a:avLst/>
            <a:gdLst/>
            <a:ahLst/>
            <a:rect l="0" t="0" r="r" b="b"/>
            <a:pathLst>
              <a:path w="4102" h="28">
                <a:moveTo>
                  <a:pt x="0" y="0"/>
                </a:moveTo>
                <a:lnTo>
                  <a:pt x="4102" y="0"/>
                </a:lnTo>
                <a:lnTo>
                  <a:pt x="410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1" name=""/>
          <p:cNvSpPr txBox="1"/>
          <p:nvPr/>
        </p:nvSpPr>
        <p:spPr>
          <a:xfrm>
            <a:off x="666720" y="1568160"/>
            <a:ext cx="192852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Where to look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2" name=""/>
          <p:cNvSpPr txBox="1"/>
          <p:nvPr/>
        </p:nvSpPr>
        <p:spPr>
          <a:xfrm>
            <a:off x="1457280" y="2305440"/>
            <a:ext cx="4654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Topic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3" name=""/>
          <p:cNvSpPr txBox="1"/>
          <p:nvPr/>
        </p:nvSpPr>
        <p:spPr>
          <a:xfrm>
            <a:off x="3380040" y="2305440"/>
            <a:ext cx="58140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Advice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4" name=""/>
          <p:cNvSpPr txBox="1"/>
          <p:nvPr/>
        </p:nvSpPr>
        <p:spPr>
          <a:xfrm>
            <a:off x="4876200" y="2305440"/>
            <a:ext cx="4471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Try it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6021360" y="2305440"/>
            <a:ext cx="51264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Run it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6" name=""/>
          <p:cNvSpPr txBox="1"/>
          <p:nvPr/>
        </p:nvSpPr>
        <p:spPr>
          <a:xfrm>
            <a:off x="799920" y="274356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Terminology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7" name=""/>
          <p:cNvSpPr txBox="1"/>
          <p:nvPr/>
        </p:nvSpPr>
        <p:spPr>
          <a:xfrm>
            <a:off x="2821680" y="2743560"/>
            <a:ext cx="10414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PL-09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, PL-10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4779000" y="2743560"/>
            <a:ext cx="3085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gap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9" name=""/>
          <p:cNvSpPr txBox="1"/>
          <p:nvPr/>
        </p:nvSpPr>
        <p:spPr>
          <a:xfrm>
            <a:off x="5670000" y="2743560"/>
            <a:ext cx="95796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Ontoserver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0" name=""/>
          <p:cNvSpPr txBox="1"/>
          <p:nvPr/>
        </p:nvSpPr>
        <p:spPr>
          <a:xfrm>
            <a:off x="799920" y="3182040"/>
            <a:ext cx="78876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Directory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2821680" y="3182040"/>
            <a:ext cx="17107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Naming and Trading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2" name=""/>
          <p:cNvSpPr txBox="1"/>
          <p:nvPr/>
        </p:nvSpPr>
        <p:spPr>
          <a:xfrm>
            <a:off x="4779000" y="3182040"/>
            <a:ext cx="3085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gap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3" name=""/>
          <p:cNvSpPr txBox="1"/>
          <p:nvPr/>
        </p:nvSpPr>
        <p:spPr>
          <a:xfrm>
            <a:off x="5670000" y="3182040"/>
            <a:ext cx="397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repo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4" name=""/>
          <p:cNvSpPr txBox="1"/>
          <p:nvPr/>
        </p:nvSpPr>
        <p:spPr>
          <a:xfrm>
            <a:off x="799920" y="3620160"/>
            <a:ext cx="177300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Referral and booking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5" name=""/>
          <p:cNvSpPr txBox="1"/>
          <p:nvPr/>
        </p:nvSpPr>
        <p:spPr>
          <a:xfrm>
            <a:off x="2821680" y="3620160"/>
            <a:ext cx="143316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Async Invocation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6" name=""/>
          <p:cNvSpPr txBox="1"/>
          <p:nvPr/>
        </p:nvSpPr>
        <p:spPr>
          <a:xfrm>
            <a:off x="4779000" y="3620160"/>
            <a:ext cx="63324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snippet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5670000" y="3620160"/>
            <a:ext cx="67896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repo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, </a:t>
            </a:r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IG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8" name=""/>
          <p:cNvSpPr txBox="1"/>
          <p:nvPr/>
        </p:nvSpPr>
        <p:spPr>
          <a:xfrm>
            <a:off x="799920" y="4058280"/>
            <a:ext cx="7336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Eventing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2821680" y="4058280"/>
            <a:ext cx="13039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Event Observer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4779000" y="4058280"/>
            <a:ext cx="63324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snippet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5670000" y="4058280"/>
            <a:ext cx="12139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same snippets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2" name=""/>
          <p:cNvSpPr txBox="1"/>
          <p:nvPr/>
        </p:nvSpPr>
        <p:spPr>
          <a:xfrm>
            <a:off x="799920" y="4496400"/>
            <a:ext cx="128556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Legacy adapter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3" name=""/>
          <p:cNvSpPr txBox="1"/>
          <p:nvPr/>
        </p:nvSpPr>
        <p:spPr>
          <a:xfrm>
            <a:off x="2821680" y="4496400"/>
            <a:ext cx="130680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Legacy Adapter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4779000" y="4496400"/>
            <a:ext cx="3085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gap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5670000" y="4496400"/>
            <a:ext cx="4579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Caret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799920" y="4934520"/>
            <a:ext cx="114660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Conformance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2821680" y="4934520"/>
            <a:ext cx="47160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PL-15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8" name=""/>
          <p:cNvSpPr txBox="1"/>
          <p:nvPr/>
        </p:nvSpPr>
        <p:spPr>
          <a:xfrm>
            <a:off x="4779000" y="4934520"/>
            <a:ext cx="63324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snippet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9" name=""/>
          <p:cNvSpPr txBox="1"/>
          <p:nvPr/>
        </p:nvSpPr>
        <p:spPr>
          <a:xfrm>
            <a:off x="5670000" y="4934520"/>
            <a:ext cx="397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repo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11674440" y="6345000"/>
            <a:ext cx="232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12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en-AU</dc:language>
  <cp:lastModifiedBy/>
  <cp:revision>0</cp:revision>
  <dc:subject/>
  <dc:title/>
</cp:coreProperties>
</file>