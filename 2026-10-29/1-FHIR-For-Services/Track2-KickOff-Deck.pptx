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A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666720" y="2206080"/>
            <a:ext cx="5925960" cy="629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4050" spc="-1" strike="noStrike">
                <a:solidFill>
                  <a:srgbClr val="ffffff"/>
                </a:solidFill>
                <a:latin typeface="Calibri"/>
                <a:ea typeface="Calibri"/>
              </a:rPr>
              <a:t>FHIR for Services — Kick Oﬀ</a:t>
            </a:r>
            <a:endParaRPr b="0" lang="en-AU" sz="4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66720" y="3242520"/>
            <a:ext cx="67384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250" spc="-1" strike="noStrike">
                <a:solidFill>
                  <a:srgbClr val="00a9ce"/>
                </a:solidFill>
                <a:latin typeface="Calibri"/>
                <a:ea typeface="Calibri"/>
              </a:rPr>
              <a:t>Radiology Referral with Directory Discovery and Booking</a:t>
            </a:r>
            <a:endParaRPr b="0" lang="en-AU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66720" y="3840120"/>
            <a:ext cx="5334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FHIR in Queensland Health Connectathon | October 2026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66720" y="4335480"/>
            <a:ext cx="5203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Track leads: Daniel Foulkes · Joern Guy Süß · Paul Davies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66720" y="216216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66720" y="4781520"/>
            <a:ext cx="57240" cy="371520"/>
          </a:xfrm>
          <a:custGeom>
            <a:avLst/>
            <a:gdLst/>
            <a:ahLst/>
            <a:rect l="0" t="0" r="r" b="b"/>
            <a:pathLst>
              <a:path w="159" h="1032">
                <a:moveTo>
                  <a:pt x="0" y="0"/>
                </a:moveTo>
                <a:lnTo>
                  <a:pt x="159" y="0"/>
                </a:lnTo>
                <a:lnTo>
                  <a:pt x="15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66720" y="1701360"/>
            <a:ext cx="28947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What we are building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66720" y="2374200"/>
            <a:ext cx="55249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An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end-to-end radiology referral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workﬂow. A referrer: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18000" y="2898000"/>
            <a:ext cx="8804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1.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Discovers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 suitable imaging service in the Health Connect Provider Directory (HCPD)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752640" y="3352680"/>
            <a:ext cx="1943640" cy="324000"/>
          </a:xfrm>
          <a:custGeom>
            <a:avLst/>
            <a:gdLst/>
            <a:ahLst/>
            <a:rect l="0" t="0" r="r" b="b"/>
            <a:pathLst>
              <a:path w="5399" h="900">
                <a:moveTo>
                  <a:pt x="0" y="742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240" y="0"/>
                </a:lnTo>
                <a:cubicBezTo>
                  <a:pt x="5250" y="0"/>
                  <a:pt x="5261" y="1"/>
                  <a:pt x="5271" y="3"/>
                </a:cubicBezTo>
                <a:cubicBezTo>
                  <a:pt x="5281" y="5"/>
                  <a:pt x="5291" y="8"/>
                  <a:pt x="5301" y="12"/>
                </a:cubicBezTo>
                <a:cubicBezTo>
                  <a:pt x="5310" y="16"/>
                  <a:pt x="5319" y="21"/>
                  <a:pt x="5328" y="27"/>
                </a:cubicBezTo>
                <a:cubicBezTo>
                  <a:pt x="5337" y="32"/>
                  <a:pt x="5345" y="39"/>
                  <a:pt x="5352" y="46"/>
                </a:cubicBezTo>
                <a:cubicBezTo>
                  <a:pt x="5359" y="54"/>
                  <a:pt x="5366" y="62"/>
                  <a:pt x="5372" y="70"/>
                </a:cubicBezTo>
                <a:cubicBezTo>
                  <a:pt x="5378" y="79"/>
                  <a:pt x="5383" y="88"/>
                  <a:pt x="5386" y="98"/>
                </a:cubicBezTo>
                <a:cubicBezTo>
                  <a:pt x="5390" y="107"/>
                  <a:pt x="5393" y="117"/>
                  <a:pt x="5396" y="129"/>
                </a:cubicBezTo>
                <a:cubicBezTo>
                  <a:pt x="5398" y="139"/>
                  <a:pt x="5399" y="149"/>
                  <a:pt x="5399" y="160"/>
                </a:cubicBezTo>
                <a:lnTo>
                  <a:pt x="5399" y="742"/>
                </a:lnTo>
                <a:cubicBezTo>
                  <a:pt x="5399" y="752"/>
                  <a:pt x="5398" y="762"/>
                  <a:pt x="5396" y="773"/>
                </a:cubicBezTo>
                <a:cubicBezTo>
                  <a:pt x="5393" y="783"/>
                  <a:pt x="5390" y="793"/>
                  <a:pt x="5386" y="802"/>
                </a:cubicBezTo>
                <a:cubicBezTo>
                  <a:pt x="5383" y="812"/>
                  <a:pt x="5378" y="821"/>
                  <a:pt x="5372" y="830"/>
                </a:cubicBezTo>
                <a:cubicBezTo>
                  <a:pt x="5366" y="839"/>
                  <a:pt x="5359" y="847"/>
                  <a:pt x="5352" y="854"/>
                </a:cubicBezTo>
                <a:cubicBezTo>
                  <a:pt x="5345" y="861"/>
                  <a:pt x="5337" y="868"/>
                  <a:pt x="5328" y="874"/>
                </a:cubicBezTo>
                <a:cubicBezTo>
                  <a:pt x="5319" y="879"/>
                  <a:pt x="5310" y="884"/>
                  <a:pt x="5301" y="888"/>
                </a:cubicBezTo>
                <a:cubicBezTo>
                  <a:pt x="5291" y="892"/>
                  <a:pt x="5281" y="895"/>
                  <a:pt x="5271" y="897"/>
                </a:cubicBezTo>
                <a:cubicBezTo>
                  <a:pt x="5261" y="899"/>
                  <a:pt x="5250" y="900"/>
                  <a:pt x="5240" y="900"/>
                </a:cubicBezTo>
                <a:lnTo>
                  <a:pt x="159" y="900"/>
                </a:lnTo>
                <a:cubicBezTo>
                  <a:pt x="148" y="900"/>
                  <a:pt x="138" y="899"/>
                  <a:pt x="128" y="897"/>
                </a:cubicBezTo>
                <a:cubicBezTo>
                  <a:pt x="118" y="895"/>
                  <a:pt x="108" y="892"/>
                  <a:pt x="98" y="888"/>
                </a:cubicBezTo>
                <a:cubicBezTo>
                  <a:pt x="88" y="884"/>
                  <a:pt x="79" y="879"/>
                  <a:pt x="71" y="874"/>
                </a:cubicBezTo>
                <a:cubicBezTo>
                  <a:pt x="62" y="868"/>
                  <a:pt x="54" y="861"/>
                  <a:pt x="47" y="854"/>
                </a:cubicBezTo>
                <a:cubicBezTo>
                  <a:pt x="39" y="847"/>
                  <a:pt x="33" y="839"/>
                  <a:pt x="27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2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18000" y="3336120"/>
            <a:ext cx="2870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2.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Creates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 FHIR referral —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841200" y="3390840"/>
            <a:ext cx="17668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ServiceRequest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5924520" y="3352680"/>
            <a:ext cx="676440" cy="324000"/>
          </a:xfrm>
          <a:custGeom>
            <a:avLst/>
            <a:gdLst/>
            <a:ahLst/>
            <a:rect l="0" t="0" r="r" b="b"/>
            <a:pathLst>
              <a:path w="1879" h="900">
                <a:moveTo>
                  <a:pt x="0" y="742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720" y="0"/>
                </a:lnTo>
                <a:cubicBezTo>
                  <a:pt x="1731" y="0"/>
                  <a:pt x="1741" y="1"/>
                  <a:pt x="1751" y="3"/>
                </a:cubicBezTo>
                <a:cubicBezTo>
                  <a:pt x="1762" y="5"/>
                  <a:pt x="1771" y="8"/>
                  <a:pt x="1781" y="12"/>
                </a:cubicBezTo>
                <a:cubicBezTo>
                  <a:pt x="1791" y="16"/>
                  <a:pt x="1800" y="21"/>
                  <a:pt x="1809" y="27"/>
                </a:cubicBezTo>
                <a:cubicBezTo>
                  <a:pt x="1817" y="32"/>
                  <a:pt x="1825" y="39"/>
                  <a:pt x="1833" y="46"/>
                </a:cubicBezTo>
                <a:cubicBezTo>
                  <a:pt x="1840" y="54"/>
                  <a:pt x="1847" y="62"/>
                  <a:pt x="1852" y="70"/>
                </a:cubicBezTo>
                <a:cubicBezTo>
                  <a:pt x="1858" y="79"/>
                  <a:pt x="1863" y="88"/>
                  <a:pt x="1867" y="98"/>
                </a:cubicBezTo>
                <a:cubicBezTo>
                  <a:pt x="1871" y="107"/>
                  <a:pt x="1874" y="117"/>
                  <a:pt x="1876" y="129"/>
                </a:cubicBezTo>
                <a:cubicBezTo>
                  <a:pt x="1878" y="139"/>
                  <a:pt x="1879" y="149"/>
                  <a:pt x="1879" y="160"/>
                </a:cubicBezTo>
                <a:lnTo>
                  <a:pt x="1879" y="742"/>
                </a:lnTo>
                <a:cubicBezTo>
                  <a:pt x="1879" y="752"/>
                  <a:pt x="1878" y="762"/>
                  <a:pt x="1876" y="773"/>
                </a:cubicBezTo>
                <a:cubicBezTo>
                  <a:pt x="1874" y="783"/>
                  <a:pt x="1871" y="793"/>
                  <a:pt x="1867" y="802"/>
                </a:cubicBezTo>
                <a:cubicBezTo>
                  <a:pt x="1863" y="812"/>
                  <a:pt x="1858" y="821"/>
                  <a:pt x="1852" y="830"/>
                </a:cubicBezTo>
                <a:cubicBezTo>
                  <a:pt x="1847" y="839"/>
                  <a:pt x="1840" y="847"/>
                  <a:pt x="1833" y="854"/>
                </a:cubicBezTo>
                <a:cubicBezTo>
                  <a:pt x="1825" y="861"/>
                  <a:pt x="1817" y="868"/>
                  <a:pt x="1809" y="874"/>
                </a:cubicBezTo>
                <a:cubicBezTo>
                  <a:pt x="1800" y="879"/>
                  <a:pt x="1791" y="884"/>
                  <a:pt x="1781" y="888"/>
                </a:cubicBezTo>
                <a:cubicBezTo>
                  <a:pt x="1771" y="892"/>
                  <a:pt x="1762" y="895"/>
                  <a:pt x="1751" y="897"/>
                </a:cubicBezTo>
                <a:cubicBezTo>
                  <a:pt x="1741" y="899"/>
                  <a:pt x="1731" y="900"/>
                  <a:pt x="1720" y="900"/>
                </a:cubicBezTo>
                <a:lnTo>
                  <a:pt x="158" y="900"/>
                </a:lnTo>
                <a:cubicBezTo>
                  <a:pt x="148" y="900"/>
                  <a:pt x="138" y="899"/>
                  <a:pt x="127" y="897"/>
                </a:cubicBezTo>
                <a:cubicBezTo>
                  <a:pt x="117" y="895"/>
                  <a:pt x="107" y="892"/>
                  <a:pt x="98" y="888"/>
                </a:cubicBezTo>
                <a:cubicBezTo>
                  <a:pt x="88" y="884"/>
                  <a:pt x="79" y="879"/>
                  <a:pt x="70" y="874"/>
                </a:cubicBezTo>
                <a:cubicBezTo>
                  <a:pt x="61" y="868"/>
                  <a:pt x="53" y="861"/>
                  <a:pt x="46" y="854"/>
                </a:cubicBezTo>
                <a:cubicBezTo>
                  <a:pt x="39" y="847"/>
                  <a:pt x="32" y="839"/>
                  <a:pt x="26" y="830"/>
                </a:cubicBezTo>
                <a:cubicBezTo>
                  <a:pt x="21" y="821"/>
                  <a:pt x="16" y="812"/>
                  <a:pt x="12" y="802"/>
                </a:cubicBezTo>
                <a:cubicBezTo>
                  <a:pt x="8" y="793"/>
                  <a:pt x="5" y="783"/>
                  <a:pt x="3" y="773"/>
                </a:cubicBezTo>
                <a:cubicBezTo>
                  <a:pt x="1" y="762"/>
                  <a:pt x="0" y="752"/>
                  <a:pt x="0" y="74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693400" y="3336120"/>
            <a:ext cx="247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+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012720" y="3390840"/>
            <a:ext cx="505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Task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602040" y="3336120"/>
            <a:ext cx="2905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with supporting information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918000" y="3764880"/>
            <a:ext cx="70171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3.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Books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an appointment against slots the imaging provider publishes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66720" y="4288680"/>
            <a:ext cx="8568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…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with the referral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status tracked through a Task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until the appointment is conﬁrmed.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71640" y="4812480"/>
            <a:ext cx="8855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59636e"/>
                </a:solidFill>
                <a:latin typeface="Calibri"/>
                <a:ea typeface="Calibri"/>
              </a:rPr>
              <a:t>One cohesive scenario that exercises many core FHIR resources and workﬂow concepts.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2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66720" y="251424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942840" y="2847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2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66720" y="2053800"/>
            <a:ext cx="23979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Why this scenario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42840" y="3286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162080" y="2726640"/>
            <a:ext cx="7311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Realistic and manageable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relevant to Queensland Health participants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942840" y="3714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162080" y="3164760"/>
            <a:ext cx="8387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Exercises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Provider, ServiceRequest, Task, Schedule, Slot, Appointment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in one ﬂow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942840" y="4152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62080" y="3593160"/>
            <a:ext cx="5429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Complements QH's existing smart-referral capabilities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942840" y="4581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62080" y="4031280"/>
            <a:ext cx="8041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Builds on existing referral workﬂow prototypes and provider-directory concepts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62080" y="4460040"/>
            <a:ext cx="5098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Broadest track draw — plan for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35–40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participants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3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66720" y="22478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76080" y="243828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3000240" y="243828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76080" y="243828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000240" y="243828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76080" y="287640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000240" y="287640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76080" y="331452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000240" y="331452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76080" y="375264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3000240" y="375264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76080" y="419076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000240" y="419076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76080" y="4628880"/>
            <a:ext cx="2324520" cy="438480"/>
          </a:xfrm>
          <a:custGeom>
            <a:avLst/>
            <a:gdLst/>
            <a:ahLst/>
            <a:rect l="0" t="0" r="r" b="b"/>
            <a:pathLst>
              <a:path w="6457" h="1218">
                <a:moveTo>
                  <a:pt x="0" y="0"/>
                </a:moveTo>
                <a:lnTo>
                  <a:pt x="6457" y="0"/>
                </a:lnTo>
                <a:lnTo>
                  <a:pt x="645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000240" y="4628880"/>
            <a:ext cx="6534360" cy="438480"/>
          </a:xfrm>
          <a:custGeom>
            <a:avLst/>
            <a:gdLst/>
            <a:ahLst/>
            <a:rect l="0" t="0" r="r" b="b"/>
            <a:pathLst>
              <a:path w="18151" h="1218">
                <a:moveTo>
                  <a:pt x="0" y="0"/>
                </a:moveTo>
                <a:lnTo>
                  <a:pt x="18151" y="0"/>
                </a:lnTo>
                <a:lnTo>
                  <a:pt x="181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66720" y="24285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66720" y="2428560"/>
            <a:ext cx="2333880" cy="10440"/>
          </a:xfrm>
          <a:custGeom>
            <a:avLst/>
            <a:gdLst/>
            <a:ahLst/>
            <a:rect l="0" t="0" r="r" b="b"/>
            <a:pathLst>
              <a:path w="6483" h="29">
                <a:moveTo>
                  <a:pt x="0" y="0"/>
                </a:moveTo>
                <a:lnTo>
                  <a:pt x="6483" y="0"/>
                </a:lnTo>
                <a:lnTo>
                  <a:pt x="648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990520" y="242856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3000240" y="2428560"/>
            <a:ext cx="6544080" cy="10440"/>
          </a:xfrm>
          <a:custGeom>
            <a:avLst/>
            <a:gdLst/>
            <a:ahLst/>
            <a:rect l="0" t="0" r="r" b="b"/>
            <a:pathLst>
              <a:path w="18178" h="29">
                <a:moveTo>
                  <a:pt x="0" y="0"/>
                </a:moveTo>
                <a:lnTo>
                  <a:pt x="18178" y="0"/>
                </a:lnTo>
                <a:lnTo>
                  <a:pt x="1817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9534240" y="242856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66720" y="2866680"/>
            <a:ext cx="2333880" cy="10080"/>
          </a:xfrm>
          <a:custGeom>
            <a:avLst/>
            <a:gdLst/>
            <a:ah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000240" y="2866680"/>
            <a:ext cx="6544080" cy="10080"/>
          </a:xfrm>
          <a:custGeom>
            <a:avLst/>
            <a:gdLst/>
            <a:ahLst/>
            <a:rect l="0" t="0" r="r" b="b"/>
            <a:pathLst>
              <a:path w="18178" h="28">
                <a:moveTo>
                  <a:pt x="0" y="0"/>
                </a:moveTo>
                <a:lnTo>
                  <a:pt x="18178" y="0"/>
                </a:lnTo>
                <a:lnTo>
                  <a:pt x="181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66720" y="28764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990520" y="28764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9534240" y="28764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66720" y="33145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66720" y="330516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990520" y="33145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000240" y="3305160"/>
            <a:ext cx="6544080" cy="9720"/>
          </a:xfrm>
          <a:custGeom>
            <a:avLst/>
            <a:gdLst/>
            <a:ahLst/>
            <a:rect l="0" t="0" r="r" b="b"/>
            <a:pathLst>
              <a:path w="18178" h="27">
                <a:moveTo>
                  <a:pt x="0" y="0"/>
                </a:moveTo>
                <a:lnTo>
                  <a:pt x="18178" y="0"/>
                </a:lnTo>
                <a:lnTo>
                  <a:pt x="181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9534240" y="33145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66720" y="3752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66720" y="374328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990520" y="37526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000240" y="3743280"/>
            <a:ext cx="6544080" cy="9720"/>
          </a:xfrm>
          <a:custGeom>
            <a:avLst/>
            <a:gdLst/>
            <a:ahLst/>
            <a:rect l="0" t="0" r="r" b="b"/>
            <a:pathLst>
              <a:path w="18178" h="27">
                <a:moveTo>
                  <a:pt x="0" y="0"/>
                </a:moveTo>
                <a:lnTo>
                  <a:pt x="18178" y="0"/>
                </a:lnTo>
                <a:lnTo>
                  <a:pt x="181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9534240" y="37526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66720" y="4190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66720" y="418140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990520" y="41907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000240" y="4181400"/>
            <a:ext cx="6544080" cy="9720"/>
          </a:xfrm>
          <a:custGeom>
            <a:avLst/>
            <a:gdLst/>
            <a:ahLst/>
            <a:rect l="0" t="0" r="r" b="b"/>
            <a:pathLst>
              <a:path w="18178" h="27">
                <a:moveTo>
                  <a:pt x="0" y="0"/>
                </a:moveTo>
                <a:lnTo>
                  <a:pt x="18178" y="0"/>
                </a:lnTo>
                <a:lnTo>
                  <a:pt x="181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9534240" y="41907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66720" y="46288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66720" y="461952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990520" y="46288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000240" y="4619520"/>
            <a:ext cx="6544080" cy="9720"/>
          </a:xfrm>
          <a:custGeom>
            <a:avLst/>
            <a:gdLst/>
            <a:ahLst/>
            <a:rect l="0" t="0" r="r" b="b"/>
            <a:pathLst>
              <a:path w="18178" h="27">
                <a:moveTo>
                  <a:pt x="0" y="0"/>
                </a:moveTo>
                <a:lnTo>
                  <a:pt x="18178" y="0"/>
                </a:lnTo>
                <a:lnTo>
                  <a:pt x="181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534240" y="46288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66720" y="5057640"/>
            <a:ext cx="2333880" cy="9720"/>
          </a:xfrm>
          <a:custGeom>
            <a:avLst/>
            <a:gdLst/>
            <a:ah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3000240" y="5057640"/>
            <a:ext cx="6544080" cy="9720"/>
          </a:xfrm>
          <a:custGeom>
            <a:avLst/>
            <a:gdLst/>
            <a:ahLst/>
            <a:rect l="0" t="0" r="r" b="b"/>
            <a:pathLst>
              <a:path w="18178" h="27">
                <a:moveTo>
                  <a:pt x="0" y="0"/>
                </a:moveTo>
                <a:lnTo>
                  <a:pt x="18178" y="0"/>
                </a:lnTo>
                <a:lnTo>
                  <a:pt x="181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66720" y="1787040"/>
            <a:ext cx="24238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Systems and roles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643400" y="2524680"/>
            <a:ext cx="3862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Role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661360" y="2524680"/>
            <a:ext cx="1213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Responsibility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99920" y="2962800"/>
            <a:ext cx="1414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Referrer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(Placer)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128040" y="2962800"/>
            <a:ext cx="4112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Searches the directory, raises the referral, books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99920" y="3400920"/>
            <a:ext cx="1593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Provider Directory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128040" y="3400920"/>
            <a:ext cx="62780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Source of truth: organisations, services, locations, roles, endpoints (HCPD)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99920" y="3839040"/>
            <a:ext cx="1299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Referral Server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128040" y="3839040"/>
            <a:ext cx="6070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Holds ServiceRequest, Task, Schedule/Slot/Appointment (HAPI + QH IG)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99920" y="4277160"/>
            <a:ext cx="2065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Imaging Provider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(Filler)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128040" y="4277160"/>
            <a:ext cx="4877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Triages referrals, publishes availability, conﬁrms bookings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99920" y="4715280"/>
            <a:ext cx="1738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Patient app (stretch)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128040" y="4715280"/>
            <a:ext cx="3989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Lets the patient view the referral and self-book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4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66720" y="27050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71400" y="2890800"/>
            <a:ext cx="10849320" cy="1724400"/>
          </a:xfrm>
          <a:custGeom>
            <a:avLst/>
            <a:gdLst/>
            <a:ahLst/>
            <a:rect l="0" t="0" r="r" b="b"/>
            <a:pathLst>
              <a:path w="30137" h="4790">
                <a:moveTo>
                  <a:pt x="0" y="464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7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991" y="0"/>
                </a:lnTo>
                <a:cubicBezTo>
                  <a:pt x="30001" y="0"/>
                  <a:pt x="30010" y="1"/>
                  <a:pt x="30020" y="2"/>
                </a:cubicBezTo>
                <a:cubicBezTo>
                  <a:pt x="30029" y="4"/>
                  <a:pt x="30038" y="7"/>
                  <a:pt x="30047" y="11"/>
                </a:cubicBezTo>
                <a:cubicBezTo>
                  <a:pt x="30056" y="14"/>
                  <a:pt x="30064" y="19"/>
                  <a:pt x="30072" y="24"/>
                </a:cubicBezTo>
                <a:cubicBezTo>
                  <a:pt x="30080" y="29"/>
                  <a:pt x="30087" y="35"/>
                  <a:pt x="30094" y="42"/>
                </a:cubicBezTo>
                <a:cubicBezTo>
                  <a:pt x="30101" y="49"/>
                  <a:pt x="30107" y="56"/>
                  <a:pt x="30112" y="64"/>
                </a:cubicBezTo>
                <a:cubicBezTo>
                  <a:pt x="30118" y="72"/>
                  <a:pt x="30122" y="81"/>
                  <a:pt x="30126" y="89"/>
                </a:cubicBezTo>
                <a:cubicBezTo>
                  <a:pt x="30129" y="98"/>
                  <a:pt x="30132" y="107"/>
                  <a:pt x="30134" y="117"/>
                </a:cubicBezTo>
                <a:cubicBezTo>
                  <a:pt x="30136" y="126"/>
                  <a:pt x="30137" y="136"/>
                  <a:pt x="30137" y="145"/>
                </a:cubicBezTo>
                <a:lnTo>
                  <a:pt x="30137" y="4644"/>
                </a:lnTo>
                <a:cubicBezTo>
                  <a:pt x="30137" y="4654"/>
                  <a:pt x="30136" y="4663"/>
                  <a:pt x="30134" y="4672"/>
                </a:cubicBezTo>
                <a:cubicBezTo>
                  <a:pt x="30132" y="4682"/>
                  <a:pt x="30129" y="4691"/>
                  <a:pt x="30126" y="4700"/>
                </a:cubicBezTo>
                <a:cubicBezTo>
                  <a:pt x="30122" y="4709"/>
                  <a:pt x="30118" y="4717"/>
                  <a:pt x="30112" y="4725"/>
                </a:cubicBezTo>
                <a:cubicBezTo>
                  <a:pt x="30107" y="4733"/>
                  <a:pt x="30101" y="4740"/>
                  <a:pt x="30094" y="4747"/>
                </a:cubicBezTo>
                <a:cubicBezTo>
                  <a:pt x="30087" y="4754"/>
                  <a:pt x="30080" y="4760"/>
                  <a:pt x="30072" y="4765"/>
                </a:cubicBezTo>
                <a:cubicBezTo>
                  <a:pt x="30064" y="4770"/>
                  <a:pt x="30056" y="4775"/>
                  <a:pt x="30047" y="4778"/>
                </a:cubicBezTo>
                <a:cubicBezTo>
                  <a:pt x="30038" y="4782"/>
                  <a:pt x="30029" y="4785"/>
                  <a:pt x="30020" y="4787"/>
                </a:cubicBezTo>
                <a:cubicBezTo>
                  <a:pt x="30010" y="4789"/>
                  <a:pt x="30001" y="4790"/>
                  <a:pt x="29991" y="4790"/>
                </a:cubicBezTo>
                <a:lnTo>
                  <a:pt x="145" y="4790"/>
                </a:lnTo>
                <a:cubicBezTo>
                  <a:pt x="136" y="4790"/>
                  <a:pt x="126" y="4789"/>
                  <a:pt x="117" y="4787"/>
                </a:cubicBezTo>
                <a:cubicBezTo>
                  <a:pt x="108" y="4785"/>
                  <a:pt x="98" y="4782"/>
                  <a:pt x="90" y="4778"/>
                </a:cubicBezTo>
                <a:cubicBezTo>
                  <a:pt x="81" y="4775"/>
                  <a:pt x="72" y="4770"/>
                  <a:pt x="64" y="4765"/>
                </a:cubicBezTo>
                <a:cubicBezTo>
                  <a:pt x="57" y="4760"/>
                  <a:pt x="49" y="4754"/>
                  <a:pt x="42" y="4747"/>
                </a:cubicBezTo>
                <a:cubicBezTo>
                  <a:pt x="36" y="4740"/>
                  <a:pt x="30" y="4733"/>
                  <a:pt x="24" y="4725"/>
                </a:cubicBezTo>
                <a:cubicBezTo>
                  <a:pt x="19" y="4717"/>
                  <a:pt x="15" y="4709"/>
                  <a:pt x="11" y="4700"/>
                </a:cubicBezTo>
                <a:cubicBezTo>
                  <a:pt x="7" y="4691"/>
                  <a:pt x="4" y="4682"/>
                  <a:pt x="3" y="4672"/>
                </a:cubicBezTo>
                <a:cubicBezTo>
                  <a:pt x="1" y="4663"/>
                  <a:pt x="0" y="4654"/>
                  <a:pt x="0" y="464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71400" y="2890800"/>
            <a:ext cx="10849320" cy="1724400"/>
          </a:xfrm>
          <a:custGeom>
            <a:avLst/>
            <a:gdLst/>
            <a:ahLst/>
            <a:rect l="0" t="0" r="r" b="b"/>
            <a:pathLst>
              <a:path w="30137" h="4790">
                <a:moveTo>
                  <a:pt x="0" y="464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7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991" y="0"/>
                </a:lnTo>
                <a:cubicBezTo>
                  <a:pt x="30001" y="0"/>
                  <a:pt x="30010" y="1"/>
                  <a:pt x="30020" y="2"/>
                </a:cubicBezTo>
                <a:cubicBezTo>
                  <a:pt x="30029" y="4"/>
                  <a:pt x="30038" y="7"/>
                  <a:pt x="30047" y="11"/>
                </a:cubicBezTo>
                <a:cubicBezTo>
                  <a:pt x="30056" y="14"/>
                  <a:pt x="30064" y="19"/>
                  <a:pt x="30072" y="24"/>
                </a:cubicBezTo>
                <a:cubicBezTo>
                  <a:pt x="30080" y="29"/>
                  <a:pt x="30087" y="35"/>
                  <a:pt x="30094" y="42"/>
                </a:cubicBezTo>
                <a:cubicBezTo>
                  <a:pt x="30101" y="49"/>
                  <a:pt x="30107" y="56"/>
                  <a:pt x="30112" y="64"/>
                </a:cubicBezTo>
                <a:cubicBezTo>
                  <a:pt x="30118" y="72"/>
                  <a:pt x="30122" y="81"/>
                  <a:pt x="30126" y="89"/>
                </a:cubicBezTo>
                <a:cubicBezTo>
                  <a:pt x="30129" y="98"/>
                  <a:pt x="30132" y="107"/>
                  <a:pt x="30134" y="117"/>
                </a:cubicBezTo>
                <a:cubicBezTo>
                  <a:pt x="30136" y="126"/>
                  <a:pt x="30137" y="136"/>
                  <a:pt x="30137" y="145"/>
                </a:cubicBezTo>
                <a:lnTo>
                  <a:pt x="30137" y="4644"/>
                </a:lnTo>
                <a:cubicBezTo>
                  <a:pt x="30137" y="4654"/>
                  <a:pt x="30136" y="4663"/>
                  <a:pt x="30134" y="4672"/>
                </a:cubicBezTo>
                <a:cubicBezTo>
                  <a:pt x="30132" y="4682"/>
                  <a:pt x="30129" y="4691"/>
                  <a:pt x="30126" y="4700"/>
                </a:cubicBezTo>
                <a:cubicBezTo>
                  <a:pt x="30122" y="4709"/>
                  <a:pt x="30118" y="4717"/>
                  <a:pt x="30112" y="4725"/>
                </a:cubicBezTo>
                <a:cubicBezTo>
                  <a:pt x="30107" y="4733"/>
                  <a:pt x="30101" y="4740"/>
                  <a:pt x="30094" y="4747"/>
                </a:cubicBezTo>
                <a:cubicBezTo>
                  <a:pt x="30087" y="4754"/>
                  <a:pt x="30080" y="4760"/>
                  <a:pt x="30072" y="4765"/>
                </a:cubicBezTo>
                <a:cubicBezTo>
                  <a:pt x="30064" y="4770"/>
                  <a:pt x="30056" y="4775"/>
                  <a:pt x="30047" y="4778"/>
                </a:cubicBezTo>
                <a:cubicBezTo>
                  <a:pt x="30038" y="4782"/>
                  <a:pt x="30029" y="4785"/>
                  <a:pt x="30020" y="4787"/>
                </a:cubicBezTo>
                <a:cubicBezTo>
                  <a:pt x="30010" y="4789"/>
                  <a:pt x="30001" y="4790"/>
                  <a:pt x="29991" y="4790"/>
                </a:cubicBezTo>
                <a:lnTo>
                  <a:pt x="145" y="4790"/>
                </a:lnTo>
                <a:cubicBezTo>
                  <a:pt x="136" y="4790"/>
                  <a:pt x="126" y="4789"/>
                  <a:pt x="117" y="4787"/>
                </a:cubicBezTo>
                <a:cubicBezTo>
                  <a:pt x="108" y="4785"/>
                  <a:pt x="98" y="4782"/>
                  <a:pt x="90" y="4778"/>
                </a:cubicBezTo>
                <a:cubicBezTo>
                  <a:pt x="81" y="4775"/>
                  <a:pt x="72" y="4770"/>
                  <a:pt x="64" y="4765"/>
                </a:cubicBezTo>
                <a:cubicBezTo>
                  <a:pt x="57" y="4760"/>
                  <a:pt x="49" y="4754"/>
                  <a:pt x="42" y="4747"/>
                </a:cubicBezTo>
                <a:cubicBezTo>
                  <a:pt x="36" y="4740"/>
                  <a:pt x="30" y="4733"/>
                  <a:pt x="24" y="4725"/>
                </a:cubicBezTo>
                <a:cubicBezTo>
                  <a:pt x="19" y="4717"/>
                  <a:pt x="15" y="4709"/>
                  <a:pt x="11" y="4700"/>
                </a:cubicBezTo>
                <a:cubicBezTo>
                  <a:pt x="7" y="4691"/>
                  <a:pt x="4" y="4682"/>
                  <a:pt x="3" y="4672"/>
                </a:cubicBezTo>
                <a:cubicBezTo>
                  <a:pt x="1" y="4663"/>
                  <a:pt x="0" y="4654"/>
                  <a:pt x="0" y="464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66720" y="2234880"/>
            <a:ext cx="11682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The ﬂow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155040" y="3047760"/>
            <a:ext cx="167040" cy="167040"/>
          </a:xfrm>
          <a:custGeom>
            <a:avLst/>
            <a:gdLst/>
            <a:ahLst/>
            <a:rect l="0" t="0" r="r" b="b"/>
            <a:pathLst>
              <a:path w="464" h="464">
                <a:moveTo>
                  <a:pt x="464" y="413"/>
                </a:moveTo>
                <a:cubicBezTo>
                  <a:pt x="464" y="441"/>
                  <a:pt x="441" y="464"/>
                  <a:pt x="413" y="464"/>
                </a:cubicBezTo>
                <a:lnTo>
                  <a:pt x="51" y="464"/>
                </a:lnTo>
                <a:cubicBezTo>
                  <a:pt x="23" y="464"/>
                  <a:pt x="0" y="441"/>
                  <a:pt x="0" y="413"/>
                </a:cubicBezTo>
                <a:lnTo>
                  <a:pt x="0" y="52"/>
                </a:lnTo>
                <a:cubicBezTo>
                  <a:pt x="0" y="23"/>
                  <a:pt x="23" y="0"/>
                  <a:pt x="51" y="0"/>
                </a:cubicBezTo>
                <a:lnTo>
                  <a:pt x="413" y="0"/>
                </a:lnTo>
                <a:cubicBezTo>
                  <a:pt x="441" y="0"/>
                  <a:pt x="464" y="23"/>
                  <a:pt x="464" y="52"/>
                </a:cubicBezTo>
                <a:lnTo>
                  <a:pt x="464" y="41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3192120" y="3080160"/>
            <a:ext cx="102240" cy="102240"/>
          </a:xfrm>
          <a:custGeom>
            <a:avLst/>
            <a:gdLst/>
            <a:ahLst/>
            <a:rect l="0" t="0" r="r" b="b"/>
            <a:pathLst>
              <a:path w="284" h="284">
                <a:moveTo>
                  <a:pt x="0" y="0"/>
                </a:moveTo>
                <a:lnTo>
                  <a:pt x="284" y="143"/>
                </a:lnTo>
                <a:lnTo>
                  <a:pt x="0" y="2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28720" y="3060000"/>
            <a:ext cx="23140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Referrer ──(1) search──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332160" y="306000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HCPD  (HealthcareService / Location / Endpoint)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28720" y="3249360"/>
            <a:ext cx="5036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   │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368040" y="3449520"/>
            <a:ext cx="174960" cy="167040"/>
          </a:xfrm>
          <a:custGeom>
            <a:avLst/>
            <a:gdLst/>
            <a:ahLst/>
            <a:rect l="0" t="0" r="r" b="b"/>
            <a:pathLst>
              <a:path w="486" h="464">
                <a:moveTo>
                  <a:pt x="486" y="413"/>
                </a:moveTo>
                <a:cubicBezTo>
                  <a:pt x="486" y="441"/>
                  <a:pt x="460" y="464"/>
                  <a:pt x="431" y="464"/>
                </a:cubicBezTo>
                <a:lnTo>
                  <a:pt x="54" y="464"/>
                </a:lnTo>
                <a:cubicBezTo>
                  <a:pt x="24" y="464"/>
                  <a:pt x="0" y="441"/>
                  <a:pt x="0" y="413"/>
                </a:cubicBezTo>
                <a:lnTo>
                  <a:pt x="0" y="51"/>
                </a:lnTo>
                <a:cubicBezTo>
                  <a:pt x="0" y="23"/>
                  <a:pt x="24" y="0"/>
                  <a:pt x="54" y="0"/>
                </a:cubicBezTo>
                <a:lnTo>
                  <a:pt x="431" y="0"/>
                </a:lnTo>
                <a:cubicBezTo>
                  <a:pt x="460" y="0"/>
                  <a:pt x="486" y="23"/>
                  <a:pt x="486" y="51"/>
                </a:cubicBezTo>
                <a:lnTo>
                  <a:pt x="486" y="41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406920" y="3481920"/>
            <a:ext cx="106920" cy="102240"/>
          </a:xfrm>
          <a:custGeom>
            <a:avLst/>
            <a:gdLst/>
            <a:ahLst/>
            <a:rect l="0" t="0" r="r" b="b"/>
            <a:pathLst>
              <a:path w="297" h="284">
                <a:moveTo>
                  <a:pt x="0" y="0"/>
                </a:moveTo>
                <a:lnTo>
                  <a:pt x="297" y="142"/>
                </a:lnTo>
                <a:lnTo>
                  <a:pt x="0" y="2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28720" y="3461760"/>
            <a:ext cx="553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   ├──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(2) POST Bundle (ServiceRequest + Task + info)──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8270280" y="3449520"/>
            <a:ext cx="167040" cy="167040"/>
          </a:xfrm>
          <a:custGeom>
            <a:avLst/>
            <a:gdLst/>
            <a:ahLst/>
            <a:rect l="0" t="0" r="r" b="b"/>
            <a:pathLst>
              <a:path w="464" h="464">
                <a:moveTo>
                  <a:pt x="0" y="413"/>
                </a:moveTo>
                <a:cubicBezTo>
                  <a:pt x="0" y="441"/>
                  <a:pt x="23" y="464"/>
                  <a:pt x="52" y="464"/>
                </a:cubicBezTo>
                <a:lnTo>
                  <a:pt x="413" y="464"/>
                </a:lnTo>
                <a:cubicBezTo>
                  <a:pt x="441" y="464"/>
                  <a:pt x="464" y="441"/>
                  <a:pt x="464" y="413"/>
                </a:cubicBezTo>
                <a:lnTo>
                  <a:pt x="464" y="51"/>
                </a:lnTo>
                <a:cubicBezTo>
                  <a:pt x="464" y="23"/>
                  <a:pt x="441" y="0"/>
                  <a:pt x="413" y="0"/>
                </a:cubicBezTo>
                <a:lnTo>
                  <a:pt x="52" y="0"/>
                </a:lnTo>
                <a:cubicBezTo>
                  <a:pt x="23" y="0"/>
                  <a:pt x="0" y="23"/>
                  <a:pt x="0" y="51"/>
                </a:cubicBezTo>
                <a:lnTo>
                  <a:pt x="0" y="41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8298000" y="3481920"/>
            <a:ext cx="102240" cy="102240"/>
          </a:xfrm>
          <a:custGeom>
            <a:avLst/>
            <a:gdLst/>
            <a:ahLst/>
            <a:rect l="0" t="0" r="r" b="b"/>
            <a:pathLst>
              <a:path w="284" h="284">
                <a:moveTo>
                  <a:pt x="284" y="0"/>
                </a:moveTo>
                <a:lnTo>
                  <a:pt x="0" y="142"/>
                </a:lnTo>
                <a:lnTo>
                  <a:pt x="284" y="284"/>
                </a:lnTo>
                <a:lnTo>
                  <a:pt x="28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547320" y="3461760"/>
            <a:ext cx="17103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Referral Server 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8447760" y="3461760"/>
            <a:ext cx="29178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──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(3) poll── Imaging Provider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28720" y="3651120"/>
            <a:ext cx="895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   │                                                        ▲                          │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171560" y="3843360"/>
            <a:ext cx="174600" cy="174960"/>
          </a:xfrm>
          <a:custGeom>
            <a:avLst/>
            <a:gdLst/>
            <a:ahLst/>
            <a:rect l="0" t="0" r="r" b="b"/>
            <a:pathLst>
              <a:path w="485" h="486">
                <a:moveTo>
                  <a:pt x="0" y="432"/>
                </a:moveTo>
                <a:cubicBezTo>
                  <a:pt x="0" y="462"/>
                  <a:pt x="24" y="486"/>
                  <a:pt x="54" y="486"/>
                </a:cubicBezTo>
                <a:lnTo>
                  <a:pt x="431" y="486"/>
                </a:lnTo>
                <a:cubicBezTo>
                  <a:pt x="461" y="486"/>
                  <a:pt x="485" y="462"/>
                  <a:pt x="485" y="432"/>
                </a:cubicBezTo>
                <a:lnTo>
                  <a:pt x="485" y="54"/>
                </a:lnTo>
                <a:cubicBezTo>
                  <a:pt x="485" y="25"/>
                  <a:pt x="461" y="0"/>
                  <a:pt x="431" y="0"/>
                </a:cubicBezTo>
                <a:lnTo>
                  <a:pt x="54" y="0"/>
                </a:lnTo>
                <a:cubicBezTo>
                  <a:pt x="24" y="0"/>
                  <a:pt x="0" y="25"/>
                  <a:pt x="0" y="54"/>
                </a:cubicBezTo>
                <a:lnTo>
                  <a:pt x="0" y="432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200360" y="387756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7" y="0"/>
                </a:moveTo>
                <a:lnTo>
                  <a:pt x="0" y="148"/>
                </a:lnTo>
                <a:lnTo>
                  <a:pt x="297" y="297"/>
                </a:lnTo>
                <a:lnTo>
                  <a:pt x="29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28720" y="3855600"/>
            <a:ext cx="6337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   ├──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(4) search Slot ───────────────────────────────────────┤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351200" y="3855600"/>
            <a:ext cx="2817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── 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publishes Schedule/Slot ┤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28720" y="4052880"/>
            <a:ext cx="90532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   ├──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(5) POST Appointment (proposed) ───────────────────────┤                          │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171560" y="4245120"/>
            <a:ext cx="174600" cy="167040"/>
          </a:xfrm>
          <a:custGeom>
            <a:avLst/>
            <a:gdLst/>
            <a:ahLst/>
            <a:rect l="0" t="0" r="r" b="b"/>
            <a:pathLst>
              <a:path w="485" h="464">
                <a:moveTo>
                  <a:pt x="0" y="413"/>
                </a:moveTo>
                <a:cubicBezTo>
                  <a:pt x="0" y="441"/>
                  <a:pt x="24" y="464"/>
                  <a:pt x="54" y="464"/>
                </a:cubicBezTo>
                <a:lnTo>
                  <a:pt x="431" y="464"/>
                </a:lnTo>
                <a:cubicBezTo>
                  <a:pt x="461" y="464"/>
                  <a:pt x="485" y="441"/>
                  <a:pt x="485" y="413"/>
                </a:cubicBezTo>
                <a:lnTo>
                  <a:pt x="485" y="53"/>
                </a:lnTo>
                <a:cubicBezTo>
                  <a:pt x="485" y="24"/>
                  <a:pt x="461" y="0"/>
                  <a:pt x="431" y="0"/>
                </a:cubicBezTo>
                <a:lnTo>
                  <a:pt x="54" y="0"/>
                </a:lnTo>
                <a:cubicBezTo>
                  <a:pt x="24" y="0"/>
                  <a:pt x="0" y="24"/>
                  <a:pt x="0" y="53"/>
                </a:cubicBezTo>
                <a:lnTo>
                  <a:pt x="0" y="41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200360" y="4277520"/>
            <a:ext cx="106920" cy="102240"/>
          </a:xfrm>
          <a:custGeom>
            <a:avLst/>
            <a:gdLst/>
            <a:ahLst/>
            <a:rect l="0" t="0" r="r" b="b"/>
            <a:pathLst>
              <a:path w="297" h="284">
                <a:moveTo>
                  <a:pt x="297" y="0"/>
                </a:moveTo>
                <a:lnTo>
                  <a:pt x="0" y="142"/>
                </a:lnTo>
                <a:lnTo>
                  <a:pt x="297" y="284"/>
                </a:lnTo>
                <a:lnTo>
                  <a:pt x="29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828720" y="4257360"/>
            <a:ext cx="6337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    └──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(6) read Task / Appointment status ────────────────────┘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351200" y="4257360"/>
            <a:ext cx="27165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── </a:t>
            </a:r>
            <a:r>
              <a:rPr b="0" lang="en-AU" sz="1320" spc="-1" strike="noStrike">
                <a:solidFill>
                  <a:srgbClr val="007a53"/>
                </a:solidFill>
                <a:latin typeface="Courier New"/>
                <a:ea typeface="Courier New"/>
              </a:rPr>
              <a:t>accept Task, book Appt ┘</a:t>
            </a:r>
            <a:endParaRPr b="0" lang="en-AU" sz="13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5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66720" y="229536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94284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66720" y="1834920"/>
            <a:ext cx="253224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Standards in scope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942840" y="3066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62080" y="2507400"/>
            <a:ext cx="8825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AU Core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Patient, Practitioner, PractitionerRole, Organization, Condition, Observation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942840" y="34956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62080" y="2945520"/>
            <a:ext cx="9221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AU eRequesting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imaging ServiceRequest, Group + fulﬁlment Task (baseline to align with)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942840" y="39337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162080" y="3374280"/>
            <a:ext cx="9891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QH FHIR Referrals IG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QH extensions: referral category, urgency, facility identiﬁers </a:t>
            </a:r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(version TBC)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942840" y="4362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162080" y="3812400"/>
            <a:ext cx="7939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HCPD / Provider Directory IG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directory resources and search </a:t>
            </a:r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(spec pending)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942840" y="4800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162080" y="4241160"/>
            <a:ext cx="5189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FHIR R4 Scheduling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Schedule, Slot, Appointment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086000" y="4705200"/>
            <a:ext cx="1048320" cy="314640"/>
          </a:xfrm>
          <a:custGeom>
            <a:avLst/>
            <a:gdLst/>
            <a:ahLst/>
            <a:rect l="0" t="0" r="r" b="b"/>
            <a:pathLst>
              <a:path w="2912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53" y="0"/>
                </a:lnTo>
                <a:cubicBezTo>
                  <a:pt x="2763" y="0"/>
                  <a:pt x="2774" y="1"/>
                  <a:pt x="2784" y="3"/>
                </a:cubicBezTo>
                <a:cubicBezTo>
                  <a:pt x="2794" y="5"/>
                  <a:pt x="2804" y="8"/>
                  <a:pt x="2814" y="12"/>
                </a:cubicBezTo>
                <a:cubicBezTo>
                  <a:pt x="2823" y="16"/>
                  <a:pt x="2832" y="21"/>
                  <a:pt x="2841" y="27"/>
                </a:cubicBezTo>
                <a:cubicBezTo>
                  <a:pt x="2850" y="32"/>
                  <a:pt x="2858" y="39"/>
                  <a:pt x="2865" y="46"/>
                </a:cubicBezTo>
                <a:cubicBezTo>
                  <a:pt x="2872" y="54"/>
                  <a:pt x="2879" y="62"/>
                  <a:pt x="2885" y="70"/>
                </a:cubicBezTo>
                <a:cubicBezTo>
                  <a:pt x="2891" y="79"/>
                  <a:pt x="2895" y="88"/>
                  <a:pt x="2899" y="98"/>
                </a:cubicBezTo>
                <a:cubicBezTo>
                  <a:pt x="2903" y="108"/>
                  <a:pt x="2906" y="117"/>
                  <a:pt x="2908" y="128"/>
                </a:cubicBezTo>
                <a:cubicBezTo>
                  <a:pt x="2911" y="138"/>
                  <a:pt x="2912" y="148"/>
                  <a:pt x="2912" y="159"/>
                </a:cubicBezTo>
                <a:lnTo>
                  <a:pt x="2912" y="715"/>
                </a:lnTo>
                <a:cubicBezTo>
                  <a:pt x="2912" y="726"/>
                  <a:pt x="2911" y="736"/>
                  <a:pt x="2908" y="746"/>
                </a:cubicBezTo>
                <a:cubicBezTo>
                  <a:pt x="2906" y="756"/>
                  <a:pt x="2903" y="766"/>
                  <a:pt x="2899" y="776"/>
                </a:cubicBezTo>
                <a:cubicBezTo>
                  <a:pt x="2895" y="786"/>
                  <a:pt x="2891" y="795"/>
                  <a:pt x="2885" y="803"/>
                </a:cubicBezTo>
                <a:cubicBezTo>
                  <a:pt x="2879" y="812"/>
                  <a:pt x="2872" y="820"/>
                  <a:pt x="2865" y="828"/>
                </a:cubicBezTo>
                <a:cubicBezTo>
                  <a:pt x="2858" y="835"/>
                  <a:pt x="2850" y="841"/>
                  <a:pt x="2841" y="847"/>
                </a:cubicBezTo>
                <a:cubicBezTo>
                  <a:pt x="2832" y="853"/>
                  <a:pt x="2823" y="858"/>
                  <a:pt x="2814" y="862"/>
                </a:cubicBezTo>
                <a:cubicBezTo>
                  <a:pt x="2804" y="866"/>
                  <a:pt x="2794" y="869"/>
                  <a:pt x="2784" y="871"/>
                </a:cubicBezTo>
                <a:cubicBezTo>
                  <a:pt x="2774" y="873"/>
                  <a:pt x="2763" y="874"/>
                  <a:pt x="2753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8" y="858"/>
                  <a:pt x="79" y="853"/>
                  <a:pt x="71" y="847"/>
                </a:cubicBezTo>
                <a:cubicBezTo>
                  <a:pt x="62" y="841"/>
                  <a:pt x="54" y="835"/>
                  <a:pt x="47" y="828"/>
                </a:cubicBezTo>
                <a:cubicBezTo>
                  <a:pt x="39" y="820"/>
                  <a:pt x="33" y="812"/>
                  <a:pt x="27" y="803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6"/>
                  <a:pt x="5" y="756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162080" y="4679280"/>
            <a:ext cx="2936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Bulk Data Access IG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— HCPD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166280" y="4743360"/>
            <a:ext cx="8830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$export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134320" y="4679280"/>
            <a:ext cx="9151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(stretch)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6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66720" y="21240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66720" y="1663200"/>
            <a:ext cx="37587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Two streams, run in parallel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942840" y="3019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66720" y="2384640"/>
            <a:ext cx="2036880" cy="32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100" spc="-1" strike="noStrike">
                <a:solidFill>
                  <a:srgbClr val="1e22aa"/>
                </a:solidFill>
                <a:latin typeface="Calibri"/>
                <a:ea typeface="Calibri"/>
              </a:rPr>
              <a:t>Browser core path</a:t>
            </a:r>
            <a:endParaRPr b="0" lang="en-AU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942840" y="3457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62080" y="2898000"/>
            <a:ext cx="8928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HCPD queries, referral creation and booking via a client (Postman / Bruno / test harness)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162080" y="3336120"/>
            <a:ext cx="7453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Right for less-technical participants and anyone with locked-down laptops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942840" y="4543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66720" y="3908520"/>
            <a:ext cx="3742200" cy="32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100" spc="-1" strike="noStrike">
                <a:solidFill>
                  <a:srgbClr val="1e22aa"/>
                </a:solidFill>
                <a:latin typeface="Calibri"/>
                <a:ea typeface="Calibri"/>
              </a:rPr>
              <a:t>Developer deep dive (~10 people)</a:t>
            </a:r>
            <a:endParaRPr b="0" lang="en-AU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942840" y="4971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62080" y="4421880"/>
            <a:ext cx="7309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Local tooling, extending the workﬂow, validation and state management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162080" y="4850640"/>
            <a:ext cx="6285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Laptop permissions and prerequisites shared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before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the event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7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66720" y="242856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76080" y="260964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990440" y="2609640"/>
            <a:ext cx="7992000" cy="438480"/>
          </a:xfrm>
          <a:custGeom>
            <a:avLst/>
            <a:gdLst/>
            <a:ahLst/>
            <a:rect l="0" t="0" r="r" b="b"/>
            <a:pathLst>
              <a:path w="22200" h="1218">
                <a:moveTo>
                  <a:pt x="0" y="0"/>
                </a:moveTo>
                <a:lnTo>
                  <a:pt x="22200" y="0"/>
                </a:lnTo>
                <a:lnTo>
                  <a:pt x="2220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76080" y="260964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990440" y="2609640"/>
            <a:ext cx="7992000" cy="438480"/>
          </a:xfrm>
          <a:custGeom>
            <a:avLst/>
            <a:gdLst/>
            <a:ahLst/>
            <a:rect l="0" t="0" r="r" b="b"/>
            <a:pathLst>
              <a:path w="22200" h="1218">
                <a:moveTo>
                  <a:pt x="0" y="0"/>
                </a:moveTo>
                <a:lnTo>
                  <a:pt x="22200" y="0"/>
                </a:lnTo>
                <a:lnTo>
                  <a:pt x="2220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76080" y="304776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990440" y="3047760"/>
            <a:ext cx="7992000" cy="438480"/>
          </a:xfrm>
          <a:custGeom>
            <a:avLst/>
            <a:gdLst/>
            <a:ahLst/>
            <a:rect l="0" t="0" r="r" b="b"/>
            <a:pathLst>
              <a:path w="22200" h="1218">
                <a:moveTo>
                  <a:pt x="0" y="0"/>
                </a:moveTo>
                <a:lnTo>
                  <a:pt x="22200" y="0"/>
                </a:lnTo>
                <a:lnTo>
                  <a:pt x="2220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76080" y="348588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990440" y="3485880"/>
            <a:ext cx="7992000" cy="438480"/>
          </a:xfrm>
          <a:custGeom>
            <a:avLst/>
            <a:gdLst/>
            <a:ahLst/>
            <a:rect l="0" t="0" r="r" b="b"/>
            <a:pathLst>
              <a:path w="22200" h="1218">
                <a:moveTo>
                  <a:pt x="0" y="0"/>
                </a:moveTo>
                <a:lnTo>
                  <a:pt x="22200" y="0"/>
                </a:lnTo>
                <a:lnTo>
                  <a:pt x="2220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76080" y="392400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990440" y="3924000"/>
            <a:ext cx="7992000" cy="438480"/>
          </a:xfrm>
          <a:custGeom>
            <a:avLst/>
            <a:gdLst/>
            <a:ahLst/>
            <a:rect l="0" t="0" r="r" b="b"/>
            <a:pathLst>
              <a:path w="22200" h="1218">
                <a:moveTo>
                  <a:pt x="0" y="0"/>
                </a:moveTo>
                <a:lnTo>
                  <a:pt x="22200" y="0"/>
                </a:lnTo>
                <a:lnTo>
                  <a:pt x="2220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66720" y="26096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666720" y="260964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990440" y="260964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000160" y="2609640"/>
            <a:ext cx="7991640" cy="10080"/>
          </a:xfrm>
          <a:custGeom>
            <a:avLst/>
            <a:gdLst/>
            <a:ahLst/>
            <a:rect l="0" t="0" r="r" b="b"/>
            <a:pathLst>
              <a:path w="22199" h="28">
                <a:moveTo>
                  <a:pt x="0" y="0"/>
                </a:moveTo>
                <a:lnTo>
                  <a:pt x="22199" y="0"/>
                </a:lnTo>
                <a:lnTo>
                  <a:pt x="221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9982080" y="26096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66720" y="304776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000160" y="3047760"/>
            <a:ext cx="7991640" cy="10080"/>
          </a:xfrm>
          <a:custGeom>
            <a:avLst/>
            <a:gdLst/>
            <a:ahLst/>
            <a:rect l="0" t="0" r="r" b="b"/>
            <a:pathLst>
              <a:path w="22199" h="28">
                <a:moveTo>
                  <a:pt x="0" y="0"/>
                </a:moveTo>
                <a:lnTo>
                  <a:pt x="22199" y="0"/>
                </a:lnTo>
                <a:lnTo>
                  <a:pt x="221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666720" y="3057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990440" y="3057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9982080" y="3057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66720" y="3495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66720" y="348588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990440" y="34956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000160" y="3485880"/>
            <a:ext cx="7991640" cy="10080"/>
          </a:xfrm>
          <a:custGeom>
            <a:avLst/>
            <a:gdLst/>
            <a:ahLst/>
            <a:rect l="0" t="0" r="r" b="b"/>
            <a:pathLst>
              <a:path w="22199" h="28">
                <a:moveTo>
                  <a:pt x="0" y="0"/>
                </a:moveTo>
                <a:lnTo>
                  <a:pt x="22199" y="0"/>
                </a:lnTo>
                <a:lnTo>
                  <a:pt x="221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9982080" y="3495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666720" y="3933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66720" y="392400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990440" y="39337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000160" y="3924000"/>
            <a:ext cx="7991640" cy="10080"/>
          </a:xfrm>
          <a:custGeom>
            <a:avLst/>
            <a:gdLst/>
            <a:ahLst/>
            <a:rect l="0" t="0" r="r" b="b"/>
            <a:pathLst>
              <a:path w="22199" h="28">
                <a:moveTo>
                  <a:pt x="0" y="0"/>
                </a:moveTo>
                <a:lnTo>
                  <a:pt x="22199" y="0"/>
                </a:lnTo>
                <a:lnTo>
                  <a:pt x="221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9982080" y="3933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666720" y="436212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000160" y="4362120"/>
            <a:ext cx="7991640" cy="10080"/>
          </a:xfrm>
          <a:custGeom>
            <a:avLst/>
            <a:gdLst/>
            <a:ahLst/>
            <a:rect l="0" t="0" r="r" b="b"/>
            <a:pathLst>
              <a:path w="22199" h="28">
                <a:moveTo>
                  <a:pt x="0" y="0"/>
                </a:moveTo>
                <a:lnTo>
                  <a:pt x="22199" y="0"/>
                </a:lnTo>
                <a:lnTo>
                  <a:pt x="221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66720" y="1958760"/>
            <a:ext cx="40104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Day 1 — Thursday 29 October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17440" y="2705760"/>
            <a:ext cx="429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Time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745240" y="2705760"/>
            <a:ext cx="491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Focus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99920" y="314388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11:30–13:00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123640" y="3143880"/>
            <a:ext cx="7757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Kick-oﬀ &amp; environment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— scenario intro, roles, HCPD connectivity, seed data; split streams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99920" y="358200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14:00–15:00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123640" y="3582000"/>
            <a:ext cx="49582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Discovery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— HCPD queries; resolve the receiving Endpoint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99920" y="402012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15:30–17:00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6467400" y="4028760"/>
            <a:ext cx="1105200" cy="276840"/>
          </a:xfrm>
          <a:custGeom>
            <a:avLst/>
            <a:gdLst/>
            <a:ahLst/>
            <a:rect l="0" t="0" r="r" b="b"/>
            <a:pathLst>
              <a:path w="3070" h="769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911" y="0"/>
                </a:lnTo>
                <a:cubicBezTo>
                  <a:pt x="2922" y="0"/>
                  <a:pt x="2932" y="1"/>
                  <a:pt x="2942" y="3"/>
                </a:cubicBezTo>
                <a:cubicBezTo>
                  <a:pt x="2952" y="5"/>
                  <a:pt x="2962" y="8"/>
                  <a:pt x="2972" y="12"/>
                </a:cubicBezTo>
                <a:cubicBezTo>
                  <a:pt x="2982" y="16"/>
                  <a:pt x="2991" y="21"/>
                  <a:pt x="2999" y="27"/>
                </a:cubicBezTo>
                <a:cubicBezTo>
                  <a:pt x="3008" y="33"/>
                  <a:pt x="3016" y="40"/>
                  <a:pt x="3023" y="47"/>
                </a:cubicBezTo>
                <a:cubicBezTo>
                  <a:pt x="3031" y="54"/>
                  <a:pt x="3037" y="62"/>
                  <a:pt x="3043" y="71"/>
                </a:cubicBezTo>
                <a:cubicBezTo>
                  <a:pt x="3049" y="80"/>
                  <a:pt x="3054" y="89"/>
                  <a:pt x="3058" y="98"/>
                </a:cubicBezTo>
                <a:cubicBezTo>
                  <a:pt x="3062" y="108"/>
                  <a:pt x="3065" y="118"/>
                  <a:pt x="3067" y="128"/>
                </a:cubicBezTo>
                <a:cubicBezTo>
                  <a:pt x="3069" y="138"/>
                  <a:pt x="3070" y="149"/>
                  <a:pt x="3070" y="159"/>
                </a:cubicBezTo>
                <a:lnTo>
                  <a:pt x="3070" y="609"/>
                </a:lnTo>
                <a:cubicBezTo>
                  <a:pt x="3070" y="619"/>
                  <a:pt x="3069" y="630"/>
                  <a:pt x="3067" y="640"/>
                </a:cubicBezTo>
                <a:cubicBezTo>
                  <a:pt x="3065" y="650"/>
                  <a:pt x="3062" y="660"/>
                  <a:pt x="3058" y="670"/>
                </a:cubicBezTo>
                <a:cubicBezTo>
                  <a:pt x="3054" y="679"/>
                  <a:pt x="3049" y="688"/>
                  <a:pt x="3043" y="697"/>
                </a:cubicBezTo>
                <a:cubicBezTo>
                  <a:pt x="3037" y="707"/>
                  <a:pt x="3031" y="715"/>
                  <a:pt x="3023" y="722"/>
                </a:cubicBezTo>
                <a:cubicBezTo>
                  <a:pt x="3016" y="730"/>
                  <a:pt x="3008" y="736"/>
                  <a:pt x="2999" y="742"/>
                </a:cubicBezTo>
                <a:cubicBezTo>
                  <a:pt x="2991" y="748"/>
                  <a:pt x="2982" y="753"/>
                  <a:pt x="2972" y="757"/>
                </a:cubicBezTo>
                <a:cubicBezTo>
                  <a:pt x="2962" y="761"/>
                  <a:pt x="2952" y="764"/>
                  <a:pt x="2942" y="766"/>
                </a:cubicBezTo>
                <a:cubicBezTo>
                  <a:pt x="2932" y="768"/>
                  <a:pt x="2922" y="769"/>
                  <a:pt x="2911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7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2" y="707"/>
                  <a:pt x="26" y="697"/>
                </a:cubicBezTo>
                <a:cubicBezTo>
                  <a:pt x="21" y="688"/>
                  <a:pt x="16" y="679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19"/>
                  <a:pt x="0" y="609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123640" y="4020120"/>
            <a:ext cx="43642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Referral creation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— ServiceRequest + Task Bundle; 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6536880" y="4068720"/>
            <a:ext cx="962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410" spc="-1" strike="noStrike">
                <a:solidFill>
                  <a:srgbClr val="007a53"/>
                </a:solidFill>
                <a:latin typeface="Courier New"/>
                <a:ea typeface="Courier New"/>
              </a:rPr>
              <a:t>$validate</a:t>
            </a:r>
            <a:endParaRPr b="0" lang="en-AU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569720" y="4020120"/>
            <a:ext cx="724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on HAPI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66720" y="4555440"/>
            <a:ext cx="7715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(Plenaries 9:00–10:30, morning tea 11:00, lunch 13:00, afternoon tea 15:00.)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8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66720" y="22096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76080" y="239076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990440" y="2390760"/>
            <a:ext cx="5953680" cy="438480"/>
          </a:xfrm>
          <a:custGeom>
            <a:avLst/>
            <a:gdLst/>
            <a:ahLst/>
            <a:rect l="0" t="0" r="r" b="b"/>
            <a:pathLst>
              <a:path w="16538" h="1218">
                <a:moveTo>
                  <a:pt x="0" y="0"/>
                </a:moveTo>
                <a:lnTo>
                  <a:pt x="16538" y="0"/>
                </a:lnTo>
                <a:lnTo>
                  <a:pt x="1653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76080" y="239076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990440" y="2390760"/>
            <a:ext cx="5953680" cy="438480"/>
          </a:xfrm>
          <a:custGeom>
            <a:avLst/>
            <a:gdLst/>
            <a:ahLst/>
            <a:rect l="0" t="0" r="r" b="b"/>
            <a:pathLst>
              <a:path w="16538" h="1218">
                <a:moveTo>
                  <a:pt x="0" y="0"/>
                </a:moveTo>
                <a:lnTo>
                  <a:pt x="16538" y="0"/>
                </a:lnTo>
                <a:lnTo>
                  <a:pt x="1653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76080" y="282888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990440" y="2828880"/>
            <a:ext cx="5953680" cy="438480"/>
          </a:xfrm>
          <a:custGeom>
            <a:avLst/>
            <a:gdLst/>
            <a:ahLst/>
            <a:rect l="0" t="0" r="r" b="b"/>
            <a:pathLst>
              <a:path w="16538" h="1218">
                <a:moveTo>
                  <a:pt x="0" y="0"/>
                </a:moveTo>
                <a:lnTo>
                  <a:pt x="16538" y="0"/>
                </a:lnTo>
                <a:lnTo>
                  <a:pt x="1653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76080" y="326700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990440" y="3267000"/>
            <a:ext cx="5953680" cy="438480"/>
          </a:xfrm>
          <a:custGeom>
            <a:avLst/>
            <a:gdLst/>
            <a:ahLst/>
            <a:rect l="0" t="0" r="r" b="b"/>
            <a:pathLst>
              <a:path w="16538" h="1218">
                <a:moveTo>
                  <a:pt x="0" y="0"/>
                </a:moveTo>
                <a:lnTo>
                  <a:pt x="16538" y="0"/>
                </a:lnTo>
                <a:lnTo>
                  <a:pt x="1653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76080" y="370512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990440" y="3705120"/>
            <a:ext cx="5953680" cy="438480"/>
          </a:xfrm>
          <a:custGeom>
            <a:avLst/>
            <a:gdLst/>
            <a:ahLst/>
            <a:rect l="0" t="0" r="r" b="b"/>
            <a:pathLst>
              <a:path w="16538" h="1218">
                <a:moveTo>
                  <a:pt x="0" y="0"/>
                </a:moveTo>
                <a:lnTo>
                  <a:pt x="16538" y="0"/>
                </a:lnTo>
                <a:lnTo>
                  <a:pt x="1653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676080" y="4143240"/>
            <a:ext cx="1314720" cy="438480"/>
          </a:xfrm>
          <a:custGeom>
            <a:avLst/>
            <a:gdLst/>
            <a:ahLst/>
            <a:rect l="0" t="0" r="r" b="b"/>
            <a:pathLst>
              <a:path w="3652" h="1218">
                <a:moveTo>
                  <a:pt x="0" y="0"/>
                </a:moveTo>
                <a:lnTo>
                  <a:pt x="3652" y="0"/>
                </a:lnTo>
                <a:lnTo>
                  <a:pt x="365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990440" y="4143240"/>
            <a:ext cx="5953680" cy="438480"/>
          </a:xfrm>
          <a:custGeom>
            <a:avLst/>
            <a:gdLst/>
            <a:ahLst/>
            <a:rect l="0" t="0" r="r" b="b"/>
            <a:pathLst>
              <a:path w="16538" h="1218">
                <a:moveTo>
                  <a:pt x="0" y="0"/>
                </a:moveTo>
                <a:lnTo>
                  <a:pt x="16538" y="0"/>
                </a:lnTo>
                <a:lnTo>
                  <a:pt x="1653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66672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666720" y="239076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990440" y="23907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000160" y="2390760"/>
            <a:ext cx="5953320" cy="9720"/>
          </a:xfrm>
          <a:custGeom>
            <a:avLst/>
            <a:gdLst/>
            <a:ahLst/>
            <a:rect l="0" t="0" r="r" b="b"/>
            <a:pathLst>
              <a:path w="16537" h="27">
                <a:moveTo>
                  <a:pt x="0" y="0"/>
                </a:moveTo>
                <a:lnTo>
                  <a:pt x="16537" y="0"/>
                </a:lnTo>
                <a:lnTo>
                  <a:pt x="16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943760" y="23907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66720" y="282888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000160" y="2828880"/>
            <a:ext cx="5953320" cy="9720"/>
          </a:xfrm>
          <a:custGeom>
            <a:avLst/>
            <a:gdLst/>
            <a:ahLst/>
            <a:rect l="0" t="0" r="r" b="b"/>
            <a:pathLst>
              <a:path w="16537" h="27">
                <a:moveTo>
                  <a:pt x="0" y="0"/>
                </a:moveTo>
                <a:lnTo>
                  <a:pt x="16537" y="0"/>
                </a:lnTo>
                <a:lnTo>
                  <a:pt x="16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66672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990440" y="28382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7943760" y="28382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66672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66720" y="326700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990440" y="32763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000160" y="3267000"/>
            <a:ext cx="5953320" cy="9720"/>
          </a:xfrm>
          <a:custGeom>
            <a:avLst/>
            <a:gdLst/>
            <a:ahLst/>
            <a:rect l="0" t="0" r="r" b="b"/>
            <a:pathLst>
              <a:path w="16537" h="27">
                <a:moveTo>
                  <a:pt x="0" y="0"/>
                </a:moveTo>
                <a:lnTo>
                  <a:pt x="16537" y="0"/>
                </a:lnTo>
                <a:lnTo>
                  <a:pt x="16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7943760" y="3276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6672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66720" y="370512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990440" y="37144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000160" y="3705120"/>
            <a:ext cx="5953320" cy="9720"/>
          </a:xfrm>
          <a:custGeom>
            <a:avLst/>
            <a:gdLst/>
            <a:ahLst/>
            <a:rect l="0" t="0" r="r" b="b"/>
            <a:pathLst>
              <a:path w="16537" h="27">
                <a:moveTo>
                  <a:pt x="0" y="0"/>
                </a:moveTo>
                <a:lnTo>
                  <a:pt x="16537" y="0"/>
                </a:lnTo>
                <a:lnTo>
                  <a:pt x="16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7943760" y="3714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6672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66720" y="414324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990440" y="41526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000160" y="4143240"/>
            <a:ext cx="5953320" cy="9720"/>
          </a:xfrm>
          <a:custGeom>
            <a:avLst/>
            <a:gdLst/>
            <a:ahLst/>
            <a:rect l="0" t="0" r="r" b="b"/>
            <a:pathLst>
              <a:path w="16537" h="27">
                <a:moveTo>
                  <a:pt x="0" y="0"/>
                </a:moveTo>
                <a:lnTo>
                  <a:pt x="16537" y="0"/>
                </a:lnTo>
                <a:lnTo>
                  <a:pt x="16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7943760" y="4152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66720" y="458136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000160" y="4581360"/>
            <a:ext cx="5953320" cy="9720"/>
          </a:xfrm>
          <a:custGeom>
            <a:avLst/>
            <a:gdLst/>
            <a:ahLst/>
            <a:rect l="0" t="0" r="r" b="b"/>
            <a:pathLst>
              <a:path w="16537" h="27">
                <a:moveTo>
                  <a:pt x="0" y="0"/>
                </a:moveTo>
                <a:lnTo>
                  <a:pt x="16537" y="0"/>
                </a:lnTo>
                <a:lnTo>
                  <a:pt x="165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66720" y="1739520"/>
            <a:ext cx="36003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Day 2 — Friday 30 October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17440" y="2486520"/>
            <a:ext cx="429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Time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725720" y="2486520"/>
            <a:ext cx="491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Focus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99920" y="2924640"/>
            <a:ext cx="956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9:30–10:30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123640" y="2924640"/>
            <a:ext cx="5685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Filler triage &amp; availability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— accept / reject / on-hold; publish Slots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99920" y="336276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11:00–12:30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2123640" y="3362760"/>
            <a:ext cx="56275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Booking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— Appointment, conﬁrm, cancel &amp; rebook, negative tests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99920" y="380088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13:30–15:00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2123640" y="3800880"/>
            <a:ext cx="35683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Status tracking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end-to-end + stretch goals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99920" y="423900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15:30–16:30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123640" y="4239000"/>
            <a:ext cx="3117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1e22aa"/>
                </a:solidFill>
                <a:latin typeface="Calibri"/>
                <a:ea typeface="Calibri"/>
              </a:rPr>
              <a:t>Show and Tell!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— demo the full ﬂow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66720" y="4774320"/>
            <a:ext cx="79650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(Recap 9:00, morning tea 10:30, lunch 12:30, afternoon tea 15:00, close 16:30.)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9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66720" y="27334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942840" y="3066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66720" y="2263320"/>
            <a:ext cx="20293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Getting started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942840" y="34956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162080" y="2945520"/>
            <a:ext cx="9059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Servers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(conﬁrm 2026 URLs) 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— secured &amp; open FHIR endpoints on the shared HAPI server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647960" y="3400200"/>
            <a:ext cx="3076920" cy="324360"/>
          </a:xfrm>
          <a:custGeom>
            <a:avLst/>
            <a:gdLst/>
            <a:ahLst/>
            <a:rect l="0" t="0" r="r" b="b"/>
            <a:pathLst>
              <a:path w="8547" h="901">
                <a:moveTo>
                  <a:pt x="0" y="74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387" y="0"/>
                </a:lnTo>
                <a:cubicBezTo>
                  <a:pt x="8398" y="0"/>
                  <a:pt x="8408" y="1"/>
                  <a:pt x="8418" y="3"/>
                </a:cubicBezTo>
                <a:cubicBezTo>
                  <a:pt x="8429" y="5"/>
                  <a:pt x="8439" y="8"/>
                  <a:pt x="8448" y="12"/>
                </a:cubicBezTo>
                <a:cubicBezTo>
                  <a:pt x="8459" y="16"/>
                  <a:pt x="8468" y="21"/>
                  <a:pt x="8477" y="27"/>
                </a:cubicBezTo>
                <a:cubicBezTo>
                  <a:pt x="8485" y="33"/>
                  <a:pt x="8493" y="39"/>
                  <a:pt x="8501" y="47"/>
                </a:cubicBezTo>
                <a:cubicBezTo>
                  <a:pt x="8508" y="54"/>
                  <a:pt x="8515" y="62"/>
                  <a:pt x="8520" y="71"/>
                </a:cubicBezTo>
                <a:cubicBezTo>
                  <a:pt x="8526" y="79"/>
                  <a:pt x="8531" y="88"/>
                  <a:pt x="8535" y="98"/>
                </a:cubicBezTo>
                <a:cubicBezTo>
                  <a:pt x="8539" y="108"/>
                  <a:pt x="8542" y="118"/>
                  <a:pt x="8544" y="128"/>
                </a:cubicBezTo>
                <a:cubicBezTo>
                  <a:pt x="8546" y="138"/>
                  <a:pt x="8547" y="148"/>
                  <a:pt x="8547" y="159"/>
                </a:cubicBezTo>
                <a:lnTo>
                  <a:pt x="8547" y="741"/>
                </a:lnTo>
                <a:cubicBezTo>
                  <a:pt x="8547" y="751"/>
                  <a:pt x="8546" y="762"/>
                  <a:pt x="8544" y="772"/>
                </a:cubicBezTo>
                <a:cubicBezTo>
                  <a:pt x="8542" y="782"/>
                  <a:pt x="8539" y="792"/>
                  <a:pt x="8535" y="802"/>
                </a:cubicBezTo>
                <a:cubicBezTo>
                  <a:pt x="8531" y="811"/>
                  <a:pt x="8526" y="820"/>
                  <a:pt x="8520" y="829"/>
                </a:cubicBezTo>
                <a:cubicBezTo>
                  <a:pt x="8515" y="838"/>
                  <a:pt x="8508" y="846"/>
                  <a:pt x="8501" y="853"/>
                </a:cubicBezTo>
                <a:cubicBezTo>
                  <a:pt x="8493" y="861"/>
                  <a:pt x="8485" y="867"/>
                  <a:pt x="8477" y="873"/>
                </a:cubicBezTo>
                <a:cubicBezTo>
                  <a:pt x="8468" y="879"/>
                  <a:pt x="8459" y="884"/>
                  <a:pt x="8448" y="888"/>
                </a:cubicBezTo>
                <a:cubicBezTo>
                  <a:pt x="8439" y="892"/>
                  <a:pt x="8429" y="896"/>
                  <a:pt x="8418" y="898"/>
                </a:cubicBezTo>
                <a:cubicBezTo>
                  <a:pt x="8408" y="900"/>
                  <a:pt x="8398" y="901"/>
                  <a:pt x="8387" y="901"/>
                </a:cubicBezTo>
                <a:lnTo>
                  <a:pt x="159" y="901"/>
                </a:lnTo>
                <a:cubicBezTo>
                  <a:pt x="148" y="901"/>
                  <a:pt x="138" y="900"/>
                  <a:pt x="128" y="898"/>
                </a:cubicBezTo>
                <a:cubicBezTo>
                  <a:pt x="118" y="896"/>
                  <a:pt x="108" y="892"/>
                  <a:pt x="98" y="888"/>
                </a:cubicBezTo>
                <a:cubicBezTo>
                  <a:pt x="89" y="884"/>
                  <a:pt x="79" y="879"/>
                  <a:pt x="71" y="873"/>
                </a:cubicBezTo>
                <a:cubicBezTo>
                  <a:pt x="62" y="867"/>
                  <a:pt x="54" y="861"/>
                  <a:pt x="47" y="853"/>
                </a:cubicBezTo>
                <a:cubicBezTo>
                  <a:pt x="39" y="846"/>
                  <a:pt x="33" y="838"/>
                  <a:pt x="27" y="829"/>
                </a:cubicBezTo>
                <a:cubicBezTo>
                  <a:pt x="21" y="820"/>
                  <a:pt x="16" y="811"/>
                  <a:pt x="12" y="802"/>
                </a:cubicBezTo>
                <a:cubicBezTo>
                  <a:pt x="8" y="792"/>
                  <a:pt x="5" y="782"/>
                  <a:pt x="3" y="772"/>
                </a:cubicBezTo>
                <a:cubicBezTo>
                  <a:pt x="1" y="762"/>
                  <a:pt x="0" y="751"/>
                  <a:pt x="0" y="741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162080" y="3374280"/>
            <a:ext cx="3509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Every HCPD request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sends header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942840" y="39337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732920" y="3438360"/>
            <a:ext cx="2902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X-Request-ID: &lt;UUID v4&gt;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143400" y="3838320"/>
            <a:ext cx="1305360" cy="314640"/>
          </a:xfrm>
          <a:custGeom>
            <a:avLst/>
            <a:gdLst/>
            <a:ahLst/>
            <a:rect l="0" t="0" r="r" b="b"/>
            <a:pathLst>
              <a:path w="3626" h="874">
                <a:moveTo>
                  <a:pt x="0" y="71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67" y="0"/>
                </a:lnTo>
                <a:cubicBezTo>
                  <a:pt x="3478" y="0"/>
                  <a:pt x="3488" y="1"/>
                  <a:pt x="3498" y="3"/>
                </a:cubicBezTo>
                <a:cubicBezTo>
                  <a:pt x="3508" y="5"/>
                  <a:pt x="3518" y="8"/>
                  <a:pt x="3528" y="12"/>
                </a:cubicBezTo>
                <a:cubicBezTo>
                  <a:pt x="3538" y="16"/>
                  <a:pt x="3547" y="21"/>
                  <a:pt x="3555" y="27"/>
                </a:cubicBezTo>
                <a:cubicBezTo>
                  <a:pt x="3564" y="33"/>
                  <a:pt x="3572" y="39"/>
                  <a:pt x="3579" y="47"/>
                </a:cubicBezTo>
                <a:cubicBezTo>
                  <a:pt x="3587" y="54"/>
                  <a:pt x="3593" y="62"/>
                  <a:pt x="3599" y="71"/>
                </a:cubicBezTo>
                <a:cubicBezTo>
                  <a:pt x="3605" y="79"/>
                  <a:pt x="3610" y="89"/>
                  <a:pt x="3614" y="98"/>
                </a:cubicBezTo>
                <a:cubicBezTo>
                  <a:pt x="3618" y="108"/>
                  <a:pt x="3621" y="118"/>
                  <a:pt x="3623" y="128"/>
                </a:cubicBezTo>
                <a:cubicBezTo>
                  <a:pt x="3625" y="138"/>
                  <a:pt x="3626" y="149"/>
                  <a:pt x="3626" y="159"/>
                </a:cubicBezTo>
                <a:lnTo>
                  <a:pt x="3626" y="716"/>
                </a:lnTo>
                <a:cubicBezTo>
                  <a:pt x="3626" y="726"/>
                  <a:pt x="3625" y="736"/>
                  <a:pt x="3623" y="747"/>
                </a:cubicBezTo>
                <a:cubicBezTo>
                  <a:pt x="3621" y="757"/>
                  <a:pt x="3618" y="767"/>
                  <a:pt x="3614" y="776"/>
                </a:cubicBezTo>
                <a:cubicBezTo>
                  <a:pt x="3610" y="786"/>
                  <a:pt x="3605" y="795"/>
                  <a:pt x="3599" y="804"/>
                </a:cubicBezTo>
                <a:cubicBezTo>
                  <a:pt x="3593" y="812"/>
                  <a:pt x="3587" y="820"/>
                  <a:pt x="3579" y="828"/>
                </a:cubicBezTo>
                <a:cubicBezTo>
                  <a:pt x="3572" y="835"/>
                  <a:pt x="3564" y="842"/>
                  <a:pt x="3555" y="848"/>
                </a:cubicBezTo>
                <a:cubicBezTo>
                  <a:pt x="3547" y="853"/>
                  <a:pt x="3538" y="858"/>
                  <a:pt x="3528" y="862"/>
                </a:cubicBezTo>
                <a:cubicBezTo>
                  <a:pt x="3518" y="866"/>
                  <a:pt x="3508" y="869"/>
                  <a:pt x="3498" y="871"/>
                </a:cubicBezTo>
                <a:cubicBezTo>
                  <a:pt x="3488" y="873"/>
                  <a:pt x="3478" y="874"/>
                  <a:pt x="3467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8" y="869"/>
                  <a:pt x="108" y="866"/>
                  <a:pt x="98" y="862"/>
                </a:cubicBezTo>
                <a:cubicBezTo>
                  <a:pt x="88" y="858"/>
                  <a:pt x="79" y="853"/>
                  <a:pt x="71" y="848"/>
                </a:cubicBezTo>
                <a:cubicBezTo>
                  <a:pt x="62" y="842"/>
                  <a:pt x="54" y="835"/>
                  <a:pt x="47" y="828"/>
                </a:cubicBezTo>
                <a:cubicBezTo>
                  <a:pt x="39" y="820"/>
                  <a:pt x="33" y="812"/>
                  <a:pt x="27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7"/>
                  <a:pt x="5" y="757"/>
                  <a:pt x="3" y="747"/>
                </a:cubicBezTo>
                <a:cubicBezTo>
                  <a:pt x="1" y="736"/>
                  <a:pt x="0" y="726"/>
                  <a:pt x="0" y="716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162080" y="3812400"/>
            <a:ext cx="5034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Validate against the QH IG / AU eRequesting with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942840" y="4371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8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8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227640" y="3876480"/>
            <a:ext cx="113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$validate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162080" y="4250520"/>
            <a:ext cx="7029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Bring your laptop, synthetic data, and your ideas — nothing sensitive!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10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666720" y="246672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66720" y="4476600"/>
            <a:ext cx="57240" cy="371880"/>
          </a:xfrm>
          <a:custGeom>
            <a:avLst/>
            <a:gdLst/>
            <a:ahLst/>
            <a:rect l="0" t="0" r="r" b="b"/>
            <a:pathLst>
              <a:path w="159" h="1033">
                <a:moveTo>
                  <a:pt x="0" y="0"/>
                </a:moveTo>
                <a:lnTo>
                  <a:pt x="159" y="0"/>
                </a:lnTo>
                <a:lnTo>
                  <a:pt x="1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942840" y="2800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66720" y="2006280"/>
            <a:ext cx="43974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Open decisions (before we start)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942840" y="3238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162080" y="2678760"/>
            <a:ext cx="6136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HCPD access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SIT credentials &amp; onboarding for participants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199960" y="3133440"/>
            <a:ext cx="248040" cy="248040"/>
          </a:xfrm>
          <a:custGeom>
            <a:avLst/>
            <a:gdLst/>
            <a:ahLst/>
            <a:rect l="0" t="0" r="r" b="b"/>
            <a:pathLst>
              <a:path w="689" h="689">
                <a:moveTo>
                  <a:pt x="689" y="613"/>
                </a:moveTo>
                <a:cubicBezTo>
                  <a:pt x="689" y="655"/>
                  <a:pt x="655" y="689"/>
                  <a:pt x="613" y="689"/>
                </a:cubicBezTo>
                <a:lnTo>
                  <a:pt x="77" y="689"/>
                </a:lnTo>
                <a:cubicBezTo>
                  <a:pt x="35" y="689"/>
                  <a:pt x="0" y="655"/>
                  <a:pt x="0" y="613"/>
                </a:cubicBezTo>
                <a:lnTo>
                  <a:pt x="0" y="77"/>
                </a:lnTo>
                <a:cubicBezTo>
                  <a:pt x="0" y="35"/>
                  <a:pt x="35" y="0"/>
                  <a:pt x="77" y="0"/>
                </a:cubicBezTo>
                <a:lnTo>
                  <a:pt x="613" y="0"/>
                </a:lnTo>
                <a:cubicBezTo>
                  <a:pt x="655" y="0"/>
                  <a:pt x="689" y="35"/>
                  <a:pt x="689" y="77"/>
                </a:cubicBezTo>
                <a:lnTo>
                  <a:pt x="689" y="613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220840" y="3195360"/>
            <a:ext cx="206640" cy="124200"/>
          </a:xfrm>
          <a:custGeom>
            <a:avLst/>
            <a:gdLst/>
            <a:ahLst/>
            <a:rect l="0" t="0" r="r" b="b"/>
            <a:pathLst>
              <a:path w="574" h="345">
                <a:moveTo>
                  <a:pt x="191" y="0"/>
                </a:moveTo>
                <a:lnTo>
                  <a:pt x="0" y="172"/>
                </a:lnTo>
                <a:lnTo>
                  <a:pt x="191" y="345"/>
                </a:lnTo>
                <a:lnTo>
                  <a:pt x="191" y="0"/>
                </a:lnTo>
                <a:moveTo>
                  <a:pt x="574" y="172"/>
                </a:moveTo>
                <a:lnTo>
                  <a:pt x="382" y="0"/>
                </a:lnTo>
                <a:lnTo>
                  <a:pt x="382" y="345"/>
                </a:lnTo>
                <a:lnTo>
                  <a:pt x="574" y="17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282760" y="3229920"/>
            <a:ext cx="82800" cy="55440"/>
          </a:xfrm>
          <a:custGeom>
            <a:avLst/>
            <a:gdLst/>
            <a:ahLst/>
            <a:rect l="0" t="0" r="r" b="b"/>
            <a:pathLst>
              <a:path w="230" h="154">
                <a:moveTo>
                  <a:pt x="0" y="0"/>
                </a:moveTo>
                <a:lnTo>
                  <a:pt x="230" y="0"/>
                </a:lnTo>
                <a:lnTo>
                  <a:pt x="230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162080" y="3116880"/>
            <a:ext cx="1017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Directory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942840" y="36669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2456280" y="3116880"/>
            <a:ext cx="5930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referral server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test Endpoints in HCPD, or a local mirror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942840" y="4105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162080" y="3545640"/>
            <a:ext cx="6895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Who books?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referrer directly, or ﬁller after triage (support both?)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162080" y="3983760"/>
            <a:ext cx="8573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Transport &amp; security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— shared HAPI vs push to discovered endpoint; open vs SMART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4200480" y="4533840"/>
            <a:ext cx="1933920" cy="314640"/>
          </a:xfrm>
          <a:custGeom>
            <a:avLst/>
            <a:gdLst/>
            <a:ahLst/>
            <a:rect l="0" t="0" r="r" b="b"/>
            <a:pathLst>
              <a:path w="5372" h="874">
                <a:moveTo>
                  <a:pt x="0" y="715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213" y="0"/>
                </a:lnTo>
                <a:cubicBezTo>
                  <a:pt x="5223" y="0"/>
                  <a:pt x="5234" y="1"/>
                  <a:pt x="5244" y="3"/>
                </a:cubicBezTo>
                <a:cubicBezTo>
                  <a:pt x="5254" y="5"/>
                  <a:pt x="5264" y="8"/>
                  <a:pt x="5274" y="12"/>
                </a:cubicBezTo>
                <a:cubicBezTo>
                  <a:pt x="5283" y="16"/>
                  <a:pt x="5292" y="21"/>
                  <a:pt x="5301" y="26"/>
                </a:cubicBezTo>
                <a:cubicBezTo>
                  <a:pt x="5310" y="32"/>
                  <a:pt x="5318" y="39"/>
                  <a:pt x="5325" y="46"/>
                </a:cubicBezTo>
                <a:cubicBezTo>
                  <a:pt x="5333" y="54"/>
                  <a:pt x="5339" y="62"/>
                  <a:pt x="5345" y="71"/>
                </a:cubicBezTo>
                <a:cubicBezTo>
                  <a:pt x="5351" y="80"/>
                  <a:pt x="5356" y="89"/>
                  <a:pt x="5360" y="99"/>
                </a:cubicBezTo>
                <a:cubicBezTo>
                  <a:pt x="5364" y="108"/>
                  <a:pt x="5367" y="118"/>
                  <a:pt x="5369" y="128"/>
                </a:cubicBezTo>
                <a:cubicBezTo>
                  <a:pt x="5371" y="139"/>
                  <a:pt x="5372" y="149"/>
                  <a:pt x="5372" y="159"/>
                </a:cubicBezTo>
                <a:lnTo>
                  <a:pt x="5372" y="715"/>
                </a:lnTo>
                <a:cubicBezTo>
                  <a:pt x="5372" y="725"/>
                  <a:pt x="5371" y="736"/>
                  <a:pt x="5369" y="746"/>
                </a:cubicBezTo>
                <a:cubicBezTo>
                  <a:pt x="5367" y="756"/>
                  <a:pt x="5364" y="766"/>
                  <a:pt x="5360" y="776"/>
                </a:cubicBezTo>
                <a:cubicBezTo>
                  <a:pt x="5356" y="785"/>
                  <a:pt x="5351" y="795"/>
                  <a:pt x="5345" y="803"/>
                </a:cubicBezTo>
                <a:cubicBezTo>
                  <a:pt x="5339" y="812"/>
                  <a:pt x="5333" y="820"/>
                  <a:pt x="5325" y="827"/>
                </a:cubicBezTo>
                <a:cubicBezTo>
                  <a:pt x="5318" y="835"/>
                  <a:pt x="5310" y="841"/>
                  <a:pt x="5301" y="847"/>
                </a:cubicBezTo>
                <a:cubicBezTo>
                  <a:pt x="5292" y="853"/>
                  <a:pt x="5283" y="858"/>
                  <a:pt x="5274" y="862"/>
                </a:cubicBezTo>
                <a:cubicBezTo>
                  <a:pt x="5264" y="866"/>
                  <a:pt x="5254" y="869"/>
                  <a:pt x="5244" y="871"/>
                </a:cubicBezTo>
                <a:cubicBezTo>
                  <a:pt x="5234" y="873"/>
                  <a:pt x="5223" y="874"/>
                  <a:pt x="5213" y="874"/>
                </a:cubicBezTo>
                <a:lnTo>
                  <a:pt x="158" y="874"/>
                </a:lnTo>
                <a:cubicBezTo>
                  <a:pt x="148" y="874"/>
                  <a:pt x="138" y="873"/>
                  <a:pt x="127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2" y="841"/>
                  <a:pt x="53" y="835"/>
                  <a:pt x="46" y="827"/>
                </a:cubicBezTo>
                <a:cubicBezTo>
                  <a:pt x="39" y="820"/>
                  <a:pt x="32" y="812"/>
                  <a:pt x="26" y="803"/>
                </a:cubicBezTo>
                <a:cubicBezTo>
                  <a:pt x="21" y="795"/>
                  <a:pt x="16" y="785"/>
                  <a:pt x="12" y="776"/>
                </a:cubicBezTo>
                <a:cubicBezTo>
                  <a:pt x="8" y="766"/>
                  <a:pt x="5" y="756"/>
                  <a:pt x="3" y="746"/>
                </a:cubicBezTo>
                <a:cubicBezTo>
                  <a:pt x="1" y="736"/>
                  <a:pt x="0" y="725"/>
                  <a:pt x="0" y="715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971640" y="4507560"/>
            <a:ext cx="32666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59636e"/>
                </a:solidFill>
                <a:latin typeface="Calibri"/>
                <a:ea typeface="Calibri"/>
              </a:rPr>
              <a:t>Tracked as GitHub issues on the 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283280" y="4572000"/>
            <a:ext cx="176688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60" spc="-1" strike="noStrike">
                <a:solidFill>
                  <a:srgbClr val="007a53"/>
                </a:solidFill>
                <a:latin typeface="Courier New"/>
                <a:ea typeface="Courier New"/>
              </a:rPr>
              <a:t>track:services</a:t>
            </a:r>
            <a:endParaRPr b="0" lang="en-AU" sz="16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6135480" y="4507560"/>
            <a:ext cx="604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59636e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59636e"/>
                </a:solidFill>
                <a:latin typeface="Calibri"/>
                <a:ea typeface="Calibri"/>
              </a:rPr>
              <a:t>label.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11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66720" y="2453400"/>
            <a:ext cx="2602080" cy="629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4050" spc="-1" strike="noStrike">
                <a:solidFill>
                  <a:srgbClr val="ffffff"/>
                </a:solidFill>
                <a:latin typeface="Calibri"/>
                <a:ea typeface="Calibri"/>
              </a:rPr>
              <a:t>Let's build it</a:t>
            </a:r>
            <a:endParaRPr b="0" lang="en-AU" sz="4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66720" y="3490200"/>
            <a:ext cx="433044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250" spc="-1" strike="noStrike">
                <a:solidFill>
                  <a:srgbClr val="00a9ce"/>
                </a:solidFill>
                <a:latin typeface="Calibri"/>
                <a:ea typeface="Calibri"/>
              </a:rPr>
              <a:t>Questions, ideas, and let's FHIR it up</a:t>
            </a:r>
            <a:endParaRPr b="0" lang="en-AU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771560" y="4095720"/>
            <a:ext cx="3886560" cy="295560"/>
          </a:xfrm>
          <a:custGeom>
            <a:avLst/>
            <a:gdLst/>
            <a:ahLst/>
            <a:rect l="0" t="0" r="r" b="b"/>
            <a:pathLst>
              <a:path w="10796" h="821">
                <a:moveTo>
                  <a:pt x="0" y="66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0637" y="0"/>
                </a:lnTo>
                <a:cubicBezTo>
                  <a:pt x="10647" y="0"/>
                  <a:pt x="10658" y="1"/>
                  <a:pt x="10668" y="3"/>
                </a:cubicBezTo>
                <a:cubicBezTo>
                  <a:pt x="10678" y="5"/>
                  <a:pt x="10688" y="8"/>
                  <a:pt x="10698" y="12"/>
                </a:cubicBezTo>
                <a:cubicBezTo>
                  <a:pt x="10707" y="16"/>
                  <a:pt x="10717" y="21"/>
                  <a:pt x="10725" y="26"/>
                </a:cubicBezTo>
                <a:cubicBezTo>
                  <a:pt x="10734" y="32"/>
                  <a:pt x="10742" y="39"/>
                  <a:pt x="10749" y="46"/>
                </a:cubicBezTo>
                <a:cubicBezTo>
                  <a:pt x="10757" y="53"/>
                  <a:pt x="10763" y="61"/>
                  <a:pt x="10769" y="70"/>
                </a:cubicBezTo>
                <a:cubicBezTo>
                  <a:pt x="10775" y="79"/>
                  <a:pt x="10780" y="88"/>
                  <a:pt x="10784" y="98"/>
                </a:cubicBezTo>
                <a:cubicBezTo>
                  <a:pt x="10788" y="107"/>
                  <a:pt x="10791" y="117"/>
                  <a:pt x="10793" y="127"/>
                </a:cubicBezTo>
                <a:cubicBezTo>
                  <a:pt x="10795" y="138"/>
                  <a:pt x="10796" y="148"/>
                  <a:pt x="10796" y="158"/>
                </a:cubicBezTo>
                <a:lnTo>
                  <a:pt x="10796" y="662"/>
                </a:lnTo>
                <a:cubicBezTo>
                  <a:pt x="10796" y="672"/>
                  <a:pt x="10795" y="683"/>
                  <a:pt x="10793" y="693"/>
                </a:cubicBezTo>
                <a:cubicBezTo>
                  <a:pt x="10791" y="703"/>
                  <a:pt x="10788" y="713"/>
                  <a:pt x="10784" y="723"/>
                </a:cubicBezTo>
                <a:cubicBezTo>
                  <a:pt x="10780" y="732"/>
                  <a:pt x="10775" y="742"/>
                  <a:pt x="10769" y="750"/>
                </a:cubicBezTo>
                <a:cubicBezTo>
                  <a:pt x="10763" y="759"/>
                  <a:pt x="10757" y="767"/>
                  <a:pt x="10749" y="774"/>
                </a:cubicBezTo>
                <a:cubicBezTo>
                  <a:pt x="10742" y="782"/>
                  <a:pt x="10734" y="788"/>
                  <a:pt x="10725" y="794"/>
                </a:cubicBezTo>
                <a:cubicBezTo>
                  <a:pt x="10717" y="800"/>
                  <a:pt x="10707" y="805"/>
                  <a:pt x="10698" y="809"/>
                </a:cubicBezTo>
                <a:cubicBezTo>
                  <a:pt x="10688" y="813"/>
                  <a:pt x="10678" y="816"/>
                  <a:pt x="10668" y="818"/>
                </a:cubicBezTo>
                <a:cubicBezTo>
                  <a:pt x="10658" y="820"/>
                  <a:pt x="10647" y="821"/>
                  <a:pt x="10637" y="821"/>
                </a:cubicBezTo>
                <a:lnTo>
                  <a:pt x="158" y="821"/>
                </a:lnTo>
                <a:cubicBezTo>
                  <a:pt x="148" y="821"/>
                  <a:pt x="138" y="820"/>
                  <a:pt x="128" y="818"/>
                </a:cubicBezTo>
                <a:cubicBezTo>
                  <a:pt x="117" y="816"/>
                  <a:pt x="107" y="813"/>
                  <a:pt x="98" y="809"/>
                </a:cubicBezTo>
                <a:cubicBezTo>
                  <a:pt x="88" y="805"/>
                  <a:pt x="79" y="800"/>
                  <a:pt x="70" y="794"/>
                </a:cubicBezTo>
                <a:cubicBezTo>
                  <a:pt x="62" y="788"/>
                  <a:pt x="54" y="782"/>
                  <a:pt x="46" y="774"/>
                </a:cubicBezTo>
                <a:cubicBezTo>
                  <a:pt x="39" y="767"/>
                  <a:pt x="32" y="759"/>
                  <a:pt x="27" y="750"/>
                </a:cubicBezTo>
                <a:cubicBezTo>
                  <a:pt x="21" y="742"/>
                  <a:pt x="16" y="732"/>
                  <a:pt x="12" y="723"/>
                </a:cubicBezTo>
                <a:cubicBezTo>
                  <a:pt x="8" y="713"/>
                  <a:pt x="5" y="703"/>
                  <a:pt x="3" y="693"/>
                </a:cubicBezTo>
                <a:cubicBezTo>
                  <a:pt x="1" y="683"/>
                  <a:pt x="0" y="672"/>
                  <a:pt x="0" y="66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66720" y="4078080"/>
            <a:ext cx="1113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Repository: 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852920" y="4134600"/>
            <a:ext cx="37468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530" spc="-1" strike="noStrike">
                <a:solidFill>
                  <a:srgbClr val="007a53"/>
                </a:solidFill>
                <a:latin typeface="Courier New"/>
                <a:ea typeface="Courier New"/>
              </a:rPr>
              <a:t>github.com/aehrc/qh-connectathon</a:t>
            </a:r>
            <a:endParaRPr b="0" lang="en-AU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972040" y="4095720"/>
            <a:ext cx="3648240" cy="295560"/>
          </a:xfrm>
          <a:custGeom>
            <a:avLst/>
            <a:gdLst/>
            <a:ahLst/>
            <a:rect l="0" t="0" r="r" b="b"/>
            <a:pathLst>
              <a:path w="10134" h="821">
                <a:moveTo>
                  <a:pt x="0" y="66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976" y="0"/>
                </a:lnTo>
                <a:cubicBezTo>
                  <a:pt x="9986" y="0"/>
                  <a:pt x="9996" y="1"/>
                  <a:pt x="10007" y="3"/>
                </a:cubicBezTo>
                <a:cubicBezTo>
                  <a:pt x="10017" y="5"/>
                  <a:pt x="10027" y="8"/>
                  <a:pt x="10036" y="12"/>
                </a:cubicBezTo>
                <a:cubicBezTo>
                  <a:pt x="10046" y="16"/>
                  <a:pt x="10055" y="21"/>
                  <a:pt x="10064" y="26"/>
                </a:cubicBezTo>
                <a:cubicBezTo>
                  <a:pt x="10073" y="32"/>
                  <a:pt x="10081" y="39"/>
                  <a:pt x="10088" y="46"/>
                </a:cubicBezTo>
                <a:cubicBezTo>
                  <a:pt x="10095" y="53"/>
                  <a:pt x="10102" y="61"/>
                  <a:pt x="10108" y="70"/>
                </a:cubicBezTo>
                <a:cubicBezTo>
                  <a:pt x="10113" y="79"/>
                  <a:pt x="10118" y="88"/>
                  <a:pt x="10122" y="98"/>
                </a:cubicBezTo>
                <a:cubicBezTo>
                  <a:pt x="10126" y="107"/>
                  <a:pt x="10129" y="117"/>
                  <a:pt x="10131" y="127"/>
                </a:cubicBezTo>
                <a:cubicBezTo>
                  <a:pt x="10133" y="138"/>
                  <a:pt x="10134" y="148"/>
                  <a:pt x="10134" y="158"/>
                </a:cubicBezTo>
                <a:lnTo>
                  <a:pt x="10134" y="662"/>
                </a:lnTo>
                <a:cubicBezTo>
                  <a:pt x="10134" y="672"/>
                  <a:pt x="10133" y="683"/>
                  <a:pt x="10131" y="693"/>
                </a:cubicBezTo>
                <a:cubicBezTo>
                  <a:pt x="10129" y="703"/>
                  <a:pt x="10126" y="713"/>
                  <a:pt x="10122" y="723"/>
                </a:cubicBezTo>
                <a:cubicBezTo>
                  <a:pt x="10118" y="732"/>
                  <a:pt x="10113" y="742"/>
                  <a:pt x="10108" y="750"/>
                </a:cubicBezTo>
                <a:cubicBezTo>
                  <a:pt x="10102" y="759"/>
                  <a:pt x="10095" y="767"/>
                  <a:pt x="10088" y="774"/>
                </a:cubicBezTo>
                <a:cubicBezTo>
                  <a:pt x="10081" y="782"/>
                  <a:pt x="10073" y="788"/>
                  <a:pt x="10064" y="794"/>
                </a:cubicBezTo>
                <a:cubicBezTo>
                  <a:pt x="10055" y="800"/>
                  <a:pt x="10046" y="805"/>
                  <a:pt x="10036" y="809"/>
                </a:cubicBezTo>
                <a:cubicBezTo>
                  <a:pt x="10027" y="813"/>
                  <a:pt x="10017" y="816"/>
                  <a:pt x="10007" y="818"/>
                </a:cubicBezTo>
                <a:cubicBezTo>
                  <a:pt x="9996" y="820"/>
                  <a:pt x="9986" y="821"/>
                  <a:pt x="9976" y="821"/>
                </a:cubicBezTo>
                <a:lnTo>
                  <a:pt x="159" y="821"/>
                </a:lnTo>
                <a:cubicBezTo>
                  <a:pt x="148" y="821"/>
                  <a:pt x="138" y="820"/>
                  <a:pt x="128" y="818"/>
                </a:cubicBezTo>
                <a:cubicBezTo>
                  <a:pt x="117" y="816"/>
                  <a:pt x="108" y="813"/>
                  <a:pt x="98" y="809"/>
                </a:cubicBezTo>
                <a:cubicBezTo>
                  <a:pt x="88" y="805"/>
                  <a:pt x="79" y="800"/>
                  <a:pt x="70" y="794"/>
                </a:cubicBezTo>
                <a:cubicBezTo>
                  <a:pt x="62" y="788"/>
                  <a:pt x="54" y="782"/>
                  <a:pt x="46" y="774"/>
                </a:cubicBezTo>
                <a:cubicBezTo>
                  <a:pt x="39" y="767"/>
                  <a:pt x="32" y="759"/>
                  <a:pt x="27" y="750"/>
                </a:cubicBezTo>
                <a:cubicBezTo>
                  <a:pt x="21" y="742"/>
                  <a:pt x="16" y="732"/>
                  <a:pt x="12" y="723"/>
                </a:cubicBezTo>
                <a:cubicBezTo>
                  <a:pt x="8" y="713"/>
                  <a:pt x="5" y="703"/>
                  <a:pt x="3" y="693"/>
                </a:cubicBezTo>
                <a:cubicBezTo>
                  <a:pt x="1" y="683"/>
                  <a:pt x="0" y="672"/>
                  <a:pt x="0" y="662"/>
                </a:cubicBezTo>
                <a:close/>
              </a:path>
            </a:pathLst>
          </a:custGeom>
          <a:solidFill>
            <a:srgbClr val="f2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660280" y="4078080"/>
            <a:ext cx="309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 → 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048360" y="4134600"/>
            <a:ext cx="3512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530" spc="-1" strike="noStrike">
                <a:solidFill>
                  <a:srgbClr val="007a53"/>
                </a:solidFill>
                <a:latin typeface="Courier New"/>
                <a:ea typeface="Courier New"/>
              </a:rPr>
              <a:t>2026-10-29/1-FHIR-For-Services</a:t>
            </a:r>
            <a:endParaRPr b="0" lang="en-AU" sz="1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en-AU</dc:language>
  <cp:lastModifiedBy/>
  <cp:revision>0</cp:revision>
  <dc:subject/>
  <dc:title/>
</cp:coreProperties>
</file>