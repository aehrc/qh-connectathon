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224784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676080" y="243828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00240" y="243828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676080" y="243828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3000240" y="243828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676080" y="287640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3000240" y="287640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676080" y="331452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3000240" y="331452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676080" y="375264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3000240" y="375264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676080" y="419076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3000240" y="419076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76080" y="4628880"/>
            <a:ext cx="2324520" cy="438480"/>
          </a:xfrm>
          <a:custGeom>
            <a:avLst/>
            <a:gdLst/>
            <a:ahLst/>
            <a:rect l="0" t="0" r="r" b="b"/>
            <a:pathLst>
              <a:path w="6457" h="1218">
                <a:moveTo>
                  <a:pt x="0" y="0"/>
                </a:moveTo>
                <a:lnTo>
                  <a:pt x="6457" y="0"/>
                </a:lnTo>
                <a:lnTo>
                  <a:pt x="645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000240" y="4628880"/>
            <a:ext cx="6534360" cy="438480"/>
          </a:xfrm>
          <a:custGeom>
            <a:avLst/>
            <a:gdLst/>
            <a:ahLst/>
            <a:rect l="0" t="0" r="r" b="b"/>
            <a:pathLst>
              <a:path w="18151" h="1218">
                <a:moveTo>
                  <a:pt x="0" y="0"/>
                </a:moveTo>
                <a:lnTo>
                  <a:pt x="18151" y="0"/>
                </a:lnTo>
                <a:lnTo>
                  <a:pt x="181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66720" y="242856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666720" y="2428560"/>
            <a:ext cx="2333880" cy="10440"/>
          </a:xfrm>
          <a:custGeom>
            <a:avLst/>
            <a:gdLst/>
            <a:ahLst/>
            <a:rect l="0" t="0" r="r" b="b"/>
            <a:pathLst>
              <a:path w="6483" h="29">
                <a:moveTo>
                  <a:pt x="0" y="0"/>
                </a:moveTo>
                <a:lnTo>
                  <a:pt x="6483" y="0"/>
                </a:lnTo>
                <a:lnTo>
                  <a:pt x="648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2990520" y="242856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3000240" y="2428560"/>
            <a:ext cx="6544080" cy="10440"/>
          </a:xfrm>
          <a:custGeom>
            <a:avLst/>
            <a:gdLst/>
            <a:ahLst/>
            <a:rect l="0" t="0" r="r" b="b"/>
            <a:pathLst>
              <a:path w="18178" h="29">
                <a:moveTo>
                  <a:pt x="0" y="0"/>
                </a:moveTo>
                <a:lnTo>
                  <a:pt x="18178" y="0"/>
                </a:lnTo>
                <a:lnTo>
                  <a:pt x="18178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534240" y="242856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672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3000240" y="286668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666720" y="28764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2990520" y="28764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9534240" y="28764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66720" y="33145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66720" y="33051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2990520" y="3314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3000240" y="330516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9534240" y="3314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66720" y="3752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666720" y="374328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2990520" y="37526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3000240" y="374328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534240" y="37526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666720" y="4190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66720" y="418140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2990520" y="4190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3000240" y="418140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9534240" y="4190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66720" y="4628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66720" y="4619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2990520" y="46288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000240" y="461952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9534240" y="46288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66720" y="50576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3000240" y="505764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6720" y="178704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43400" y="2524680"/>
            <a:ext cx="386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Role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661360" y="2524680"/>
            <a:ext cx="1213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Responsibility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920" y="2962800"/>
            <a:ext cx="14148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(Placer)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3128040" y="2962800"/>
            <a:ext cx="4112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Searches the directory, raises the referral, books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99920" y="3400920"/>
            <a:ext cx="1593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Provider Directory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3128040" y="3400920"/>
            <a:ext cx="62780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Source of truth: organisations, services, locations, roles, endpoints (HCPD)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99920" y="3839040"/>
            <a:ext cx="1299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3128040" y="3839040"/>
            <a:ext cx="6070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Holds ServiceRequest, Task, Schedule/Slot/Appointment (HAPI + QH IG)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99920" y="4277160"/>
            <a:ext cx="2065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(Filler)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128040" y="4277160"/>
            <a:ext cx="487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Triages referrals, publishes availability, conﬁrms bookings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99920" y="4715280"/>
            <a:ext cx="1738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(stretch)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128040" y="4715280"/>
            <a:ext cx="398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Lets the patient view the referral and self-book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666720" y="15048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76080" y="221904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037880" y="221904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628960" y="221904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76080" y="221904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037880" y="221904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628960" y="221904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76080" y="265716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037880" y="265716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628960" y="265716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76080" y="3095280"/>
            <a:ext cx="362160" cy="438840"/>
          </a:xfrm>
          <a:custGeom>
            <a:avLst/>
            <a:gdLst/>
            <a:ahLst/>
            <a:rect l="0" t="0" r="r" b="b"/>
            <a:pathLst>
              <a:path w="1006" h="1219">
                <a:moveTo>
                  <a:pt x="0" y="0"/>
                </a:moveTo>
                <a:lnTo>
                  <a:pt x="1006" y="0"/>
                </a:lnTo>
                <a:lnTo>
                  <a:pt x="100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1037880" y="3095280"/>
            <a:ext cx="4591440" cy="438840"/>
          </a:xfrm>
          <a:custGeom>
            <a:avLst/>
            <a:gdLst/>
            <a:ahLst/>
            <a:rect l="0" t="0" r="r" b="b"/>
            <a:pathLst>
              <a:path w="12754" h="1219">
                <a:moveTo>
                  <a:pt x="0" y="0"/>
                </a:moveTo>
                <a:lnTo>
                  <a:pt x="12754" y="0"/>
                </a:lnTo>
                <a:lnTo>
                  <a:pt x="12754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628960" y="3095280"/>
            <a:ext cx="3458160" cy="438840"/>
          </a:xfrm>
          <a:custGeom>
            <a:avLst/>
            <a:gdLst/>
            <a:ahLst/>
            <a:rect l="0" t="0" r="r" b="b"/>
            <a:pathLst>
              <a:path w="9606" h="1219">
                <a:moveTo>
                  <a:pt x="0" y="0"/>
                </a:moveTo>
                <a:lnTo>
                  <a:pt x="9606" y="0"/>
                </a:lnTo>
                <a:lnTo>
                  <a:pt x="960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676080" y="353376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037880" y="353376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628960" y="353376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76080" y="397188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037880" y="397188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628960" y="397188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76080" y="441000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037880" y="441000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628960" y="441000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676080" y="4848120"/>
            <a:ext cx="362160" cy="438480"/>
          </a:xfrm>
          <a:custGeom>
            <a:avLst/>
            <a:gdLst/>
            <a:ahLst/>
            <a:rect l="0" t="0" r="r" b="b"/>
            <a:pathLst>
              <a:path w="1006" h="1218">
                <a:moveTo>
                  <a:pt x="0" y="0"/>
                </a:moveTo>
                <a:lnTo>
                  <a:pt x="1006" y="0"/>
                </a:lnTo>
                <a:lnTo>
                  <a:pt x="10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037880" y="4848120"/>
            <a:ext cx="4591440" cy="438480"/>
          </a:xfrm>
          <a:custGeom>
            <a:avLst/>
            <a:gdLst/>
            <a:ahLst/>
            <a:rect l="0" t="0" r="r" b="b"/>
            <a:pathLst>
              <a:path w="12754" h="1218">
                <a:moveTo>
                  <a:pt x="0" y="0"/>
                </a:moveTo>
                <a:lnTo>
                  <a:pt x="12754" y="0"/>
                </a:lnTo>
                <a:lnTo>
                  <a:pt x="1275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628960" y="4848120"/>
            <a:ext cx="3458160" cy="438480"/>
          </a:xfrm>
          <a:custGeom>
            <a:avLst/>
            <a:gdLst/>
            <a:ahLst/>
            <a:rect l="0" t="0" r="r" b="b"/>
            <a:pathLst>
              <a:path w="9606" h="1218">
                <a:moveTo>
                  <a:pt x="0" y="0"/>
                </a:moveTo>
                <a:lnTo>
                  <a:pt x="9606" y="0"/>
                </a:lnTo>
                <a:lnTo>
                  <a:pt x="960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66672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666720" y="2209680"/>
            <a:ext cx="371520" cy="9720"/>
          </a:xfrm>
          <a:custGeom>
            <a:avLst/>
            <a:gdLst/>
            <a:ahLst/>
            <a:rect l="0" t="0" r="r" b="b"/>
            <a:pathLst>
              <a:path w="1032" h="27">
                <a:moveTo>
                  <a:pt x="0" y="0"/>
                </a:moveTo>
                <a:lnTo>
                  <a:pt x="1032" y="0"/>
                </a:lnTo>
                <a:lnTo>
                  <a:pt x="10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02852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1037880" y="220968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61960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5628960" y="2209680"/>
            <a:ext cx="3458160" cy="9720"/>
          </a:xfrm>
          <a:custGeom>
            <a:avLst/>
            <a:gdLst/>
            <a:ahLst/>
            <a:rect l="0" t="0" r="r" b="b"/>
            <a:pathLst>
              <a:path w="9606" h="27">
                <a:moveTo>
                  <a:pt x="0" y="0"/>
                </a:moveTo>
                <a:lnTo>
                  <a:pt x="9606" y="0"/>
                </a:lnTo>
                <a:lnTo>
                  <a:pt x="96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9077040" y="220968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66720" y="2647800"/>
            <a:ext cx="371520" cy="9720"/>
          </a:xfrm>
          <a:custGeom>
            <a:avLst/>
            <a:gdLst/>
            <a:ahLst/>
            <a:rect l="0" t="0" r="r" b="b"/>
            <a:pathLst>
              <a:path w="1032" h="27">
                <a:moveTo>
                  <a:pt x="0" y="0"/>
                </a:moveTo>
                <a:lnTo>
                  <a:pt x="1032" y="0"/>
                </a:lnTo>
                <a:lnTo>
                  <a:pt x="10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037880" y="264780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628960" y="2647800"/>
            <a:ext cx="3458160" cy="9720"/>
          </a:xfrm>
          <a:custGeom>
            <a:avLst/>
            <a:gdLst/>
            <a:ahLst/>
            <a:rect l="0" t="0" r="r" b="b"/>
            <a:pathLst>
              <a:path w="9606" h="27">
                <a:moveTo>
                  <a:pt x="0" y="0"/>
                </a:moveTo>
                <a:lnTo>
                  <a:pt x="9606" y="0"/>
                </a:lnTo>
                <a:lnTo>
                  <a:pt x="96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6672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102852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61960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9077040" y="2657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6672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666720" y="3085920"/>
            <a:ext cx="371520" cy="9720"/>
          </a:xfrm>
          <a:custGeom>
            <a:avLst/>
            <a:gdLst/>
            <a:ahLst/>
            <a:rect l="0" t="0" r="r" b="b"/>
            <a:pathLst>
              <a:path w="1032" h="27">
                <a:moveTo>
                  <a:pt x="0" y="0"/>
                </a:moveTo>
                <a:lnTo>
                  <a:pt x="1032" y="0"/>
                </a:lnTo>
                <a:lnTo>
                  <a:pt x="10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02852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037880" y="308592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561960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628960" y="3085920"/>
            <a:ext cx="3458160" cy="9720"/>
          </a:xfrm>
          <a:custGeom>
            <a:avLst/>
            <a:gdLst/>
            <a:ahLst/>
            <a:rect l="0" t="0" r="r" b="b"/>
            <a:pathLst>
              <a:path w="9606" h="27">
                <a:moveTo>
                  <a:pt x="0" y="0"/>
                </a:moveTo>
                <a:lnTo>
                  <a:pt x="9606" y="0"/>
                </a:lnTo>
                <a:lnTo>
                  <a:pt x="96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9077040" y="3095280"/>
            <a:ext cx="10080" cy="438840"/>
          </a:xfrm>
          <a:custGeom>
            <a:avLst/>
            <a:gdLst/>
            <a:ahLst/>
            <a:rect l="0" t="0" r="r" b="b"/>
            <a:pathLst>
              <a:path w="28" h="1219">
                <a:moveTo>
                  <a:pt x="0" y="0"/>
                </a:moveTo>
                <a:lnTo>
                  <a:pt x="28" y="0"/>
                </a:lnTo>
                <a:lnTo>
                  <a:pt x="28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66672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666720" y="3524040"/>
            <a:ext cx="371520" cy="10080"/>
          </a:xfrm>
          <a:custGeom>
            <a:avLst/>
            <a:gdLst/>
            <a:ahLst/>
            <a:rect l="0" t="0" r="r" b="b"/>
            <a:pathLst>
              <a:path w="1032" h="28">
                <a:moveTo>
                  <a:pt x="0" y="0"/>
                </a:moveTo>
                <a:lnTo>
                  <a:pt x="1032" y="0"/>
                </a:lnTo>
                <a:lnTo>
                  <a:pt x="10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02852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037880" y="352404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61960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5628960" y="3524040"/>
            <a:ext cx="3458160" cy="10080"/>
          </a:xfrm>
          <a:custGeom>
            <a:avLst/>
            <a:gdLst/>
            <a:ahLst/>
            <a:rect l="0" t="0" r="r" b="b"/>
            <a:pathLst>
              <a:path w="9606" h="28">
                <a:moveTo>
                  <a:pt x="0" y="0"/>
                </a:moveTo>
                <a:lnTo>
                  <a:pt x="9606" y="0"/>
                </a:lnTo>
                <a:lnTo>
                  <a:pt x="96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9077040" y="3533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66672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666720" y="3962160"/>
            <a:ext cx="371520" cy="10080"/>
          </a:xfrm>
          <a:custGeom>
            <a:avLst/>
            <a:gdLst/>
            <a:ahLst/>
            <a:rect l="0" t="0" r="r" b="b"/>
            <a:pathLst>
              <a:path w="1032" h="28">
                <a:moveTo>
                  <a:pt x="0" y="0"/>
                </a:moveTo>
                <a:lnTo>
                  <a:pt x="1032" y="0"/>
                </a:lnTo>
                <a:lnTo>
                  <a:pt x="10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02852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037880" y="396216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561960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5628960" y="3962160"/>
            <a:ext cx="3458160" cy="10080"/>
          </a:xfrm>
          <a:custGeom>
            <a:avLst/>
            <a:gdLst/>
            <a:ahLst/>
            <a:rect l="0" t="0" r="r" b="b"/>
            <a:pathLst>
              <a:path w="9606" h="28">
                <a:moveTo>
                  <a:pt x="0" y="0"/>
                </a:moveTo>
                <a:lnTo>
                  <a:pt x="9606" y="0"/>
                </a:lnTo>
                <a:lnTo>
                  <a:pt x="96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9077040" y="39718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66672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666720" y="4400280"/>
            <a:ext cx="371520" cy="10080"/>
          </a:xfrm>
          <a:custGeom>
            <a:avLst/>
            <a:gdLst/>
            <a:ahLst/>
            <a:rect l="0" t="0" r="r" b="b"/>
            <a:pathLst>
              <a:path w="1032" h="28">
                <a:moveTo>
                  <a:pt x="0" y="0"/>
                </a:moveTo>
                <a:lnTo>
                  <a:pt x="1032" y="0"/>
                </a:lnTo>
                <a:lnTo>
                  <a:pt x="10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102852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037880" y="440028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61960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628960" y="4400280"/>
            <a:ext cx="3458160" cy="10080"/>
          </a:xfrm>
          <a:custGeom>
            <a:avLst/>
            <a:gdLst/>
            <a:ahLst/>
            <a:rect l="0" t="0" r="r" b="b"/>
            <a:pathLst>
              <a:path w="9606" h="28">
                <a:moveTo>
                  <a:pt x="0" y="0"/>
                </a:moveTo>
                <a:lnTo>
                  <a:pt x="9606" y="0"/>
                </a:lnTo>
                <a:lnTo>
                  <a:pt x="96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9077040" y="44100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6672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66720" y="4838400"/>
            <a:ext cx="371520" cy="10080"/>
          </a:xfrm>
          <a:custGeom>
            <a:avLst/>
            <a:gdLst/>
            <a:ahLst/>
            <a:rect l="0" t="0" r="r" b="b"/>
            <a:pathLst>
              <a:path w="1032" h="28">
                <a:moveTo>
                  <a:pt x="0" y="0"/>
                </a:moveTo>
                <a:lnTo>
                  <a:pt x="1032" y="0"/>
                </a:lnTo>
                <a:lnTo>
                  <a:pt x="10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02852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1037880" y="483840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561960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5628960" y="4838400"/>
            <a:ext cx="3458160" cy="10080"/>
          </a:xfrm>
          <a:custGeom>
            <a:avLst/>
            <a:gdLst/>
            <a:ahLst/>
            <a:rect l="0" t="0" r="r" b="b"/>
            <a:pathLst>
              <a:path w="9606" h="28">
                <a:moveTo>
                  <a:pt x="0" y="0"/>
                </a:moveTo>
                <a:lnTo>
                  <a:pt x="9606" y="0"/>
                </a:lnTo>
                <a:lnTo>
                  <a:pt x="96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9077040" y="48481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666720" y="5276520"/>
            <a:ext cx="371520" cy="10080"/>
          </a:xfrm>
          <a:custGeom>
            <a:avLst/>
            <a:gdLst/>
            <a:ahLst/>
            <a:rect l="0" t="0" r="r" b="b"/>
            <a:pathLst>
              <a:path w="1032" h="28">
                <a:moveTo>
                  <a:pt x="0" y="0"/>
                </a:moveTo>
                <a:lnTo>
                  <a:pt x="1032" y="0"/>
                </a:lnTo>
                <a:lnTo>
                  <a:pt x="10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037880" y="527652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5628960" y="5276520"/>
            <a:ext cx="3458160" cy="10080"/>
          </a:xfrm>
          <a:custGeom>
            <a:avLst/>
            <a:gdLst/>
            <a:ahLst/>
            <a:rect l="0" t="0" r="r" b="b"/>
            <a:pathLst>
              <a:path w="9606" h="28">
                <a:moveTo>
                  <a:pt x="0" y="0"/>
                </a:moveTo>
                <a:lnTo>
                  <a:pt x="9606" y="0"/>
                </a:lnTo>
                <a:lnTo>
                  <a:pt x="96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666720" y="543852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66720" y="1044360"/>
            <a:ext cx="116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66720" y="1716840"/>
            <a:ext cx="7712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The referrer, referral server and imaging provider (ﬁller) interact in six steps: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01000" y="230544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#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3137040" y="2305440"/>
            <a:ext cx="3877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Step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89320" y="2305440"/>
            <a:ext cx="9518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From → To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99920" y="274356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1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63520" y="2743560"/>
            <a:ext cx="36342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Search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the directory for an imaging service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754960" y="2743560"/>
            <a:ext cx="14684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Referrer → HCPD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99920" y="318204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2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63520" y="3182040"/>
            <a:ext cx="43610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POST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referral Bundle (ServiceRequest + Task + info)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754960" y="3182040"/>
            <a:ext cx="2259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Referrer → Referral 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99920" y="362016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3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163520" y="3620160"/>
            <a:ext cx="28004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Poll / subscribe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for new referrals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754960" y="3620160"/>
            <a:ext cx="2992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 → Referral 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99920" y="405828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4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163520" y="4058280"/>
            <a:ext cx="3073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Publish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availability, then </a:t>
            </a:r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search Slot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754960" y="4058280"/>
            <a:ext cx="3211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Provider publishes · Referrer searches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99920" y="449640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5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63520" y="4496400"/>
            <a:ext cx="26114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POST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Appointment (proposed)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754960" y="4496400"/>
            <a:ext cx="2259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Referrer → Referral 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99920" y="4934520"/>
            <a:ext cx="209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6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163520" y="4934520"/>
            <a:ext cx="37710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Accept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Task, </a:t>
            </a:r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Appointment, read status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754960" y="4934520"/>
            <a:ext cx="29145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Provider conﬁrms · Referrer tracks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71640" y="5469840"/>
            <a:ext cx="739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Discovery → request → triage → book → track — one continuous thread.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