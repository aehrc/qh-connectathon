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06080"/>
            <a:ext cx="592596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for Services — Kick Oﬀ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242520"/>
            <a:ext cx="6738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Radiology Referral with Directory Discovery and Booking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840120"/>
            <a:ext cx="533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FHIR in Queensland Health Connectathon | October 2026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335480"/>
            <a:ext cx="5203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leads: Daniel Foulkes · Joern Guy Süß · Paul Davies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162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66720" y="4781520"/>
            <a:ext cx="57240" cy="371520"/>
          </a:xfrm>
          <a:custGeom>
            <a:avLst/>
            <a:gdLst/>
            <a:ahLst/>
            <a:rect l="0" t="0" r="r" b="b"/>
            <a:pathLst>
              <a:path w="159" h="1032">
                <a:moveTo>
                  <a:pt x="0" y="0"/>
                </a:moveTo>
                <a:lnTo>
                  <a:pt x="159" y="0"/>
                </a:lnTo>
                <a:lnTo>
                  <a:pt x="159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701360"/>
            <a:ext cx="289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What we are building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2374200"/>
            <a:ext cx="55249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end-to-end radiology 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workﬂow. A referrer: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2898000"/>
            <a:ext cx="8804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Discovers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suitable imaging service in the Health Connect Provider Directory (HCPD)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752640" y="3352680"/>
            <a:ext cx="1943640" cy="324000"/>
          </a:xfrm>
          <a:custGeom>
            <a:avLst/>
            <a:gdLst/>
            <a:ahLst/>
            <a:rect l="0" t="0" r="r" b="b"/>
            <a:pathLst>
              <a:path w="539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1" y="1"/>
                  <a:pt x="5271" y="3"/>
                </a:cubicBezTo>
                <a:cubicBezTo>
                  <a:pt x="5281" y="5"/>
                  <a:pt x="5291" y="8"/>
                  <a:pt x="5301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7" y="32"/>
                  <a:pt x="5345" y="39"/>
                  <a:pt x="5352" y="46"/>
                </a:cubicBezTo>
                <a:cubicBezTo>
                  <a:pt x="5359" y="54"/>
                  <a:pt x="5366" y="62"/>
                  <a:pt x="5372" y="70"/>
                </a:cubicBezTo>
                <a:cubicBezTo>
                  <a:pt x="5378" y="79"/>
                  <a:pt x="5383" y="88"/>
                  <a:pt x="5386" y="98"/>
                </a:cubicBezTo>
                <a:cubicBezTo>
                  <a:pt x="5390" y="107"/>
                  <a:pt x="5393" y="117"/>
                  <a:pt x="5396" y="129"/>
                </a:cubicBezTo>
                <a:cubicBezTo>
                  <a:pt x="5398" y="139"/>
                  <a:pt x="5399" y="149"/>
                  <a:pt x="5399" y="160"/>
                </a:cubicBezTo>
                <a:lnTo>
                  <a:pt x="5399" y="742"/>
                </a:lnTo>
                <a:cubicBezTo>
                  <a:pt x="5399" y="752"/>
                  <a:pt x="5398" y="762"/>
                  <a:pt x="5396" y="773"/>
                </a:cubicBezTo>
                <a:cubicBezTo>
                  <a:pt x="5393" y="783"/>
                  <a:pt x="5390" y="793"/>
                  <a:pt x="5386" y="802"/>
                </a:cubicBezTo>
                <a:cubicBezTo>
                  <a:pt x="5383" y="812"/>
                  <a:pt x="5378" y="821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5" y="861"/>
                  <a:pt x="5337" y="868"/>
                  <a:pt x="5328" y="874"/>
                </a:cubicBezTo>
                <a:cubicBezTo>
                  <a:pt x="5319" y="879"/>
                  <a:pt x="5310" y="884"/>
                  <a:pt x="5301" y="888"/>
                </a:cubicBezTo>
                <a:cubicBezTo>
                  <a:pt x="5291" y="892"/>
                  <a:pt x="5281" y="895"/>
                  <a:pt x="5271" y="897"/>
                </a:cubicBezTo>
                <a:cubicBezTo>
                  <a:pt x="5261" y="899"/>
                  <a:pt x="5250" y="900"/>
                  <a:pt x="5240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79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18000" y="3336120"/>
            <a:ext cx="287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Creates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referral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41200" y="339084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ServiceRequest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924520" y="3352680"/>
            <a:ext cx="676440" cy="324000"/>
          </a:xfrm>
          <a:custGeom>
            <a:avLst/>
            <a:gdLst/>
            <a:ahLst/>
            <a:rect l="0" t="0" r="r" b="b"/>
            <a:pathLst>
              <a:path w="187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720" y="0"/>
                </a:lnTo>
                <a:cubicBezTo>
                  <a:pt x="1731" y="0"/>
                  <a:pt x="1741" y="1"/>
                  <a:pt x="1751" y="3"/>
                </a:cubicBezTo>
                <a:cubicBezTo>
                  <a:pt x="1762" y="5"/>
                  <a:pt x="1771" y="8"/>
                  <a:pt x="1781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7" y="32"/>
                  <a:pt x="1825" y="39"/>
                  <a:pt x="1833" y="46"/>
                </a:cubicBezTo>
                <a:cubicBezTo>
                  <a:pt x="1840" y="54"/>
                  <a:pt x="1847" y="62"/>
                  <a:pt x="1852" y="70"/>
                </a:cubicBezTo>
                <a:cubicBezTo>
                  <a:pt x="1858" y="79"/>
                  <a:pt x="1863" y="88"/>
                  <a:pt x="1867" y="98"/>
                </a:cubicBezTo>
                <a:cubicBezTo>
                  <a:pt x="1871" y="107"/>
                  <a:pt x="1874" y="117"/>
                  <a:pt x="1876" y="129"/>
                </a:cubicBezTo>
                <a:cubicBezTo>
                  <a:pt x="1878" y="139"/>
                  <a:pt x="1879" y="149"/>
                  <a:pt x="1879" y="160"/>
                </a:cubicBezTo>
                <a:lnTo>
                  <a:pt x="1879" y="742"/>
                </a:lnTo>
                <a:cubicBezTo>
                  <a:pt x="1879" y="752"/>
                  <a:pt x="1878" y="762"/>
                  <a:pt x="1876" y="773"/>
                </a:cubicBezTo>
                <a:cubicBezTo>
                  <a:pt x="1874" y="783"/>
                  <a:pt x="1871" y="793"/>
                  <a:pt x="1867" y="802"/>
                </a:cubicBezTo>
                <a:cubicBezTo>
                  <a:pt x="1863" y="812"/>
                  <a:pt x="1858" y="821"/>
                  <a:pt x="1852" y="830"/>
                </a:cubicBezTo>
                <a:cubicBezTo>
                  <a:pt x="1847" y="839"/>
                  <a:pt x="1840" y="847"/>
                  <a:pt x="1833" y="854"/>
                </a:cubicBezTo>
                <a:cubicBezTo>
                  <a:pt x="1825" y="861"/>
                  <a:pt x="1817" y="868"/>
                  <a:pt x="1809" y="874"/>
                </a:cubicBezTo>
                <a:cubicBezTo>
                  <a:pt x="1800" y="879"/>
                  <a:pt x="1791" y="884"/>
                  <a:pt x="1781" y="888"/>
                </a:cubicBezTo>
                <a:cubicBezTo>
                  <a:pt x="1771" y="892"/>
                  <a:pt x="1762" y="895"/>
                  <a:pt x="1751" y="897"/>
                </a:cubicBezTo>
                <a:cubicBezTo>
                  <a:pt x="1741" y="899"/>
                  <a:pt x="1731" y="900"/>
                  <a:pt x="1720" y="900"/>
                </a:cubicBezTo>
                <a:lnTo>
                  <a:pt x="158" y="900"/>
                </a:lnTo>
                <a:cubicBezTo>
                  <a:pt x="148" y="900"/>
                  <a:pt x="138" y="899"/>
                  <a:pt x="127" y="897"/>
                </a:cubicBezTo>
                <a:cubicBezTo>
                  <a:pt x="117" y="895"/>
                  <a:pt x="107" y="892"/>
                  <a:pt x="98" y="888"/>
                </a:cubicBezTo>
                <a:cubicBezTo>
                  <a:pt x="88" y="884"/>
                  <a:pt x="79" y="879"/>
                  <a:pt x="70" y="874"/>
                </a:cubicBezTo>
                <a:cubicBezTo>
                  <a:pt x="61" y="868"/>
                  <a:pt x="53" y="861"/>
                  <a:pt x="46" y="854"/>
                </a:cubicBezTo>
                <a:cubicBezTo>
                  <a:pt x="39" y="847"/>
                  <a:pt x="32" y="839"/>
                  <a:pt x="26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693400" y="3336120"/>
            <a:ext cx="247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+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720" y="3390840"/>
            <a:ext cx="505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Task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602040" y="3336120"/>
            <a:ext cx="2905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supporting information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8000" y="3764880"/>
            <a:ext cx="7017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 appointment against slots the imaging provider publishes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66720" y="4288680"/>
            <a:ext cx="8568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…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the referral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tracked through a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until the appointment is conﬁrmed.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1640" y="4812480"/>
            <a:ext cx="885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One cohesive scenario that exercises many core FHIR resources and workﬂow concepts.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2053800"/>
            <a:ext cx="2397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Why this scenario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162080" y="2726640"/>
            <a:ext cx="731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Realistic and manageable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relevant to Queensland Health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62080" y="3164760"/>
            <a:ext cx="8387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Exercises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Provider, ServiceRequest, Task, Schedule, Slot, Appointment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in one ﬂow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62080" y="3593160"/>
            <a:ext cx="5429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Complements QH's existing smart-referral capabilities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62080" y="4031280"/>
            <a:ext cx="8041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Builds on existing referral workﬂow prototypes and provider-directory concepts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62080" y="4460040"/>
            <a:ext cx="5098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Broadest track draw — plan for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35–40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66720" y="1161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3537720" y="2256840"/>
            <a:ext cx="112320" cy="112320"/>
          </a:xfrm>
          <a:custGeom>
            <a:avLst/>
            <a:gdLst/>
            <a:ahLst/>
            <a:rect l="0" t="0" r="r" b="b"/>
            <a:pathLst>
              <a:path w="312" h="312">
                <a:moveTo>
                  <a:pt x="312" y="157"/>
                </a:moveTo>
                <a:cubicBezTo>
                  <a:pt x="312" y="167"/>
                  <a:pt x="311" y="177"/>
                  <a:pt x="309" y="187"/>
                </a:cubicBezTo>
                <a:cubicBezTo>
                  <a:pt x="307" y="197"/>
                  <a:pt x="304" y="207"/>
                  <a:pt x="300" y="216"/>
                </a:cubicBezTo>
                <a:cubicBezTo>
                  <a:pt x="297" y="226"/>
                  <a:pt x="292" y="235"/>
                  <a:pt x="286" y="243"/>
                </a:cubicBezTo>
                <a:cubicBezTo>
                  <a:pt x="279" y="252"/>
                  <a:pt x="273" y="259"/>
                  <a:pt x="266" y="267"/>
                </a:cubicBezTo>
                <a:cubicBezTo>
                  <a:pt x="259" y="274"/>
                  <a:pt x="251" y="280"/>
                  <a:pt x="242" y="286"/>
                </a:cubicBezTo>
                <a:cubicBezTo>
                  <a:pt x="234" y="292"/>
                  <a:pt x="225" y="296"/>
                  <a:pt x="215" y="300"/>
                </a:cubicBezTo>
                <a:cubicBezTo>
                  <a:pt x="206" y="304"/>
                  <a:pt x="196" y="307"/>
                  <a:pt x="186" y="309"/>
                </a:cubicBezTo>
                <a:cubicBezTo>
                  <a:pt x="176" y="311"/>
                  <a:pt x="166" y="312"/>
                  <a:pt x="156" y="312"/>
                </a:cubicBezTo>
                <a:cubicBezTo>
                  <a:pt x="146" y="312"/>
                  <a:pt x="135" y="311"/>
                  <a:pt x="125" y="309"/>
                </a:cubicBezTo>
                <a:cubicBezTo>
                  <a:pt x="115" y="307"/>
                  <a:pt x="106" y="304"/>
                  <a:pt x="96" y="300"/>
                </a:cubicBezTo>
                <a:cubicBezTo>
                  <a:pt x="87" y="296"/>
                  <a:pt x="78" y="292"/>
                  <a:pt x="69" y="286"/>
                </a:cubicBezTo>
                <a:cubicBezTo>
                  <a:pt x="61" y="280"/>
                  <a:pt x="53" y="274"/>
                  <a:pt x="46" y="267"/>
                </a:cubicBezTo>
                <a:cubicBezTo>
                  <a:pt x="39" y="259"/>
                  <a:pt x="32" y="252"/>
                  <a:pt x="26" y="243"/>
                </a:cubicBezTo>
                <a:cubicBezTo>
                  <a:pt x="21" y="235"/>
                  <a:pt x="16" y="226"/>
                  <a:pt x="12" y="216"/>
                </a:cubicBezTo>
                <a:cubicBezTo>
                  <a:pt x="8" y="207"/>
                  <a:pt x="5" y="197"/>
                  <a:pt x="3" y="187"/>
                </a:cubicBezTo>
                <a:cubicBezTo>
                  <a:pt x="1" y="177"/>
                  <a:pt x="0" y="167"/>
                  <a:pt x="0" y="157"/>
                </a:cubicBezTo>
                <a:cubicBezTo>
                  <a:pt x="0" y="146"/>
                  <a:pt x="1" y="136"/>
                  <a:pt x="3" y="126"/>
                </a:cubicBezTo>
                <a:cubicBezTo>
                  <a:pt x="5" y="116"/>
                  <a:pt x="8" y="105"/>
                  <a:pt x="12" y="96"/>
                </a:cubicBezTo>
                <a:cubicBezTo>
                  <a:pt x="16" y="87"/>
                  <a:pt x="21" y="78"/>
                  <a:pt x="26" y="69"/>
                </a:cubicBezTo>
                <a:cubicBezTo>
                  <a:pt x="32" y="61"/>
                  <a:pt x="39" y="53"/>
                  <a:pt x="46" y="46"/>
                </a:cubicBezTo>
                <a:cubicBezTo>
                  <a:pt x="53" y="38"/>
                  <a:pt x="61" y="32"/>
                  <a:pt x="69" y="26"/>
                </a:cubicBezTo>
                <a:cubicBezTo>
                  <a:pt x="78" y="21"/>
                  <a:pt x="87" y="16"/>
                  <a:pt x="96" y="12"/>
                </a:cubicBezTo>
                <a:cubicBezTo>
                  <a:pt x="106" y="8"/>
                  <a:pt x="115" y="5"/>
                  <a:pt x="125" y="3"/>
                </a:cubicBezTo>
                <a:cubicBezTo>
                  <a:pt x="135" y="1"/>
                  <a:pt x="146" y="0"/>
                  <a:pt x="156" y="0"/>
                </a:cubicBezTo>
                <a:cubicBezTo>
                  <a:pt x="166" y="0"/>
                  <a:pt x="176" y="1"/>
                  <a:pt x="186" y="3"/>
                </a:cubicBezTo>
                <a:cubicBezTo>
                  <a:pt x="196" y="5"/>
                  <a:pt x="206" y="8"/>
                  <a:pt x="215" y="12"/>
                </a:cubicBezTo>
                <a:cubicBezTo>
                  <a:pt x="225" y="16"/>
                  <a:pt x="234" y="21"/>
                  <a:pt x="242" y="26"/>
                </a:cubicBezTo>
                <a:cubicBezTo>
                  <a:pt x="251" y="32"/>
                  <a:pt x="259" y="38"/>
                  <a:pt x="266" y="46"/>
                </a:cubicBezTo>
                <a:cubicBezTo>
                  <a:pt x="273" y="53"/>
                  <a:pt x="279" y="61"/>
                  <a:pt x="286" y="69"/>
                </a:cubicBezTo>
                <a:cubicBezTo>
                  <a:pt x="292" y="78"/>
                  <a:pt x="297" y="87"/>
                  <a:pt x="301" y="96"/>
                </a:cubicBezTo>
                <a:cubicBezTo>
                  <a:pt x="304" y="105"/>
                  <a:pt x="307" y="116"/>
                  <a:pt x="309" y="126"/>
                </a:cubicBezTo>
                <a:cubicBezTo>
                  <a:pt x="311" y="136"/>
                  <a:pt x="312" y="146"/>
                  <a:pt x="312" y="157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3537720" y="2256840"/>
            <a:ext cx="112320" cy="112320"/>
          </a:xfrm>
          <a:custGeom>
            <a:avLst/>
            <a:gdLst/>
            <a:ahLst/>
            <a:rect l="0" t="0" r="r" b="b"/>
            <a:pathLst>
              <a:path w="312" h="312">
                <a:moveTo>
                  <a:pt x="312" y="157"/>
                </a:moveTo>
                <a:cubicBezTo>
                  <a:pt x="312" y="167"/>
                  <a:pt x="311" y="177"/>
                  <a:pt x="309" y="187"/>
                </a:cubicBezTo>
                <a:cubicBezTo>
                  <a:pt x="307" y="197"/>
                  <a:pt x="304" y="207"/>
                  <a:pt x="300" y="216"/>
                </a:cubicBezTo>
                <a:cubicBezTo>
                  <a:pt x="297" y="226"/>
                  <a:pt x="292" y="235"/>
                  <a:pt x="286" y="243"/>
                </a:cubicBezTo>
                <a:cubicBezTo>
                  <a:pt x="279" y="252"/>
                  <a:pt x="273" y="259"/>
                  <a:pt x="266" y="267"/>
                </a:cubicBezTo>
                <a:cubicBezTo>
                  <a:pt x="259" y="274"/>
                  <a:pt x="251" y="280"/>
                  <a:pt x="242" y="286"/>
                </a:cubicBezTo>
                <a:cubicBezTo>
                  <a:pt x="234" y="292"/>
                  <a:pt x="225" y="296"/>
                  <a:pt x="215" y="300"/>
                </a:cubicBezTo>
                <a:cubicBezTo>
                  <a:pt x="206" y="304"/>
                  <a:pt x="196" y="307"/>
                  <a:pt x="186" y="309"/>
                </a:cubicBezTo>
                <a:cubicBezTo>
                  <a:pt x="176" y="311"/>
                  <a:pt x="166" y="312"/>
                  <a:pt x="156" y="312"/>
                </a:cubicBezTo>
                <a:cubicBezTo>
                  <a:pt x="146" y="312"/>
                  <a:pt x="135" y="311"/>
                  <a:pt x="125" y="309"/>
                </a:cubicBezTo>
                <a:cubicBezTo>
                  <a:pt x="115" y="307"/>
                  <a:pt x="106" y="304"/>
                  <a:pt x="96" y="300"/>
                </a:cubicBezTo>
                <a:cubicBezTo>
                  <a:pt x="87" y="296"/>
                  <a:pt x="78" y="292"/>
                  <a:pt x="69" y="286"/>
                </a:cubicBezTo>
                <a:cubicBezTo>
                  <a:pt x="61" y="280"/>
                  <a:pt x="53" y="274"/>
                  <a:pt x="46" y="267"/>
                </a:cubicBezTo>
                <a:cubicBezTo>
                  <a:pt x="39" y="259"/>
                  <a:pt x="32" y="252"/>
                  <a:pt x="26" y="243"/>
                </a:cubicBezTo>
                <a:cubicBezTo>
                  <a:pt x="21" y="235"/>
                  <a:pt x="16" y="226"/>
                  <a:pt x="12" y="216"/>
                </a:cubicBezTo>
                <a:cubicBezTo>
                  <a:pt x="8" y="207"/>
                  <a:pt x="5" y="197"/>
                  <a:pt x="3" y="187"/>
                </a:cubicBezTo>
                <a:cubicBezTo>
                  <a:pt x="1" y="177"/>
                  <a:pt x="0" y="167"/>
                  <a:pt x="0" y="157"/>
                </a:cubicBezTo>
                <a:cubicBezTo>
                  <a:pt x="0" y="146"/>
                  <a:pt x="1" y="136"/>
                  <a:pt x="3" y="126"/>
                </a:cubicBezTo>
                <a:cubicBezTo>
                  <a:pt x="5" y="116"/>
                  <a:pt x="8" y="105"/>
                  <a:pt x="12" y="96"/>
                </a:cubicBezTo>
                <a:cubicBezTo>
                  <a:pt x="16" y="87"/>
                  <a:pt x="21" y="78"/>
                  <a:pt x="26" y="69"/>
                </a:cubicBezTo>
                <a:cubicBezTo>
                  <a:pt x="32" y="61"/>
                  <a:pt x="39" y="53"/>
                  <a:pt x="46" y="46"/>
                </a:cubicBezTo>
                <a:cubicBezTo>
                  <a:pt x="53" y="38"/>
                  <a:pt x="61" y="32"/>
                  <a:pt x="69" y="26"/>
                </a:cubicBezTo>
                <a:cubicBezTo>
                  <a:pt x="78" y="21"/>
                  <a:pt x="87" y="16"/>
                  <a:pt x="96" y="12"/>
                </a:cubicBezTo>
                <a:cubicBezTo>
                  <a:pt x="106" y="8"/>
                  <a:pt x="115" y="5"/>
                  <a:pt x="125" y="3"/>
                </a:cubicBezTo>
                <a:cubicBezTo>
                  <a:pt x="135" y="1"/>
                  <a:pt x="146" y="0"/>
                  <a:pt x="156" y="0"/>
                </a:cubicBezTo>
                <a:cubicBezTo>
                  <a:pt x="166" y="0"/>
                  <a:pt x="176" y="1"/>
                  <a:pt x="186" y="3"/>
                </a:cubicBezTo>
                <a:cubicBezTo>
                  <a:pt x="196" y="5"/>
                  <a:pt x="206" y="8"/>
                  <a:pt x="215" y="12"/>
                </a:cubicBezTo>
                <a:cubicBezTo>
                  <a:pt x="225" y="16"/>
                  <a:pt x="234" y="21"/>
                  <a:pt x="242" y="26"/>
                </a:cubicBezTo>
                <a:cubicBezTo>
                  <a:pt x="251" y="32"/>
                  <a:pt x="259" y="38"/>
                  <a:pt x="266" y="46"/>
                </a:cubicBezTo>
                <a:cubicBezTo>
                  <a:pt x="273" y="53"/>
                  <a:pt x="279" y="61"/>
                  <a:pt x="286" y="69"/>
                </a:cubicBezTo>
                <a:cubicBezTo>
                  <a:pt x="292" y="78"/>
                  <a:pt x="297" y="87"/>
                  <a:pt x="301" y="96"/>
                </a:cubicBezTo>
                <a:cubicBezTo>
                  <a:pt x="304" y="105"/>
                  <a:pt x="307" y="116"/>
                  <a:pt x="309" y="126"/>
                </a:cubicBezTo>
                <a:cubicBezTo>
                  <a:pt x="311" y="136"/>
                  <a:pt x="312" y="146"/>
                  <a:pt x="312" y="157"/>
                </a:cubicBezTo>
                <a:close/>
              </a:path>
            </a:pathLst>
          </a:custGeom>
          <a:noFill/>
          <a:ln w="324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3502800" y="2368800"/>
            <a:ext cx="182520" cy="294480"/>
          </a:xfrm>
          <a:custGeom>
            <a:avLst/>
            <a:gdLst/>
            <a:ahLst/>
            <a:rect l="0" t="0" r="r" b="b"/>
            <a:pathLst>
              <a:path fill="none" w="507" h="818">
                <a:moveTo>
                  <a:pt x="254" y="0"/>
                </a:moveTo>
                <a:lnTo>
                  <a:pt x="254" y="527"/>
                </a:lnTo>
                <a:moveTo>
                  <a:pt x="0" y="156"/>
                </a:moveTo>
                <a:lnTo>
                  <a:pt x="507" y="156"/>
                </a:lnTo>
                <a:moveTo>
                  <a:pt x="254" y="527"/>
                </a:moveTo>
                <a:lnTo>
                  <a:pt x="0" y="818"/>
                </a:lnTo>
                <a:moveTo>
                  <a:pt x="254" y="527"/>
                </a:moveTo>
                <a:lnTo>
                  <a:pt x="507" y="818"/>
                </a:lnTo>
              </a:path>
            </a:pathLst>
          </a:custGeom>
          <a:ln w="324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66720" y="701280"/>
            <a:ext cx="24238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Systems and roles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31280" y="2685240"/>
            <a:ext cx="65448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0000"/>
                </a:solidFill>
                <a:latin typeface="Calibri"/>
                <a:ea typeface="Calibri"/>
              </a:rPr>
              <a:t>Referrer (Placer)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4748400" y="3619080"/>
            <a:ext cx="981000" cy="407520"/>
          </a:xfrm>
          <a:custGeom>
            <a:avLst/>
            <a:gdLst/>
            <a:ahLst/>
            <a:rect l="0" t="0" r="r" b="b"/>
            <a:pathLst>
              <a:path w="2725" h="1132">
                <a:moveTo>
                  <a:pt x="49" y="0"/>
                </a:moveTo>
                <a:lnTo>
                  <a:pt x="2676" y="0"/>
                </a:lnTo>
                <a:cubicBezTo>
                  <a:pt x="2683" y="0"/>
                  <a:pt x="2689" y="1"/>
                  <a:pt x="2695" y="4"/>
                </a:cubicBezTo>
                <a:cubicBezTo>
                  <a:pt x="2701" y="6"/>
                  <a:pt x="2706" y="10"/>
                  <a:pt x="2711" y="14"/>
                </a:cubicBezTo>
                <a:cubicBezTo>
                  <a:pt x="2715" y="19"/>
                  <a:pt x="2719" y="24"/>
                  <a:pt x="2721" y="30"/>
                </a:cubicBezTo>
                <a:cubicBezTo>
                  <a:pt x="2724" y="36"/>
                  <a:pt x="2725" y="42"/>
                  <a:pt x="2725" y="49"/>
                </a:cubicBezTo>
                <a:lnTo>
                  <a:pt x="2725" y="1083"/>
                </a:lnTo>
                <a:cubicBezTo>
                  <a:pt x="2725" y="1090"/>
                  <a:pt x="2724" y="1096"/>
                  <a:pt x="2721" y="1102"/>
                </a:cubicBezTo>
                <a:cubicBezTo>
                  <a:pt x="2719" y="1108"/>
                  <a:pt x="2715" y="1113"/>
                  <a:pt x="2711" y="1118"/>
                </a:cubicBezTo>
                <a:cubicBezTo>
                  <a:pt x="2706" y="1122"/>
                  <a:pt x="2701" y="1126"/>
                  <a:pt x="2695" y="1128"/>
                </a:cubicBezTo>
                <a:cubicBezTo>
                  <a:pt x="2689" y="1131"/>
                  <a:pt x="2683" y="1132"/>
                  <a:pt x="2676" y="1132"/>
                </a:cubicBezTo>
                <a:lnTo>
                  <a:pt x="49" y="1132"/>
                </a:lnTo>
                <a:cubicBezTo>
                  <a:pt x="42" y="1132"/>
                  <a:pt x="36" y="1131"/>
                  <a:pt x="30" y="1128"/>
                </a:cubicBezTo>
                <a:cubicBezTo>
                  <a:pt x="24" y="1126"/>
                  <a:pt x="19" y="1122"/>
                  <a:pt x="15" y="1118"/>
                </a:cubicBezTo>
                <a:cubicBezTo>
                  <a:pt x="10" y="1113"/>
                  <a:pt x="6" y="1108"/>
                  <a:pt x="4" y="1102"/>
                </a:cubicBezTo>
                <a:cubicBezTo>
                  <a:pt x="1" y="1096"/>
                  <a:pt x="0" y="1090"/>
                  <a:pt x="0" y="1083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4748400" y="3619080"/>
            <a:ext cx="981000" cy="407520"/>
          </a:xfrm>
          <a:custGeom>
            <a:avLst/>
            <a:gdLst/>
            <a:ahLst/>
            <a:rect l="0" t="0" r="r" b="b"/>
            <a:pathLst>
              <a:path w="2725" h="1132">
                <a:moveTo>
                  <a:pt x="49" y="0"/>
                </a:moveTo>
                <a:lnTo>
                  <a:pt x="2676" y="0"/>
                </a:lnTo>
                <a:cubicBezTo>
                  <a:pt x="2683" y="0"/>
                  <a:pt x="2689" y="1"/>
                  <a:pt x="2695" y="4"/>
                </a:cubicBezTo>
                <a:cubicBezTo>
                  <a:pt x="2701" y="6"/>
                  <a:pt x="2706" y="10"/>
                  <a:pt x="2711" y="14"/>
                </a:cubicBezTo>
                <a:cubicBezTo>
                  <a:pt x="2715" y="19"/>
                  <a:pt x="2719" y="24"/>
                  <a:pt x="2721" y="30"/>
                </a:cubicBezTo>
                <a:cubicBezTo>
                  <a:pt x="2724" y="36"/>
                  <a:pt x="2725" y="42"/>
                  <a:pt x="2725" y="49"/>
                </a:cubicBezTo>
                <a:lnTo>
                  <a:pt x="2725" y="1083"/>
                </a:lnTo>
                <a:cubicBezTo>
                  <a:pt x="2725" y="1090"/>
                  <a:pt x="2724" y="1096"/>
                  <a:pt x="2721" y="1102"/>
                </a:cubicBezTo>
                <a:cubicBezTo>
                  <a:pt x="2719" y="1108"/>
                  <a:pt x="2715" y="1113"/>
                  <a:pt x="2711" y="1118"/>
                </a:cubicBezTo>
                <a:cubicBezTo>
                  <a:pt x="2706" y="1122"/>
                  <a:pt x="2701" y="1126"/>
                  <a:pt x="2695" y="1128"/>
                </a:cubicBezTo>
                <a:cubicBezTo>
                  <a:pt x="2689" y="1131"/>
                  <a:pt x="2683" y="1132"/>
                  <a:pt x="2676" y="1132"/>
                </a:cubicBezTo>
                <a:lnTo>
                  <a:pt x="49" y="1132"/>
                </a:lnTo>
                <a:cubicBezTo>
                  <a:pt x="42" y="1132"/>
                  <a:pt x="36" y="1131"/>
                  <a:pt x="30" y="1128"/>
                </a:cubicBezTo>
                <a:cubicBezTo>
                  <a:pt x="24" y="1126"/>
                  <a:pt x="19" y="1122"/>
                  <a:pt x="15" y="1118"/>
                </a:cubicBezTo>
                <a:cubicBezTo>
                  <a:pt x="10" y="1113"/>
                  <a:pt x="6" y="1108"/>
                  <a:pt x="4" y="1102"/>
                </a:cubicBezTo>
                <a:cubicBezTo>
                  <a:pt x="1" y="1096"/>
                  <a:pt x="0" y="1090"/>
                  <a:pt x="0" y="1083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324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3131280" y="2818800"/>
            <a:ext cx="80244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0000"/>
                </a:solidFill>
                <a:latin typeface="Calibri"/>
                <a:ea typeface="Calibri"/>
              </a:rPr>
              <a:t>Patient-Referral app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818600" y="3700800"/>
            <a:ext cx="7261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1d34"/>
                </a:solidFill>
                <a:latin typeface="Calibri"/>
                <a:ea typeface="Calibri"/>
              </a:rPr>
              <a:t>Provider Directory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891800" y="3619080"/>
            <a:ext cx="827640" cy="407520"/>
          </a:xfrm>
          <a:custGeom>
            <a:avLst/>
            <a:gdLst/>
            <a:ahLst/>
            <a:rect l="0" t="0" r="r" b="b"/>
            <a:pathLst>
              <a:path w="2299" h="1132">
                <a:moveTo>
                  <a:pt x="49" y="0"/>
                </a:moveTo>
                <a:lnTo>
                  <a:pt x="2250" y="0"/>
                </a:lnTo>
                <a:cubicBezTo>
                  <a:pt x="2257" y="0"/>
                  <a:pt x="2263" y="1"/>
                  <a:pt x="2269" y="4"/>
                </a:cubicBezTo>
                <a:cubicBezTo>
                  <a:pt x="2275" y="6"/>
                  <a:pt x="2280" y="10"/>
                  <a:pt x="2285" y="14"/>
                </a:cubicBezTo>
                <a:cubicBezTo>
                  <a:pt x="2289" y="19"/>
                  <a:pt x="2293" y="24"/>
                  <a:pt x="2295" y="30"/>
                </a:cubicBezTo>
                <a:cubicBezTo>
                  <a:pt x="2298" y="36"/>
                  <a:pt x="2299" y="42"/>
                  <a:pt x="2299" y="49"/>
                </a:cubicBezTo>
                <a:lnTo>
                  <a:pt x="2299" y="1083"/>
                </a:lnTo>
                <a:cubicBezTo>
                  <a:pt x="2299" y="1090"/>
                  <a:pt x="2298" y="1096"/>
                  <a:pt x="2295" y="1102"/>
                </a:cubicBezTo>
                <a:cubicBezTo>
                  <a:pt x="2293" y="1108"/>
                  <a:pt x="2289" y="1113"/>
                  <a:pt x="2285" y="1118"/>
                </a:cubicBezTo>
                <a:cubicBezTo>
                  <a:pt x="2280" y="1122"/>
                  <a:pt x="2275" y="1126"/>
                  <a:pt x="2269" y="1128"/>
                </a:cubicBezTo>
                <a:cubicBezTo>
                  <a:pt x="2263" y="1131"/>
                  <a:pt x="2257" y="1132"/>
                  <a:pt x="2250" y="1132"/>
                </a:cubicBezTo>
                <a:lnTo>
                  <a:pt x="49" y="1132"/>
                </a:lnTo>
                <a:cubicBezTo>
                  <a:pt x="42" y="1132"/>
                  <a:pt x="36" y="1131"/>
                  <a:pt x="30" y="1128"/>
                </a:cubicBezTo>
                <a:cubicBezTo>
                  <a:pt x="24" y="1126"/>
                  <a:pt x="19" y="1122"/>
                  <a:pt x="14" y="1118"/>
                </a:cubicBezTo>
                <a:cubicBezTo>
                  <a:pt x="10" y="1113"/>
                  <a:pt x="6" y="1108"/>
                  <a:pt x="4" y="1102"/>
                </a:cubicBezTo>
                <a:cubicBezTo>
                  <a:pt x="1" y="1096"/>
                  <a:pt x="0" y="1090"/>
                  <a:pt x="0" y="1083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1891800" y="3619080"/>
            <a:ext cx="827640" cy="407520"/>
          </a:xfrm>
          <a:custGeom>
            <a:avLst/>
            <a:gdLst/>
            <a:ahLst/>
            <a:rect l="0" t="0" r="r" b="b"/>
            <a:pathLst>
              <a:path w="2299" h="1132">
                <a:moveTo>
                  <a:pt x="49" y="0"/>
                </a:moveTo>
                <a:lnTo>
                  <a:pt x="2250" y="0"/>
                </a:lnTo>
                <a:cubicBezTo>
                  <a:pt x="2257" y="0"/>
                  <a:pt x="2263" y="1"/>
                  <a:pt x="2269" y="4"/>
                </a:cubicBezTo>
                <a:cubicBezTo>
                  <a:pt x="2275" y="6"/>
                  <a:pt x="2280" y="10"/>
                  <a:pt x="2285" y="14"/>
                </a:cubicBezTo>
                <a:cubicBezTo>
                  <a:pt x="2289" y="19"/>
                  <a:pt x="2293" y="24"/>
                  <a:pt x="2295" y="30"/>
                </a:cubicBezTo>
                <a:cubicBezTo>
                  <a:pt x="2298" y="36"/>
                  <a:pt x="2299" y="42"/>
                  <a:pt x="2299" y="49"/>
                </a:cubicBezTo>
                <a:lnTo>
                  <a:pt x="2299" y="1083"/>
                </a:lnTo>
                <a:cubicBezTo>
                  <a:pt x="2299" y="1090"/>
                  <a:pt x="2298" y="1096"/>
                  <a:pt x="2295" y="1102"/>
                </a:cubicBezTo>
                <a:cubicBezTo>
                  <a:pt x="2293" y="1108"/>
                  <a:pt x="2289" y="1113"/>
                  <a:pt x="2285" y="1118"/>
                </a:cubicBezTo>
                <a:cubicBezTo>
                  <a:pt x="2280" y="1122"/>
                  <a:pt x="2275" y="1126"/>
                  <a:pt x="2269" y="1128"/>
                </a:cubicBezTo>
                <a:cubicBezTo>
                  <a:pt x="2263" y="1131"/>
                  <a:pt x="2257" y="1132"/>
                  <a:pt x="2250" y="1132"/>
                </a:cubicBezTo>
                <a:lnTo>
                  <a:pt x="49" y="1132"/>
                </a:lnTo>
                <a:cubicBezTo>
                  <a:pt x="42" y="1132"/>
                  <a:pt x="36" y="1131"/>
                  <a:pt x="30" y="1128"/>
                </a:cubicBezTo>
                <a:cubicBezTo>
                  <a:pt x="24" y="1126"/>
                  <a:pt x="19" y="1122"/>
                  <a:pt x="14" y="1118"/>
                </a:cubicBezTo>
                <a:cubicBezTo>
                  <a:pt x="10" y="1113"/>
                  <a:pt x="6" y="1108"/>
                  <a:pt x="4" y="1102"/>
                </a:cubicBezTo>
                <a:cubicBezTo>
                  <a:pt x="1" y="1096"/>
                  <a:pt x="0" y="1090"/>
                  <a:pt x="0" y="1083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324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818600" y="3834360"/>
            <a:ext cx="28260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1d34"/>
                </a:solidFill>
                <a:latin typeface="Calibri"/>
                <a:ea typeface="Calibri"/>
              </a:rPr>
              <a:t>(HCPD)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962000" y="3700800"/>
            <a:ext cx="59364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1d34"/>
                </a:solidFill>
                <a:latin typeface="Calibri"/>
                <a:ea typeface="Calibri"/>
              </a:rPr>
              <a:t>Referral Server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715680" y="4704480"/>
            <a:ext cx="1484640" cy="407520"/>
          </a:xfrm>
          <a:custGeom>
            <a:avLst/>
            <a:gdLst/>
            <a:ahLst/>
            <a:rect l="0" t="0" r="r" b="b"/>
            <a:pathLst>
              <a:path w="4124" h="1132">
                <a:moveTo>
                  <a:pt x="48" y="0"/>
                </a:moveTo>
                <a:lnTo>
                  <a:pt x="4075" y="0"/>
                </a:lnTo>
                <a:cubicBezTo>
                  <a:pt x="4082" y="0"/>
                  <a:pt x="4088" y="2"/>
                  <a:pt x="4094" y="4"/>
                </a:cubicBezTo>
                <a:cubicBezTo>
                  <a:pt x="4100" y="7"/>
                  <a:pt x="4105" y="10"/>
                  <a:pt x="4110" y="15"/>
                </a:cubicBezTo>
                <a:cubicBezTo>
                  <a:pt x="4114" y="19"/>
                  <a:pt x="4118" y="24"/>
                  <a:pt x="4120" y="30"/>
                </a:cubicBezTo>
                <a:cubicBezTo>
                  <a:pt x="4123" y="36"/>
                  <a:pt x="4124" y="43"/>
                  <a:pt x="4124" y="49"/>
                </a:cubicBezTo>
                <a:lnTo>
                  <a:pt x="4124" y="1084"/>
                </a:lnTo>
                <a:cubicBezTo>
                  <a:pt x="4124" y="1090"/>
                  <a:pt x="4123" y="1096"/>
                  <a:pt x="4120" y="1102"/>
                </a:cubicBezTo>
                <a:cubicBezTo>
                  <a:pt x="4118" y="1108"/>
                  <a:pt x="4114" y="1114"/>
                  <a:pt x="4110" y="1118"/>
                </a:cubicBezTo>
                <a:cubicBezTo>
                  <a:pt x="4105" y="1123"/>
                  <a:pt x="4100" y="1126"/>
                  <a:pt x="4094" y="1129"/>
                </a:cubicBezTo>
                <a:cubicBezTo>
                  <a:pt x="4088" y="1131"/>
                  <a:pt x="4082" y="1132"/>
                  <a:pt x="4075" y="1132"/>
                </a:cubicBezTo>
                <a:lnTo>
                  <a:pt x="48" y="1132"/>
                </a:lnTo>
                <a:cubicBezTo>
                  <a:pt x="42" y="1132"/>
                  <a:pt x="36" y="1131"/>
                  <a:pt x="30" y="1129"/>
                </a:cubicBezTo>
                <a:cubicBezTo>
                  <a:pt x="24" y="1126"/>
                  <a:pt x="19" y="1123"/>
                  <a:pt x="14" y="1118"/>
                </a:cubicBezTo>
                <a:cubicBezTo>
                  <a:pt x="9" y="1114"/>
                  <a:pt x="6" y="1108"/>
                  <a:pt x="3" y="1102"/>
                </a:cubicBezTo>
                <a:cubicBezTo>
                  <a:pt x="1" y="1096"/>
                  <a:pt x="0" y="1090"/>
                  <a:pt x="0" y="1084"/>
                </a:cubicBezTo>
                <a:lnTo>
                  <a:pt x="0" y="49"/>
                </a:lnTo>
                <a:cubicBezTo>
                  <a:pt x="0" y="43"/>
                  <a:pt x="1" y="36"/>
                  <a:pt x="3" y="30"/>
                </a:cubicBezTo>
                <a:cubicBezTo>
                  <a:pt x="6" y="24"/>
                  <a:pt x="9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715680" y="4704480"/>
            <a:ext cx="1484640" cy="407520"/>
          </a:xfrm>
          <a:custGeom>
            <a:avLst/>
            <a:gdLst/>
            <a:ahLst/>
            <a:rect l="0" t="0" r="r" b="b"/>
            <a:pathLst>
              <a:path w="4124" h="1132">
                <a:moveTo>
                  <a:pt x="48" y="0"/>
                </a:moveTo>
                <a:lnTo>
                  <a:pt x="4075" y="0"/>
                </a:lnTo>
                <a:cubicBezTo>
                  <a:pt x="4082" y="0"/>
                  <a:pt x="4088" y="2"/>
                  <a:pt x="4094" y="4"/>
                </a:cubicBezTo>
                <a:cubicBezTo>
                  <a:pt x="4100" y="7"/>
                  <a:pt x="4105" y="10"/>
                  <a:pt x="4110" y="15"/>
                </a:cubicBezTo>
                <a:cubicBezTo>
                  <a:pt x="4114" y="19"/>
                  <a:pt x="4118" y="24"/>
                  <a:pt x="4120" y="30"/>
                </a:cubicBezTo>
                <a:cubicBezTo>
                  <a:pt x="4123" y="36"/>
                  <a:pt x="4124" y="43"/>
                  <a:pt x="4124" y="49"/>
                </a:cubicBezTo>
                <a:lnTo>
                  <a:pt x="4124" y="1084"/>
                </a:lnTo>
                <a:cubicBezTo>
                  <a:pt x="4124" y="1090"/>
                  <a:pt x="4123" y="1096"/>
                  <a:pt x="4120" y="1102"/>
                </a:cubicBezTo>
                <a:cubicBezTo>
                  <a:pt x="4118" y="1108"/>
                  <a:pt x="4114" y="1114"/>
                  <a:pt x="4110" y="1118"/>
                </a:cubicBezTo>
                <a:cubicBezTo>
                  <a:pt x="4105" y="1123"/>
                  <a:pt x="4100" y="1126"/>
                  <a:pt x="4094" y="1129"/>
                </a:cubicBezTo>
                <a:cubicBezTo>
                  <a:pt x="4088" y="1131"/>
                  <a:pt x="4082" y="1132"/>
                  <a:pt x="4075" y="1132"/>
                </a:cubicBezTo>
                <a:lnTo>
                  <a:pt x="48" y="1132"/>
                </a:lnTo>
                <a:cubicBezTo>
                  <a:pt x="42" y="1132"/>
                  <a:pt x="36" y="1131"/>
                  <a:pt x="30" y="1129"/>
                </a:cubicBezTo>
                <a:cubicBezTo>
                  <a:pt x="24" y="1126"/>
                  <a:pt x="19" y="1123"/>
                  <a:pt x="14" y="1118"/>
                </a:cubicBezTo>
                <a:cubicBezTo>
                  <a:pt x="9" y="1114"/>
                  <a:pt x="6" y="1108"/>
                  <a:pt x="3" y="1102"/>
                </a:cubicBezTo>
                <a:cubicBezTo>
                  <a:pt x="1" y="1096"/>
                  <a:pt x="0" y="1090"/>
                  <a:pt x="0" y="1084"/>
                </a:cubicBezTo>
                <a:lnTo>
                  <a:pt x="0" y="49"/>
                </a:lnTo>
                <a:cubicBezTo>
                  <a:pt x="0" y="43"/>
                  <a:pt x="1" y="36"/>
                  <a:pt x="3" y="30"/>
                </a:cubicBezTo>
                <a:cubicBezTo>
                  <a:pt x="6" y="24"/>
                  <a:pt x="9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8" y="0"/>
                </a:cubicBezTo>
                <a:close/>
              </a:path>
            </a:pathLst>
          </a:custGeom>
          <a:noFill/>
          <a:ln w="324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2000" y="3834360"/>
            <a:ext cx="57816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1d34"/>
                </a:solidFill>
                <a:latin typeface="Calibri"/>
                <a:ea typeface="Calibri"/>
              </a:rPr>
              <a:t>(HAPI + QH IG)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85520" y="4786200"/>
            <a:ext cx="11527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 (Filler / RIS)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947880" y="2256840"/>
            <a:ext cx="112320" cy="112320"/>
          </a:xfrm>
          <a:custGeom>
            <a:avLst/>
            <a:gdLst/>
            <a:ahLst/>
            <a:rect l="0" t="0" r="r" b="b"/>
            <a:pathLst>
              <a:path w="312" h="312">
                <a:moveTo>
                  <a:pt x="312" y="157"/>
                </a:moveTo>
                <a:cubicBezTo>
                  <a:pt x="312" y="167"/>
                  <a:pt x="311" y="177"/>
                  <a:pt x="309" y="187"/>
                </a:cubicBezTo>
                <a:cubicBezTo>
                  <a:pt x="307" y="197"/>
                  <a:pt x="304" y="207"/>
                  <a:pt x="300" y="216"/>
                </a:cubicBezTo>
                <a:cubicBezTo>
                  <a:pt x="296" y="226"/>
                  <a:pt x="291" y="235"/>
                  <a:pt x="285" y="243"/>
                </a:cubicBezTo>
                <a:cubicBezTo>
                  <a:pt x="280" y="252"/>
                  <a:pt x="273" y="259"/>
                  <a:pt x="266" y="267"/>
                </a:cubicBezTo>
                <a:cubicBezTo>
                  <a:pt x="259" y="274"/>
                  <a:pt x="251" y="280"/>
                  <a:pt x="243" y="286"/>
                </a:cubicBezTo>
                <a:cubicBezTo>
                  <a:pt x="234" y="292"/>
                  <a:pt x="225" y="296"/>
                  <a:pt x="216" y="300"/>
                </a:cubicBezTo>
                <a:cubicBezTo>
                  <a:pt x="206" y="304"/>
                  <a:pt x="196" y="307"/>
                  <a:pt x="186" y="309"/>
                </a:cubicBezTo>
                <a:cubicBezTo>
                  <a:pt x="176" y="311"/>
                  <a:pt x="166" y="312"/>
                  <a:pt x="156" y="312"/>
                </a:cubicBezTo>
                <a:cubicBezTo>
                  <a:pt x="146" y="312"/>
                  <a:pt x="136" y="311"/>
                  <a:pt x="126" y="309"/>
                </a:cubicBezTo>
                <a:cubicBezTo>
                  <a:pt x="116" y="307"/>
                  <a:pt x="106" y="304"/>
                  <a:pt x="97" y="300"/>
                </a:cubicBezTo>
                <a:cubicBezTo>
                  <a:pt x="87" y="296"/>
                  <a:pt x="78" y="292"/>
                  <a:pt x="70" y="286"/>
                </a:cubicBezTo>
                <a:cubicBezTo>
                  <a:pt x="61" y="280"/>
                  <a:pt x="53" y="274"/>
                  <a:pt x="46" y="267"/>
                </a:cubicBezTo>
                <a:cubicBezTo>
                  <a:pt x="39" y="259"/>
                  <a:pt x="32" y="252"/>
                  <a:pt x="27" y="243"/>
                </a:cubicBezTo>
                <a:cubicBezTo>
                  <a:pt x="21" y="235"/>
                  <a:pt x="16" y="226"/>
                  <a:pt x="12" y="216"/>
                </a:cubicBezTo>
                <a:cubicBezTo>
                  <a:pt x="7" y="207"/>
                  <a:pt x="4" y="197"/>
                  <a:pt x="3" y="187"/>
                </a:cubicBezTo>
                <a:cubicBezTo>
                  <a:pt x="1" y="177"/>
                  <a:pt x="0" y="167"/>
                  <a:pt x="0" y="157"/>
                </a:cubicBezTo>
                <a:cubicBezTo>
                  <a:pt x="0" y="146"/>
                  <a:pt x="1" y="136"/>
                  <a:pt x="3" y="126"/>
                </a:cubicBezTo>
                <a:cubicBezTo>
                  <a:pt x="4" y="116"/>
                  <a:pt x="7" y="105"/>
                  <a:pt x="12" y="96"/>
                </a:cubicBezTo>
                <a:cubicBezTo>
                  <a:pt x="16" y="87"/>
                  <a:pt x="21" y="78"/>
                  <a:pt x="27" y="69"/>
                </a:cubicBezTo>
                <a:cubicBezTo>
                  <a:pt x="32" y="61"/>
                  <a:pt x="39" y="53"/>
                  <a:pt x="46" y="46"/>
                </a:cubicBezTo>
                <a:cubicBezTo>
                  <a:pt x="53" y="38"/>
                  <a:pt x="61" y="32"/>
                  <a:pt x="70" y="26"/>
                </a:cubicBezTo>
                <a:cubicBezTo>
                  <a:pt x="78" y="21"/>
                  <a:pt x="87" y="16"/>
                  <a:pt x="97" y="12"/>
                </a:cubicBezTo>
                <a:cubicBezTo>
                  <a:pt x="106" y="8"/>
                  <a:pt x="116" y="5"/>
                  <a:pt x="126" y="3"/>
                </a:cubicBezTo>
                <a:cubicBezTo>
                  <a:pt x="136" y="1"/>
                  <a:pt x="146" y="0"/>
                  <a:pt x="156" y="0"/>
                </a:cubicBezTo>
                <a:cubicBezTo>
                  <a:pt x="166" y="0"/>
                  <a:pt x="176" y="1"/>
                  <a:pt x="186" y="3"/>
                </a:cubicBezTo>
                <a:cubicBezTo>
                  <a:pt x="196" y="5"/>
                  <a:pt x="206" y="8"/>
                  <a:pt x="216" y="12"/>
                </a:cubicBezTo>
                <a:cubicBezTo>
                  <a:pt x="225" y="16"/>
                  <a:pt x="234" y="21"/>
                  <a:pt x="243" y="26"/>
                </a:cubicBezTo>
                <a:cubicBezTo>
                  <a:pt x="251" y="32"/>
                  <a:pt x="259" y="38"/>
                  <a:pt x="266" y="46"/>
                </a:cubicBezTo>
                <a:cubicBezTo>
                  <a:pt x="273" y="53"/>
                  <a:pt x="280" y="61"/>
                  <a:pt x="285" y="69"/>
                </a:cubicBezTo>
                <a:cubicBezTo>
                  <a:pt x="291" y="78"/>
                  <a:pt x="296" y="87"/>
                  <a:pt x="300" y="96"/>
                </a:cubicBezTo>
                <a:cubicBezTo>
                  <a:pt x="304" y="105"/>
                  <a:pt x="307" y="116"/>
                  <a:pt x="309" y="126"/>
                </a:cubicBezTo>
                <a:cubicBezTo>
                  <a:pt x="311" y="136"/>
                  <a:pt x="312" y="146"/>
                  <a:pt x="312" y="157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47880" y="2256840"/>
            <a:ext cx="112320" cy="112320"/>
          </a:xfrm>
          <a:custGeom>
            <a:avLst/>
            <a:gdLst/>
            <a:ahLst/>
            <a:rect l="0" t="0" r="r" b="b"/>
            <a:pathLst>
              <a:path w="312" h="312">
                <a:moveTo>
                  <a:pt x="312" y="157"/>
                </a:moveTo>
                <a:cubicBezTo>
                  <a:pt x="312" y="167"/>
                  <a:pt x="311" y="177"/>
                  <a:pt x="309" y="187"/>
                </a:cubicBezTo>
                <a:cubicBezTo>
                  <a:pt x="307" y="197"/>
                  <a:pt x="304" y="207"/>
                  <a:pt x="300" y="216"/>
                </a:cubicBezTo>
                <a:cubicBezTo>
                  <a:pt x="296" y="226"/>
                  <a:pt x="291" y="235"/>
                  <a:pt x="285" y="243"/>
                </a:cubicBezTo>
                <a:cubicBezTo>
                  <a:pt x="280" y="252"/>
                  <a:pt x="273" y="259"/>
                  <a:pt x="266" y="267"/>
                </a:cubicBezTo>
                <a:cubicBezTo>
                  <a:pt x="259" y="274"/>
                  <a:pt x="251" y="280"/>
                  <a:pt x="243" y="286"/>
                </a:cubicBezTo>
                <a:cubicBezTo>
                  <a:pt x="234" y="292"/>
                  <a:pt x="225" y="296"/>
                  <a:pt x="216" y="300"/>
                </a:cubicBezTo>
                <a:cubicBezTo>
                  <a:pt x="206" y="304"/>
                  <a:pt x="196" y="307"/>
                  <a:pt x="186" y="309"/>
                </a:cubicBezTo>
                <a:cubicBezTo>
                  <a:pt x="176" y="311"/>
                  <a:pt x="166" y="312"/>
                  <a:pt x="156" y="312"/>
                </a:cubicBezTo>
                <a:cubicBezTo>
                  <a:pt x="146" y="312"/>
                  <a:pt x="136" y="311"/>
                  <a:pt x="126" y="309"/>
                </a:cubicBezTo>
                <a:cubicBezTo>
                  <a:pt x="116" y="307"/>
                  <a:pt x="106" y="304"/>
                  <a:pt x="97" y="300"/>
                </a:cubicBezTo>
                <a:cubicBezTo>
                  <a:pt x="87" y="296"/>
                  <a:pt x="78" y="292"/>
                  <a:pt x="70" y="286"/>
                </a:cubicBezTo>
                <a:cubicBezTo>
                  <a:pt x="61" y="280"/>
                  <a:pt x="53" y="274"/>
                  <a:pt x="46" y="267"/>
                </a:cubicBezTo>
                <a:cubicBezTo>
                  <a:pt x="39" y="259"/>
                  <a:pt x="32" y="252"/>
                  <a:pt x="27" y="243"/>
                </a:cubicBezTo>
                <a:cubicBezTo>
                  <a:pt x="21" y="235"/>
                  <a:pt x="16" y="226"/>
                  <a:pt x="12" y="216"/>
                </a:cubicBezTo>
                <a:cubicBezTo>
                  <a:pt x="7" y="207"/>
                  <a:pt x="4" y="197"/>
                  <a:pt x="3" y="187"/>
                </a:cubicBezTo>
                <a:cubicBezTo>
                  <a:pt x="1" y="177"/>
                  <a:pt x="0" y="167"/>
                  <a:pt x="0" y="157"/>
                </a:cubicBezTo>
                <a:cubicBezTo>
                  <a:pt x="0" y="146"/>
                  <a:pt x="1" y="136"/>
                  <a:pt x="3" y="126"/>
                </a:cubicBezTo>
                <a:cubicBezTo>
                  <a:pt x="4" y="116"/>
                  <a:pt x="7" y="105"/>
                  <a:pt x="12" y="96"/>
                </a:cubicBezTo>
                <a:cubicBezTo>
                  <a:pt x="16" y="87"/>
                  <a:pt x="21" y="78"/>
                  <a:pt x="27" y="69"/>
                </a:cubicBezTo>
                <a:cubicBezTo>
                  <a:pt x="32" y="61"/>
                  <a:pt x="39" y="53"/>
                  <a:pt x="46" y="46"/>
                </a:cubicBezTo>
                <a:cubicBezTo>
                  <a:pt x="53" y="38"/>
                  <a:pt x="61" y="32"/>
                  <a:pt x="70" y="26"/>
                </a:cubicBezTo>
                <a:cubicBezTo>
                  <a:pt x="78" y="21"/>
                  <a:pt x="87" y="16"/>
                  <a:pt x="97" y="12"/>
                </a:cubicBezTo>
                <a:cubicBezTo>
                  <a:pt x="106" y="8"/>
                  <a:pt x="116" y="5"/>
                  <a:pt x="126" y="3"/>
                </a:cubicBezTo>
                <a:cubicBezTo>
                  <a:pt x="136" y="1"/>
                  <a:pt x="146" y="0"/>
                  <a:pt x="156" y="0"/>
                </a:cubicBezTo>
                <a:cubicBezTo>
                  <a:pt x="166" y="0"/>
                  <a:pt x="176" y="1"/>
                  <a:pt x="186" y="3"/>
                </a:cubicBezTo>
                <a:cubicBezTo>
                  <a:pt x="196" y="5"/>
                  <a:pt x="206" y="8"/>
                  <a:pt x="216" y="12"/>
                </a:cubicBezTo>
                <a:cubicBezTo>
                  <a:pt x="225" y="16"/>
                  <a:pt x="234" y="21"/>
                  <a:pt x="243" y="26"/>
                </a:cubicBezTo>
                <a:cubicBezTo>
                  <a:pt x="251" y="32"/>
                  <a:pt x="259" y="38"/>
                  <a:pt x="266" y="46"/>
                </a:cubicBezTo>
                <a:cubicBezTo>
                  <a:pt x="273" y="53"/>
                  <a:pt x="280" y="61"/>
                  <a:pt x="285" y="69"/>
                </a:cubicBezTo>
                <a:cubicBezTo>
                  <a:pt x="291" y="78"/>
                  <a:pt x="296" y="87"/>
                  <a:pt x="300" y="96"/>
                </a:cubicBezTo>
                <a:cubicBezTo>
                  <a:pt x="304" y="105"/>
                  <a:pt x="307" y="116"/>
                  <a:pt x="309" y="126"/>
                </a:cubicBezTo>
                <a:cubicBezTo>
                  <a:pt x="311" y="136"/>
                  <a:pt x="312" y="146"/>
                  <a:pt x="312" y="157"/>
                </a:cubicBezTo>
                <a:close/>
              </a:path>
            </a:pathLst>
          </a:custGeom>
          <a:noFill/>
          <a:ln w="324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912600" y="2368800"/>
            <a:ext cx="182520" cy="294480"/>
          </a:xfrm>
          <a:custGeom>
            <a:avLst/>
            <a:gdLst/>
            <a:ahLst/>
            <a:rect l="0" t="0" r="r" b="b"/>
            <a:pathLst>
              <a:path fill="none" w="507" h="818">
                <a:moveTo>
                  <a:pt x="254" y="0"/>
                </a:moveTo>
                <a:lnTo>
                  <a:pt x="254" y="527"/>
                </a:lnTo>
                <a:moveTo>
                  <a:pt x="0" y="156"/>
                </a:moveTo>
                <a:lnTo>
                  <a:pt x="507" y="156"/>
                </a:lnTo>
                <a:moveTo>
                  <a:pt x="254" y="527"/>
                </a:moveTo>
                <a:lnTo>
                  <a:pt x="0" y="818"/>
                </a:lnTo>
                <a:moveTo>
                  <a:pt x="254" y="527"/>
                </a:moveTo>
                <a:lnTo>
                  <a:pt x="507" y="818"/>
                </a:lnTo>
              </a:path>
            </a:pathLst>
          </a:custGeom>
          <a:ln w="324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85520" y="4919760"/>
            <a:ext cx="10537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1d34"/>
                </a:solidFill>
                <a:latin typeface="Calibri"/>
                <a:ea typeface="Calibri"/>
              </a:rPr>
              <a:t>Patient-Referral Filler view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40160" y="2685240"/>
            <a:ext cx="45504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0000"/>
                </a:solidFill>
                <a:latin typeface="Calibri"/>
                <a:ea typeface="Calibri"/>
              </a:rPr>
              <a:t>Patient app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2637360" y="4750200"/>
            <a:ext cx="1423080" cy="318240"/>
          </a:xfrm>
          <a:custGeom>
            <a:avLst/>
            <a:gdLst/>
            <a:ahLst/>
            <a:rect l="0" t="0" r="r" b="b"/>
            <a:pathLst>
              <a:path w="3953" h="884">
                <a:moveTo>
                  <a:pt x="0" y="0"/>
                </a:moveTo>
                <a:lnTo>
                  <a:pt x="0" y="884"/>
                </a:lnTo>
                <a:lnTo>
                  <a:pt x="3953" y="884"/>
                </a:lnTo>
                <a:lnTo>
                  <a:pt x="3953" y="194"/>
                </a:lnTo>
                <a:lnTo>
                  <a:pt x="3758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2637360" y="4750200"/>
            <a:ext cx="1423080" cy="318240"/>
          </a:xfrm>
          <a:custGeom>
            <a:avLst/>
            <a:gdLst/>
            <a:ahLst/>
            <a:rect l="0" t="0" r="r" b="b"/>
            <a:pathLst>
              <a:path fill="none" w="3953" h="884">
                <a:moveTo>
                  <a:pt x="0" y="0"/>
                </a:moveTo>
                <a:lnTo>
                  <a:pt x="0" y="884"/>
                </a:lnTo>
                <a:lnTo>
                  <a:pt x="3953" y="884"/>
                </a:lnTo>
                <a:lnTo>
                  <a:pt x="3953" y="194"/>
                </a:lnTo>
                <a:lnTo>
                  <a:pt x="3758" y="0"/>
                </a:lnTo>
                <a:lnTo>
                  <a:pt x="0" y="0"/>
                </a:lnTo>
              </a:path>
            </a:pathLst>
          </a:custGeom>
          <a:ln w="3240">
            <a:solidFill>
              <a:srgbClr val="18181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3989880" y="475020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0" y="0"/>
                </a:moveTo>
                <a:lnTo>
                  <a:pt x="0" y="195"/>
                </a:lnTo>
                <a:lnTo>
                  <a:pt x="196" y="195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3989880" y="4750200"/>
            <a:ext cx="70560" cy="70200"/>
          </a:xfrm>
          <a:custGeom>
            <a:avLst/>
            <a:gdLst/>
            <a:ahLst/>
            <a:rect l="0" t="0" r="r" b="b"/>
            <a:pathLst>
              <a:path fill="none" w="196" h="195">
                <a:moveTo>
                  <a:pt x="0" y="0"/>
                </a:moveTo>
                <a:lnTo>
                  <a:pt x="0" y="195"/>
                </a:lnTo>
                <a:lnTo>
                  <a:pt x="196" y="195"/>
                </a:lnTo>
                <a:lnTo>
                  <a:pt x="0" y="0"/>
                </a:lnTo>
              </a:path>
            </a:pathLst>
          </a:custGeom>
          <a:ln w="6840">
            <a:solidFill>
              <a:srgbClr val="181818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40160" y="2818800"/>
            <a:ext cx="33768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70" spc="-1" strike="noStrike">
                <a:solidFill>
                  <a:srgbClr val="000000"/>
                </a:solidFill>
                <a:latin typeface="Calibri"/>
                <a:ea typeface="Calibri"/>
              </a:rPr>
              <a:t>(stretch)</a:t>
            </a:r>
            <a:endParaRPr b="0" lang="en-AU" sz="7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2679480" y="4795920"/>
            <a:ext cx="10310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000000"/>
                </a:solidFill>
                <a:latin typeface="Calibri"/>
                <a:ea typeface="Calibri"/>
              </a:rPr>
              <a:t>Holds ServiceRequest, Task,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725200" y="1384920"/>
            <a:ext cx="1735920" cy="867960"/>
          </a:xfrm>
          <a:custGeom>
            <a:avLst/>
            <a:gdLst/>
            <a:ahLst/>
            <a:rect l="0" t="0" r="r" b="b"/>
            <a:pathLst>
              <a:path w="4822" h="2411">
                <a:moveTo>
                  <a:pt x="0" y="0"/>
                </a:moveTo>
                <a:lnTo>
                  <a:pt x="0" y="1228"/>
                </a:lnTo>
                <a:lnTo>
                  <a:pt x="2333" y="1228"/>
                </a:lnTo>
                <a:lnTo>
                  <a:pt x="2411" y="2411"/>
                </a:lnTo>
                <a:lnTo>
                  <a:pt x="2489" y="1228"/>
                </a:lnTo>
                <a:lnTo>
                  <a:pt x="4822" y="1228"/>
                </a:lnTo>
                <a:lnTo>
                  <a:pt x="4822" y="194"/>
                </a:lnTo>
                <a:lnTo>
                  <a:pt x="4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2725200" y="1384920"/>
            <a:ext cx="1735920" cy="867960"/>
          </a:xfrm>
          <a:custGeom>
            <a:avLst/>
            <a:gdLst/>
            <a:ahLst/>
            <a:rect l="0" t="0" r="r" b="b"/>
            <a:pathLst>
              <a:path fill="none" w="4822" h="2411">
                <a:moveTo>
                  <a:pt x="0" y="0"/>
                </a:moveTo>
                <a:lnTo>
                  <a:pt x="0" y="1228"/>
                </a:lnTo>
                <a:lnTo>
                  <a:pt x="2333" y="1228"/>
                </a:lnTo>
                <a:lnTo>
                  <a:pt x="2411" y="2411"/>
                </a:lnTo>
                <a:lnTo>
                  <a:pt x="2489" y="1228"/>
                </a:lnTo>
                <a:lnTo>
                  <a:pt x="4822" y="1228"/>
                </a:lnTo>
                <a:lnTo>
                  <a:pt x="4822" y="194"/>
                </a:lnTo>
                <a:lnTo>
                  <a:pt x="4627" y="0"/>
                </a:lnTo>
                <a:lnTo>
                  <a:pt x="0" y="0"/>
                </a:lnTo>
              </a:path>
            </a:pathLst>
          </a:custGeom>
          <a:ln w="3240">
            <a:solidFill>
              <a:srgbClr val="18181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4390560" y="138492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0" y="0"/>
                </a:moveTo>
                <a:lnTo>
                  <a:pt x="0" y="195"/>
                </a:lnTo>
                <a:lnTo>
                  <a:pt x="196" y="195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4390560" y="1384920"/>
            <a:ext cx="70560" cy="70200"/>
          </a:xfrm>
          <a:custGeom>
            <a:avLst/>
            <a:gdLst/>
            <a:ahLst/>
            <a:rect l="0" t="0" r="r" b="b"/>
            <a:pathLst>
              <a:path fill="none" w="196" h="195">
                <a:moveTo>
                  <a:pt x="0" y="0"/>
                </a:moveTo>
                <a:lnTo>
                  <a:pt x="0" y="195"/>
                </a:lnTo>
                <a:lnTo>
                  <a:pt x="196" y="195"/>
                </a:lnTo>
                <a:lnTo>
                  <a:pt x="0" y="0"/>
                </a:lnTo>
              </a:path>
            </a:pathLst>
          </a:custGeom>
          <a:ln w="3240">
            <a:solidFill>
              <a:srgbClr val="18181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679480" y="4920120"/>
            <a:ext cx="112536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000000"/>
                </a:solidFill>
                <a:latin typeface="Calibri"/>
                <a:ea typeface="Calibri"/>
              </a:rPr>
              <a:t>Schedule / Slot / Appointment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2766960" y="1430640"/>
            <a:ext cx="12182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000000"/>
                </a:solidFill>
                <a:latin typeface="Calibri"/>
                <a:ea typeface="Calibri"/>
              </a:rPr>
              <a:t>Patient-Referral (mjosborne1) —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2766960" y="1554840"/>
            <a:ext cx="139536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000000"/>
                </a:solidFill>
                <a:latin typeface="Calibri"/>
                <a:ea typeface="Calibri"/>
              </a:rPr>
              <a:t>live at patient-referral.onrender.com,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4055760" y="2712240"/>
            <a:ext cx="1108080" cy="866160"/>
          </a:xfrm>
          <a:custGeom>
            <a:avLst/>
            <a:gdLst/>
            <a:ahLst/>
            <a:rect l="0" t="0" r="r" b="b"/>
            <a:pathLst>
              <a:path fill="none" w="3078" h="2406">
                <a:moveTo>
                  <a:pt x="0" y="0"/>
                </a:moveTo>
                <a:cubicBezTo>
                  <a:pt x="753" y="230"/>
                  <a:pt x="1680" y="612"/>
                  <a:pt x="2333" y="1216"/>
                </a:cubicBezTo>
                <a:cubicBezTo>
                  <a:pt x="2715" y="1569"/>
                  <a:pt x="2929" y="2000"/>
                  <a:pt x="3078" y="2406"/>
                </a:cubicBezTo>
              </a:path>
            </a:pathLst>
          </a:custGeom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5130000" y="3548520"/>
            <a:ext cx="52920" cy="69120"/>
          </a:xfrm>
          <a:custGeom>
            <a:avLst/>
            <a:gdLst/>
            <a:ahLst/>
            <a:rect l="0" t="0" r="r" b="b"/>
            <a:pathLst>
              <a:path w="147" h="192">
                <a:moveTo>
                  <a:pt x="134" y="192"/>
                </a:moveTo>
                <a:lnTo>
                  <a:pt x="147" y="0"/>
                </a:lnTo>
                <a:lnTo>
                  <a:pt x="100" y="100"/>
                </a:lnTo>
                <a:lnTo>
                  <a:pt x="0" y="54"/>
                </a:lnTo>
                <a:lnTo>
                  <a:pt x="134" y="192"/>
                </a:lnTo>
                <a:close/>
              </a:path>
            </a:pathLst>
          </a:custGeom>
          <a:solidFill>
            <a:srgbClr val="001d34"/>
          </a:solidFill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766960" y="1678680"/>
            <a:ext cx="6148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000000"/>
                </a:solidFill>
                <a:latin typeface="Calibri"/>
                <a:ea typeface="Calibri"/>
              </a:rPr>
              <a:t>pointed at HCPD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2210400" y="2665800"/>
            <a:ext cx="918720" cy="911520"/>
          </a:xfrm>
          <a:custGeom>
            <a:avLst/>
            <a:gdLst/>
            <a:ahLst/>
            <a:rect l="0" t="0" r="r" b="b"/>
            <a:pathLst>
              <a:path fill="none" w="2552" h="2532">
                <a:moveTo>
                  <a:pt x="2552" y="0"/>
                </a:moveTo>
                <a:cubicBezTo>
                  <a:pt x="1730" y="185"/>
                  <a:pt x="725" y="564"/>
                  <a:pt x="204" y="1344"/>
                </a:cubicBezTo>
                <a:cubicBezTo>
                  <a:pt x="-48" y="1725"/>
                  <a:pt x="-29" y="2138"/>
                  <a:pt x="62" y="2532"/>
                </a:cubicBezTo>
              </a:path>
            </a:pathLst>
          </a:custGeom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2200680" y="3550320"/>
            <a:ext cx="54720" cy="68040"/>
          </a:xfrm>
          <a:custGeom>
            <a:avLst/>
            <a:gdLst/>
            <a:ahLst/>
            <a:rect l="0" t="0" r="r" b="b"/>
            <a:pathLst>
              <a:path w="152" h="189">
                <a:moveTo>
                  <a:pt x="116" y="189"/>
                </a:moveTo>
                <a:lnTo>
                  <a:pt x="152" y="0"/>
                </a:lnTo>
                <a:lnTo>
                  <a:pt x="94" y="94"/>
                </a:lnTo>
                <a:lnTo>
                  <a:pt x="0" y="36"/>
                </a:lnTo>
                <a:lnTo>
                  <a:pt x="116" y="189"/>
                </a:lnTo>
                <a:close/>
              </a:path>
            </a:pathLst>
          </a:custGeom>
          <a:solidFill>
            <a:srgbClr val="001d34"/>
          </a:solidFill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077440" y="3230640"/>
            <a:ext cx="10141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757579"/>
                </a:solidFill>
                <a:latin typeface="Calibri"/>
                <a:ea typeface="Calibri"/>
              </a:rPr>
              <a:t>discover service + Endpoint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2484360" y="3167640"/>
            <a:ext cx="535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757579"/>
                </a:solidFill>
                <a:latin typeface="Calibri"/>
                <a:ea typeface="Calibri"/>
              </a:rPr>
              <a:t>create referral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2760120" y="2941200"/>
            <a:ext cx="785880" cy="782640"/>
          </a:xfrm>
          <a:custGeom>
            <a:avLst/>
            <a:gdLst/>
            <a:ahLst/>
            <a:rect l="0" t="0" r="r" b="b"/>
            <a:pathLst>
              <a:path fill="none" w="2183" h="2174">
                <a:moveTo>
                  <a:pt x="2183" y="0"/>
                </a:moveTo>
                <a:cubicBezTo>
                  <a:pt x="2077" y="441"/>
                  <a:pt x="1890" y="947"/>
                  <a:pt x="1556" y="1299"/>
                </a:cubicBezTo>
                <a:cubicBezTo>
                  <a:pt x="1115" y="1765"/>
                  <a:pt x="570" y="2011"/>
                  <a:pt x="0" y="2174"/>
                </a:cubicBezTo>
              </a:path>
            </a:pathLst>
          </a:custGeom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2719800" y="3691080"/>
            <a:ext cx="68760" cy="54000"/>
          </a:xfrm>
          <a:custGeom>
            <a:avLst/>
            <a:gdLst/>
            <a:ahLst/>
            <a:rect l="0" t="0" r="r" b="b"/>
            <a:pathLst>
              <a:path w="191" h="150">
                <a:moveTo>
                  <a:pt x="0" y="124"/>
                </a:moveTo>
                <a:lnTo>
                  <a:pt x="191" y="150"/>
                </a:lnTo>
                <a:lnTo>
                  <a:pt x="93" y="96"/>
                </a:lnTo>
                <a:lnTo>
                  <a:pt x="148" y="0"/>
                </a:lnTo>
                <a:lnTo>
                  <a:pt x="0" y="124"/>
                </a:lnTo>
                <a:close/>
              </a:path>
            </a:pathLst>
          </a:custGeom>
          <a:solidFill>
            <a:srgbClr val="001d34"/>
          </a:solidFill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2291040" y="3291480"/>
            <a:ext cx="87696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757579"/>
                </a:solidFill>
                <a:latin typeface="Calibri"/>
                <a:ea typeface="Calibri"/>
              </a:rPr>
              <a:t>(ServiceRequest + Task)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803600" y="4068000"/>
            <a:ext cx="440280" cy="635760"/>
          </a:xfrm>
          <a:custGeom>
            <a:avLst/>
            <a:gdLst/>
            <a:ahLst/>
            <a:rect l="0" t="0" r="r" b="b"/>
            <a:pathLst>
              <a:path fill="none" w="1223" h="1766">
                <a:moveTo>
                  <a:pt x="0" y="1766"/>
                </a:moveTo>
                <a:cubicBezTo>
                  <a:pt x="230" y="1602"/>
                  <a:pt x="459" y="1406"/>
                  <a:pt x="635" y="1186"/>
                </a:cubicBezTo>
                <a:cubicBezTo>
                  <a:pt x="940" y="803"/>
                  <a:pt x="1105" y="393"/>
                  <a:pt x="1223" y="0"/>
                </a:cubicBezTo>
              </a:path>
            </a:pathLst>
          </a:custGeom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2210400" y="4028040"/>
            <a:ext cx="54360" cy="68760"/>
          </a:xfrm>
          <a:custGeom>
            <a:avLst/>
            <a:gdLst/>
            <a:ahLst/>
            <a:rect l="0" t="0" r="r" b="b"/>
            <a:pathLst>
              <a:path w="151" h="191">
                <a:moveTo>
                  <a:pt x="126" y="0"/>
                </a:moveTo>
                <a:lnTo>
                  <a:pt x="0" y="146"/>
                </a:lnTo>
                <a:lnTo>
                  <a:pt x="98" y="93"/>
                </a:lnTo>
                <a:lnTo>
                  <a:pt x="151" y="191"/>
                </a:lnTo>
                <a:lnTo>
                  <a:pt x="126" y="0"/>
                </a:lnTo>
                <a:close/>
              </a:path>
            </a:pathLst>
          </a:custGeom>
          <a:solidFill>
            <a:srgbClr val="001d34"/>
          </a:solidFill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481200" y="3230640"/>
            <a:ext cx="11833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757579"/>
                </a:solidFill>
                <a:latin typeface="Calibri"/>
                <a:ea typeface="Calibri"/>
              </a:rPr>
              <a:t>search Slot / book Appointment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185920" y="4253400"/>
            <a:ext cx="75060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757579"/>
                </a:solidFill>
                <a:latin typeface="Calibri"/>
                <a:ea typeface="Calibri"/>
              </a:rPr>
              <a:t>triage, publish Slots,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162080" y="3868200"/>
            <a:ext cx="730080" cy="799200"/>
          </a:xfrm>
          <a:custGeom>
            <a:avLst/>
            <a:gdLst/>
            <a:ahLst/>
            <a:rect l="0" t="0" r="r" b="b"/>
            <a:pathLst>
              <a:path fill="none" w="2028" h="2220">
                <a:moveTo>
                  <a:pt x="2028" y="0"/>
                </a:moveTo>
                <a:cubicBezTo>
                  <a:pt x="1357" y="130"/>
                  <a:pt x="564" y="411"/>
                  <a:pt x="141" y="1020"/>
                </a:cubicBezTo>
                <a:cubicBezTo>
                  <a:pt x="-132" y="1413"/>
                  <a:pt x="31" y="1833"/>
                  <a:pt x="295" y="2220"/>
                </a:cubicBezTo>
              </a:path>
            </a:pathLst>
          </a:custGeom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1233000" y="4633920"/>
            <a:ext cx="59040" cy="68400"/>
          </a:xfrm>
          <a:custGeom>
            <a:avLst/>
            <a:gdLst/>
            <a:ahLst/>
            <a:rect l="0" t="0" r="r" b="b"/>
            <a:pathLst>
              <a:path w="164" h="190">
                <a:moveTo>
                  <a:pt x="164" y="190"/>
                </a:moveTo>
                <a:lnTo>
                  <a:pt x="130" y="0"/>
                </a:lnTo>
                <a:lnTo>
                  <a:pt x="110" y="109"/>
                </a:lnTo>
                <a:lnTo>
                  <a:pt x="0" y="89"/>
                </a:lnTo>
                <a:lnTo>
                  <a:pt x="164" y="190"/>
                </a:lnTo>
                <a:close/>
              </a:path>
            </a:pathLst>
          </a:custGeom>
          <a:solidFill>
            <a:srgbClr val="001d34"/>
          </a:solidFill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2266920" y="4377240"/>
            <a:ext cx="6073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757579"/>
                </a:solidFill>
                <a:latin typeface="Calibri"/>
                <a:ea typeface="Calibri"/>
              </a:rPr>
              <a:t>conﬁrm booking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982800" y="2939760"/>
            <a:ext cx="867600" cy="831600"/>
          </a:xfrm>
          <a:custGeom>
            <a:avLst/>
            <a:gdLst/>
            <a:ahLst/>
            <a:rect l="0" t="0" r="r" b="b"/>
            <a:pathLst>
              <a:path w="2410" h="2310">
                <a:moveTo>
                  <a:pt x="20" y="0"/>
                </a:moveTo>
                <a:cubicBezTo>
                  <a:pt x="22" y="45"/>
                  <a:pt x="26" y="89"/>
                  <a:pt x="30" y="133"/>
                </a:cubicBezTo>
                <a:lnTo>
                  <a:pt x="11" y="135"/>
                </a:lnTo>
                <a:cubicBezTo>
                  <a:pt x="6" y="91"/>
                  <a:pt x="3" y="46"/>
                  <a:pt x="0" y="1"/>
                </a:cubicBezTo>
                <a:lnTo>
                  <a:pt x="20" y="0"/>
                </a:lnTo>
                <a:moveTo>
                  <a:pt x="46" y="269"/>
                </a:moveTo>
                <a:cubicBezTo>
                  <a:pt x="52" y="315"/>
                  <a:pt x="59" y="360"/>
                  <a:pt x="67" y="404"/>
                </a:cubicBezTo>
                <a:lnTo>
                  <a:pt x="48" y="408"/>
                </a:lnTo>
                <a:cubicBezTo>
                  <a:pt x="40" y="363"/>
                  <a:pt x="33" y="318"/>
                  <a:pt x="26" y="272"/>
                </a:cubicBezTo>
                <a:lnTo>
                  <a:pt x="46" y="269"/>
                </a:lnTo>
                <a:moveTo>
                  <a:pt x="95" y="537"/>
                </a:moveTo>
                <a:cubicBezTo>
                  <a:pt x="105" y="582"/>
                  <a:pt x="117" y="626"/>
                  <a:pt x="129" y="669"/>
                </a:cubicBezTo>
                <a:lnTo>
                  <a:pt x="111" y="674"/>
                </a:lnTo>
                <a:cubicBezTo>
                  <a:pt x="98" y="631"/>
                  <a:pt x="86" y="587"/>
                  <a:pt x="76" y="541"/>
                </a:cubicBezTo>
                <a:lnTo>
                  <a:pt x="95" y="537"/>
                </a:lnTo>
                <a:moveTo>
                  <a:pt x="171" y="798"/>
                </a:moveTo>
                <a:cubicBezTo>
                  <a:pt x="187" y="841"/>
                  <a:pt x="204" y="883"/>
                  <a:pt x="222" y="924"/>
                </a:cubicBezTo>
                <a:lnTo>
                  <a:pt x="204" y="931"/>
                </a:lnTo>
                <a:cubicBezTo>
                  <a:pt x="186" y="890"/>
                  <a:pt x="169" y="848"/>
                  <a:pt x="153" y="804"/>
                </a:cubicBezTo>
                <a:lnTo>
                  <a:pt x="171" y="798"/>
                </a:lnTo>
                <a:moveTo>
                  <a:pt x="281" y="1045"/>
                </a:moveTo>
                <a:cubicBezTo>
                  <a:pt x="303" y="1086"/>
                  <a:pt x="326" y="1124"/>
                  <a:pt x="350" y="1161"/>
                </a:cubicBezTo>
                <a:lnTo>
                  <a:pt x="334" y="1172"/>
                </a:lnTo>
                <a:cubicBezTo>
                  <a:pt x="309" y="1135"/>
                  <a:pt x="286" y="1095"/>
                  <a:pt x="264" y="1054"/>
                </a:cubicBezTo>
                <a:lnTo>
                  <a:pt x="281" y="1045"/>
                </a:lnTo>
                <a:moveTo>
                  <a:pt x="430" y="1271"/>
                </a:moveTo>
                <a:cubicBezTo>
                  <a:pt x="437" y="1280"/>
                  <a:pt x="444" y="1288"/>
                  <a:pt x="452" y="1297"/>
                </a:cubicBezTo>
                <a:cubicBezTo>
                  <a:pt x="474" y="1323"/>
                  <a:pt x="496" y="1349"/>
                  <a:pt x="520" y="1374"/>
                </a:cubicBezTo>
                <a:lnTo>
                  <a:pt x="505" y="1387"/>
                </a:lnTo>
                <a:cubicBezTo>
                  <a:pt x="482" y="1362"/>
                  <a:pt x="459" y="1336"/>
                  <a:pt x="437" y="1310"/>
                </a:cubicBezTo>
                <a:cubicBezTo>
                  <a:pt x="429" y="1301"/>
                  <a:pt x="422" y="1292"/>
                  <a:pt x="415" y="1283"/>
                </a:cubicBezTo>
                <a:lnTo>
                  <a:pt x="430" y="1271"/>
                </a:lnTo>
                <a:moveTo>
                  <a:pt x="614" y="1470"/>
                </a:moveTo>
                <a:cubicBezTo>
                  <a:pt x="647" y="1502"/>
                  <a:pt x="680" y="1532"/>
                  <a:pt x="715" y="1562"/>
                </a:cubicBezTo>
                <a:lnTo>
                  <a:pt x="702" y="1577"/>
                </a:lnTo>
                <a:cubicBezTo>
                  <a:pt x="667" y="1547"/>
                  <a:pt x="634" y="1516"/>
                  <a:pt x="601" y="1484"/>
                </a:cubicBezTo>
                <a:lnTo>
                  <a:pt x="614" y="1470"/>
                </a:lnTo>
                <a:moveTo>
                  <a:pt x="820" y="1647"/>
                </a:moveTo>
                <a:cubicBezTo>
                  <a:pt x="855" y="1675"/>
                  <a:pt x="893" y="1702"/>
                  <a:pt x="930" y="1727"/>
                </a:cubicBezTo>
                <a:lnTo>
                  <a:pt x="919" y="1743"/>
                </a:lnTo>
                <a:cubicBezTo>
                  <a:pt x="880" y="1717"/>
                  <a:pt x="844" y="1691"/>
                  <a:pt x="808" y="1663"/>
                </a:cubicBezTo>
                <a:lnTo>
                  <a:pt x="820" y="1647"/>
                </a:lnTo>
                <a:moveTo>
                  <a:pt x="1044" y="1802"/>
                </a:moveTo>
                <a:cubicBezTo>
                  <a:pt x="1082" y="1825"/>
                  <a:pt x="1121" y="1848"/>
                  <a:pt x="1161" y="1870"/>
                </a:cubicBezTo>
                <a:lnTo>
                  <a:pt x="1151" y="1887"/>
                </a:lnTo>
                <a:cubicBezTo>
                  <a:pt x="1111" y="1865"/>
                  <a:pt x="1072" y="1842"/>
                  <a:pt x="1033" y="1818"/>
                </a:cubicBezTo>
                <a:lnTo>
                  <a:pt x="1044" y="1802"/>
                </a:lnTo>
                <a:moveTo>
                  <a:pt x="1281" y="1933"/>
                </a:moveTo>
                <a:cubicBezTo>
                  <a:pt x="1321" y="1953"/>
                  <a:pt x="1362" y="1973"/>
                  <a:pt x="1404" y="1991"/>
                </a:cubicBezTo>
                <a:lnTo>
                  <a:pt x="1396" y="2009"/>
                </a:lnTo>
                <a:cubicBezTo>
                  <a:pt x="1354" y="1990"/>
                  <a:pt x="1313" y="1971"/>
                  <a:pt x="1272" y="1951"/>
                </a:cubicBezTo>
                <a:lnTo>
                  <a:pt x="1281" y="1933"/>
                </a:lnTo>
                <a:moveTo>
                  <a:pt x="1529" y="2044"/>
                </a:moveTo>
                <a:cubicBezTo>
                  <a:pt x="1570" y="2061"/>
                  <a:pt x="1613" y="2077"/>
                  <a:pt x="1656" y="2092"/>
                </a:cubicBezTo>
                <a:lnTo>
                  <a:pt x="1649" y="2110"/>
                </a:lnTo>
                <a:cubicBezTo>
                  <a:pt x="1606" y="2095"/>
                  <a:pt x="1563" y="2079"/>
                  <a:pt x="1522" y="2062"/>
                </a:cubicBezTo>
                <a:lnTo>
                  <a:pt x="1529" y="2044"/>
                </a:lnTo>
                <a:moveTo>
                  <a:pt x="1785" y="2136"/>
                </a:moveTo>
                <a:cubicBezTo>
                  <a:pt x="1827" y="2149"/>
                  <a:pt x="1870" y="2162"/>
                  <a:pt x="1915" y="2175"/>
                </a:cubicBezTo>
                <a:lnTo>
                  <a:pt x="1909" y="2194"/>
                </a:lnTo>
                <a:cubicBezTo>
                  <a:pt x="1865" y="2181"/>
                  <a:pt x="1821" y="2168"/>
                  <a:pt x="1779" y="2154"/>
                </a:cubicBezTo>
                <a:lnTo>
                  <a:pt x="1785" y="2136"/>
                </a:lnTo>
                <a:moveTo>
                  <a:pt x="2046" y="2210"/>
                </a:moveTo>
                <a:cubicBezTo>
                  <a:pt x="2089" y="2222"/>
                  <a:pt x="2133" y="2233"/>
                  <a:pt x="2178" y="2243"/>
                </a:cubicBezTo>
                <a:lnTo>
                  <a:pt x="2174" y="2262"/>
                </a:lnTo>
                <a:cubicBezTo>
                  <a:pt x="2129" y="2252"/>
                  <a:pt x="2084" y="2241"/>
                  <a:pt x="2041" y="2230"/>
                </a:cubicBezTo>
                <a:lnTo>
                  <a:pt x="2046" y="2210"/>
                </a:lnTo>
                <a:moveTo>
                  <a:pt x="2311" y="2272"/>
                </a:moveTo>
                <a:lnTo>
                  <a:pt x="2410" y="2291"/>
                </a:lnTo>
                <a:lnTo>
                  <a:pt x="2407" y="2310"/>
                </a:lnTo>
                <a:lnTo>
                  <a:pt x="2307" y="2291"/>
                </a:lnTo>
                <a:lnTo>
                  <a:pt x="2311" y="2272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1823760" y="3736080"/>
            <a:ext cx="67320" cy="55440"/>
          </a:xfrm>
          <a:custGeom>
            <a:avLst/>
            <a:gdLst/>
            <a:ahLst/>
            <a:rect l="0" t="0" r="r" b="b"/>
            <a:pathLst>
              <a:path w="187" h="154">
                <a:moveTo>
                  <a:pt x="187" y="110"/>
                </a:moveTo>
                <a:lnTo>
                  <a:pt x="28" y="0"/>
                </a:lnTo>
                <a:lnTo>
                  <a:pt x="92" y="91"/>
                </a:lnTo>
                <a:lnTo>
                  <a:pt x="0" y="154"/>
                </a:lnTo>
                <a:lnTo>
                  <a:pt x="187" y="110"/>
                </a:lnTo>
                <a:close/>
              </a:path>
            </a:pathLst>
          </a:custGeom>
          <a:solidFill>
            <a:srgbClr val="001d34"/>
          </a:solidFill>
          <a:ln w="6840">
            <a:solidFill>
              <a:srgbClr val="001d3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19680" y="4316040"/>
            <a:ext cx="655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757579"/>
                </a:solidFill>
                <a:latin typeface="Calibri"/>
                <a:ea typeface="Calibri"/>
              </a:rPr>
              <a:t>deliver new Tasks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2718360" y="3960000"/>
            <a:ext cx="611280" cy="773280"/>
          </a:xfrm>
          <a:custGeom>
            <a:avLst/>
            <a:gdLst/>
            <a:ahLst/>
            <a:rect l="0" t="0" r="r" b="b"/>
            <a:pathLst>
              <a:path w="1698" h="2148">
                <a:moveTo>
                  <a:pt x="8" y="0"/>
                </a:moveTo>
                <a:cubicBezTo>
                  <a:pt x="50" y="18"/>
                  <a:pt x="92" y="37"/>
                  <a:pt x="132" y="56"/>
                </a:cubicBezTo>
                <a:lnTo>
                  <a:pt x="123" y="74"/>
                </a:lnTo>
                <a:cubicBezTo>
                  <a:pt x="82" y="55"/>
                  <a:pt x="42" y="36"/>
                  <a:pt x="0" y="17"/>
                </a:cubicBezTo>
                <a:lnTo>
                  <a:pt x="8" y="0"/>
                </a:lnTo>
                <a:moveTo>
                  <a:pt x="255" y="117"/>
                </a:moveTo>
                <a:cubicBezTo>
                  <a:pt x="296" y="139"/>
                  <a:pt x="336" y="160"/>
                  <a:pt x="375" y="182"/>
                </a:cubicBezTo>
                <a:lnTo>
                  <a:pt x="366" y="199"/>
                </a:lnTo>
                <a:cubicBezTo>
                  <a:pt x="326" y="177"/>
                  <a:pt x="286" y="156"/>
                  <a:pt x="246" y="135"/>
                </a:cubicBezTo>
                <a:lnTo>
                  <a:pt x="255" y="117"/>
                </a:lnTo>
                <a:moveTo>
                  <a:pt x="493" y="251"/>
                </a:moveTo>
                <a:cubicBezTo>
                  <a:pt x="533" y="275"/>
                  <a:pt x="571" y="300"/>
                  <a:pt x="609" y="325"/>
                </a:cubicBezTo>
                <a:lnTo>
                  <a:pt x="598" y="341"/>
                </a:lnTo>
                <a:cubicBezTo>
                  <a:pt x="561" y="316"/>
                  <a:pt x="522" y="292"/>
                  <a:pt x="483" y="268"/>
                </a:cubicBezTo>
                <a:lnTo>
                  <a:pt x="493" y="251"/>
                </a:lnTo>
                <a:moveTo>
                  <a:pt x="721" y="403"/>
                </a:moveTo>
                <a:cubicBezTo>
                  <a:pt x="758" y="430"/>
                  <a:pt x="795" y="458"/>
                  <a:pt x="829" y="486"/>
                </a:cubicBezTo>
                <a:lnTo>
                  <a:pt x="817" y="501"/>
                </a:lnTo>
                <a:cubicBezTo>
                  <a:pt x="783" y="473"/>
                  <a:pt x="747" y="446"/>
                  <a:pt x="710" y="419"/>
                </a:cubicBezTo>
                <a:lnTo>
                  <a:pt x="721" y="403"/>
                </a:lnTo>
                <a:moveTo>
                  <a:pt x="934" y="575"/>
                </a:moveTo>
                <a:cubicBezTo>
                  <a:pt x="968" y="606"/>
                  <a:pt x="1001" y="637"/>
                  <a:pt x="1033" y="669"/>
                </a:cubicBezTo>
                <a:lnTo>
                  <a:pt x="1019" y="683"/>
                </a:lnTo>
                <a:cubicBezTo>
                  <a:pt x="988" y="651"/>
                  <a:pt x="955" y="620"/>
                  <a:pt x="921" y="589"/>
                </a:cubicBezTo>
                <a:lnTo>
                  <a:pt x="934" y="575"/>
                </a:lnTo>
                <a:moveTo>
                  <a:pt x="1125" y="769"/>
                </a:moveTo>
                <a:cubicBezTo>
                  <a:pt x="1155" y="803"/>
                  <a:pt x="1183" y="840"/>
                  <a:pt x="1210" y="878"/>
                </a:cubicBezTo>
                <a:lnTo>
                  <a:pt x="1195" y="889"/>
                </a:lnTo>
                <a:cubicBezTo>
                  <a:pt x="1167" y="852"/>
                  <a:pt x="1140" y="816"/>
                  <a:pt x="1111" y="782"/>
                </a:cubicBezTo>
                <a:lnTo>
                  <a:pt x="1125" y="769"/>
                </a:lnTo>
                <a:moveTo>
                  <a:pt x="1287" y="991"/>
                </a:moveTo>
                <a:cubicBezTo>
                  <a:pt x="1311" y="1029"/>
                  <a:pt x="1334" y="1069"/>
                  <a:pt x="1356" y="1110"/>
                </a:cubicBezTo>
                <a:lnTo>
                  <a:pt x="1339" y="1119"/>
                </a:lnTo>
                <a:cubicBezTo>
                  <a:pt x="1317" y="1078"/>
                  <a:pt x="1294" y="1039"/>
                  <a:pt x="1270" y="1001"/>
                </a:cubicBezTo>
                <a:lnTo>
                  <a:pt x="1287" y="991"/>
                </a:lnTo>
                <a:moveTo>
                  <a:pt x="1417" y="1232"/>
                </a:moveTo>
                <a:cubicBezTo>
                  <a:pt x="1436" y="1272"/>
                  <a:pt x="1455" y="1314"/>
                  <a:pt x="1473" y="1357"/>
                </a:cubicBezTo>
                <a:lnTo>
                  <a:pt x="1455" y="1364"/>
                </a:lnTo>
                <a:cubicBezTo>
                  <a:pt x="1437" y="1322"/>
                  <a:pt x="1419" y="1280"/>
                  <a:pt x="1400" y="1240"/>
                </a:cubicBezTo>
                <a:lnTo>
                  <a:pt x="1417" y="1232"/>
                </a:lnTo>
                <a:moveTo>
                  <a:pt x="1522" y="1484"/>
                </a:moveTo>
                <a:cubicBezTo>
                  <a:pt x="1538" y="1527"/>
                  <a:pt x="1553" y="1572"/>
                  <a:pt x="1567" y="1617"/>
                </a:cubicBezTo>
                <a:lnTo>
                  <a:pt x="1549" y="1623"/>
                </a:lnTo>
                <a:cubicBezTo>
                  <a:pt x="1535" y="1578"/>
                  <a:pt x="1520" y="1534"/>
                  <a:pt x="1504" y="1491"/>
                </a:cubicBezTo>
                <a:lnTo>
                  <a:pt x="1522" y="1484"/>
                </a:lnTo>
                <a:moveTo>
                  <a:pt x="1607" y="1748"/>
                </a:moveTo>
                <a:cubicBezTo>
                  <a:pt x="1619" y="1790"/>
                  <a:pt x="1630" y="1833"/>
                  <a:pt x="1641" y="1877"/>
                </a:cubicBezTo>
                <a:lnTo>
                  <a:pt x="1622" y="1882"/>
                </a:lnTo>
                <a:cubicBezTo>
                  <a:pt x="1611" y="1838"/>
                  <a:pt x="1600" y="1795"/>
                  <a:pt x="1588" y="1753"/>
                </a:cubicBezTo>
                <a:lnTo>
                  <a:pt x="1607" y="1748"/>
                </a:lnTo>
                <a:moveTo>
                  <a:pt x="1671" y="2010"/>
                </a:moveTo>
                <a:cubicBezTo>
                  <a:pt x="1681" y="2054"/>
                  <a:pt x="1690" y="2099"/>
                  <a:pt x="1698" y="2145"/>
                </a:cubicBezTo>
                <a:lnTo>
                  <a:pt x="1679" y="2148"/>
                </a:lnTo>
                <a:cubicBezTo>
                  <a:pt x="1671" y="2103"/>
                  <a:pt x="1662" y="2058"/>
                  <a:pt x="1652" y="2014"/>
                </a:cubicBezTo>
                <a:lnTo>
                  <a:pt x="1671" y="201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149840" y="3230640"/>
            <a:ext cx="8938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10" spc="-1" strike="noStrike">
                <a:solidFill>
                  <a:srgbClr val="757579"/>
                </a:solidFill>
                <a:latin typeface="Calibri"/>
                <a:ea typeface="Calibri"/>
              </a:rPr>
              <a:t>view referral / self-book</a:t>
            </a:r>
            <a:endParaRPr b="0" lang="en-AU" sz="7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5743440" y="5467320"/>
            <a:ext cx="3839040" cy="324000"/>
          </a:xfrm>
          <a:custGeom>
            <a:avLst/>
            <a:gdLst/>
            <a:ahLst/>
            <a:rect l="0" t="0" r="r" b="b"/>
            <a:pathLst>
              <a:path w="10664" h="900">
                <a:moveTo>
                  <a:pt x="0" y="74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40" y="53"/>
                  <a:pt x="47" y="46"/>
                </a:cubicBezTo>
                <a:cubicBezTo>
                  <a:pt x="55" y="39"/>
                  <a:pt x="63" y="32"/>
                  <a:pt x="71" y="26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8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lnTo>
                  <a:pt x="10505" y="0"/>
                </a:lnTo>
                <a:cubicBezTo>
                  <a:pt x="10515" y="0"/>
                  <a:pt x="10526" y="1"/>
                  <a:pt x="10536" y="3"/>
                </a:cubicBezTo>
                <a:cubicBezTo>
                  <a:pt x="10546" y="5"/>
                  <a:pt x="10556" y="8"/>
                  <a:pt x="10566" y="12"/>
                </a:cubicBezTo>
                <a:cubicBezTo>
                  <a:pt x="10575" y="16"/>
                  <a:pt x="10584" y="21"/>
                  <a:pt x="10593" y="26"/>
                </a:cubicBezTo>
                <a:cubicBezTo>
                  <a:pt x="10602" y="32"/>
                  <a:pt x="10610" y="39"/>
                  <a:pt x="10617" y="46"/>
                </a:cubicBezTo>
                <a:cubicBezTo>
                  <a:pt x="10624" y="53"/>
                  <a:pt x="10631" y="61"/>
                  <a:pt x="10637" y="70"/>
                </a:cubicBezTo>
                <a:cubicBezTo>
                  <a:pt x="10643" y="79"/>
                  <a:pt x="10648" y="88"/>
                  <a:pt x="10651" y="98"/>
                </a:cubicBezTo>
                <a:cubicBezTo>
                  <a:pt x="10655" y="107"/>
                  <a:pt x="10658" y="117"/>
                  <a:pt x="10661" y="127"/>
                </a:cubicBezTo>
                <a:cubicBezTo>
                  <a:pt x="10663" y="138"/>
                  <a:pt x="10664" y="148"/>
                  <a:pt x="10664" y="158"/>
                </a:cubicBezTo>
                <a:lnTo>
                  <a:pt x="10664" y="741"/>
                </a:lnTo>
                <a:cubicBezTo>
                  <a:pt x="10664" y="752"/>
                  <a:pt x="10663" y="762"/>
                  <a:pt x="10661" y="772"/>
                </a:cubicBezTo>
                <a:cubicBezTo>
                  <a:pt x="10658" y="783"/>
                  <a:pt x="10655" y="793"/>
                  <a:pt x="10651" y="802"/>
                </a:cubicBezTo>
                <a:cubicBezTo>
                  <a:pt x="10648" y="812"/>
                  <a:pt x="10643" y="821"/>
                  <a:pt x="10637" y="830"/>
                </a:cubicBezTo>
                <a:cubicBezTo>
                  <a:pt x="10631" y="838"/>
                  <a:pt x="10624" y="846"/>
                  <a:pt x="10617" y="854"/>
                </a:cubicBezTo>
                <a:cubicBezTo>
                  <a:pt x="10610" y="861"/>
                  <a:pt x="10602" y="868"/>
                  <a:pt x="10593" y="873"/>
                </a:cubicBezTo>
                <a:cubicBezTo>
                  <a:pt x="10584" y="879"/>
                  <a:pt x="10575" y="884"/>
                  <a:pt x="10566" y="888"/>
                </a:cubicBezTo>
                <a:cubicBezTo>
                  <a:pt x="10556" y="892"/>
                  <a:pt x="10546" y="895"/>
                  <a:pt x="10536" y="897"/>
                </a:cubicBezTo>
                <a:cubicBezTo>
                  <a:pt x="10526" y="899"/>
                  <a:pt x="10515" y="900"/>
                  <a:pt x="10505" y="900"/>
                </a:cubicBezTo>
                <a:lnTo>
                  <a:pt x="160" y="900"/>
                </a:lnTo>
                <a:cubicBezTo>
                  <a:pt x="149" y="900"/>
                  <a:pt x="139" y="899"/>
                  <a:pt x="129" y="897"/>
                </a:cubicBezTo>
                <a:cubicBezTo>
                  <a:pt x="118" y="895"/>
                  <a:pt x="109" y="892"/>
                  <a:pt x="99" y="888"/>
                </a:cubicBezTo>
                <a:cubicBezTo>
                  <a:pt x="89" y="884"/>
                  <a:pt x="80" y="879"/>
                  <a:pt x="71" y="873"/>
                </a:cubicBezTo>
                <a:cubicBezTo>
                  <a:pt x="63" y="868"/>
                  <a:pt x="55" y="861"/>
                  <a:pt x="47" y="854"/>
                </a:cubicBezTo>
                <a:cubicBezTo>
                  <a:pt x="40" y="846"/>
                  <a:pt x="32" y="838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2"/>
                </a:cubicBezTo>
                <a:cubicBezTo>
                  <a:pt x="1" y="762"/>
                  <a:pt x="0" y="752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66720" y="5441040"/>
            <a:ext cx="5145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Reference client: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Patient-Referral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(mjosborne1) at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5831280" y="5505480"/>
            <a:ext cx="36597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patient-referral.onrender.com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577800" y="5441040"/>
            <a:ext cx="1786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, pointed at HCPD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66720" y="5812560"/>
            <a:ext cx="55375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the browser-core path for discover → refer → track.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95328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98496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391068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394236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487764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491040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728604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731772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66720" y="739440"/>
            <a:ext cx="4498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1. Discover &amp; request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12440" y="200124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916560" y="144072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4"/>
                </a:moveTo>
                <a:cubicBezTo>
                  <a:pt x="409" y="217"/>
                  <a:pt x="407" y="231"/>
                  <a:pt x="405" y="244"/>
                </a:cubicBezTo>
                <a:cubicBezTo>
                  <a:pt x="402" y="257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40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40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7"/>
                  <a:pt x="4" y="244"/>
                </a:cubicBezTo>
                <a:cubicBezTo>
                  <a:pt x="1" y="231"/>
                  <a:pt x="0" y="217"/>
                  <a:pt x="0" y="204"/>
                </a:cubicBezTo>
                <a:cubicBezTo>
                  <a:pt x="0" y="191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4"/>
                  <a:pt x="27" y="102"/>
                  <a:pt x="34" y="91"/>
                </a:cubicBezTo>
                <a:cubicBezTo>
                  <a:pt x="42" y="80"/>
                  <a:pt x="50" y="69"/>
                  <a:pt x="60" y="60"/>
                </a:cubicBezTo>
                <a:cubicBezTo>
                  <a:pt x="69" y="51"/>
                  <a:pt x="80" y="42"/>
                  <a:pt x="91" y="35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5"/>
                </a:cubicBezTo>
                <a:cubicBezTo>
                  <a:pt x="329" y="42"/>
                  <a:pt x="339" y="51"/>
                  <a:pt x="349" y="60"/>
                </a:cubicBezTo>
                <a:cubicBezTo>
                  <a:pt x="358" y="69"/>
                  <a:pt x="367" y="80"/>
                  <a:pt x="374" y="91"/>
                </a:cubicBezTo>
                <a:cubicBezTo>
                  <a:pt x="382" y="102"/>
                  <a:pt x="388" y="114"/>
                  <a:pt x="393" y="126"/>
                </a:cubicBezTo>
                <a:cubicBezTo>
                  <a:pt x="398" y="138"/>
                  <a:pt x="402" y="151"/>
                  <a:pt x="405" y="164"/>
                </a:cubicBezTo>
                <a:cubicBezTo>
                  <a:pt x="407" y="177"/>
                  <a:pt x="409" y="191"/>
                  <a:pt x="409" y="204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916560" y="144072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4"/>
                </a:moveTo>
                <a:cubicBezTo>
                  <a:pt x="409" y="217"/>
                  <a:pt x="407" y="231"/>
                  <a:pt x="405" y="244"/>
                </a:cubicBezTo>
                <a:cubicBezTo>
                  <a:pt x="402" y="257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40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40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7"/>
                  <a:pt x="4" y="244"/>
                </a:cubicBezTo>
                <a:cubicBezTo>
                  <a:pt x="1" y="231"/>
                  <a:pt x="0" y="217"/>
                  <a:pt x="0" y="204"/>
                </a:cubicBezTo>
                <a:cubicBezTo>
                  <a:pt x="0" y="191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4"/>
                  <a:pt x="27" y="102"/>
                  <a:pt x="34" y="91"/>
                </a:cubicBezTo>
                <a:cubicBezTo>
                  <a:pt x="42" y="80"/>
                  <a:pt x="50" y="69"/>
                  <a:pt x="60" y="60"/>
                </a:cubicBezTo>
                <a:cubicBezTo>
                  <a:pt x="69" y="51"/>
                  <a:pt x="80" y="42"/>
                  <a:pt x="91" y="35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5"/>
                </a:cubicBezTo>
                <a:cubicBezTo>
                  <a:pt x="329" y="42"/>
                  <a:pt x="339" y="51"/>
                  <a:pt x="349" y="60"/>
                </a:cubicBezTo>
                <a:cubicBezTo>
                  <a:pt x="358" y="69"/>
                  <a:pt x="367" y="80"/>
                  <a:pt x="374" y="91"/>
                </a:cubicBezTo>
                <a:cubicBezTo>
                  <a:pt x="382" y="102"/>
                  <a:pt x="388" y="114"/>
                  <a:pt x="393" y="126"/>
                </a:cubicBezTo>
                <a:cubicBezTo>
                  <a:pt x="398" y="138"/>
                  <a:pt x="402" y="151"/>
                  <a:pt x="405" y="164"/>
                </a:cubicBezTo>
                <a:cubicBezTo>
                  <a:pt x="407" y="177"/>
                  <a:pt x="409" y="191"/>
                  <a:pt x="409" y="204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870840" y="1587600"/>
            <a:ext cx="238680" cy="385200"/>
          </a:xfrm>
          <a:custGeom>
            <a:avLst/>
            <a:gdLst/>
            <a:ahLst/>
            <a:rect l="0" t="0" r="r" b="b"/>
            <a:pathLst>
              <a:path fill="none" w="663" h="1070">
                <a:moveTo>
                  <a:pt x="331" y="0"/>
                </a:moveTo>
                <a:lnTo>
                  <a:pt x="331" y="688"/>
                </a:lnTo>
                <a:moveTo>
                  <a:pt x="0" y="203"/>
                </a:moveTo>
                <a:lnTo>
                  <a:pt x="663" y="203"/>
                </a:lnTo>
                <a:moveTo>
                  <a:pt x="331" y="688"/>
                </a:moveTo>
                <a:lnTo>
                  <a:pt x="0" y="1070"/>
                </a:lnTo>
                <a:moveTo>
                  <a:pt x="331" y="688"/>
                </a:moveTo>
                <a:lnTo>
                  <a:pt x="663" y="1070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39080" y="217584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12440" y="455832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916560" y="489708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5"/>
                </a:moveTo>
                <a:cubicBezTo>
                  <a:pt x="409" y="218"/>
                  <a:pt x="407" y="232"/>
                  <a:pt x="405" y="245"/>
                </a:cubicBezTo>
                <a:cubicBezTo>
                  <a:pt x="402" y="258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39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39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8"/>
                  <a:pt x="4" y="245"/>
                </a:cubicBezTo>
                <a:cubicBezTo>
                  <a:pt x="1" y="232"/>
                  <a:pt x="0" y="218"/>
                  <a:pt x="0" y="205"/>
                </a:cubicBezTo>
                <a:cubicBezTo>
                  <a:pt x="0" y="192"/>
                  <a:pt x="1" y="178"/>
                  <a:pt x="4" y="165"/>
                </a:cubicBezTo>
                <a:cubicBezTo>
                  <a:pt x="7" y="152"/>
                  <a:pt x="11" y="139"/>
                  <a:pt x="16" y="127"/>
                </a:cubicBezTo>
                <a:cubicBezTo>
                  <a:pt x="21" y="115"/>
                  <a:pt x="27" y="103"/>
                  <a:pt x="34" y="92"/>
                </a:cubicBezTo>
                <a:cubicBezTo>
                  <a:pt x="42" y="81"/>
                  <a:pt x="50" y="70"/>
                  <a:pt x="60" y="61"/>
                </a:cubicBezTo>
                <a:cubicBezTo>
                  <a:pt x="69" y="51"/>
                  <a:pt x="80" y="43"/>
                  <a:pt x="91" y="36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6"/>
                </a:cubicBezTo>
                <a:cubicBezTo>
                  <a:pt x="329" y="43"/>
                  <a:pt x="339" y="51"/>
                  <a:pt x="349" y="61"/>
                </a:cubicBezTo>
                <a:cubicBezTo>
                  <a:pt x="358" y="70"/>
                  <a:pt x="367" y="81"/>
                  <a:pt x="374" y="92"/>
                </a:cubicBezTo>
                <a:cubicBezTo>
                  <a:pt x="382" y="103"/>
                  <a:pt x="388" y="115"/>
                  <a:pt x="393" y="127"/>
                </a:cubicBezTo>
                <a:cubicBezTo>
                  <a:pt x="398" y="139"/>
                  <a:pt x="402" y="152"/>
                  <a:pt x="405" y="165"/>
                </a:cubicBezTo>
                <a:cubicBezTo>
                  <a:pt x="407" y="178"/>
                  <a:pt x="409" y="192"/>
                  <a:pt x="409" y="205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916560" y="489708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5"/>
                </a:moveTo>
                <a:cubicBezTo>
                  <a:pt x="409" y="218"/>
                  <a:pt x="407" y="232"/>
                  <a:pt x="405" y="245"/>
                </a:cubicBezTo>
                <a:cubicBezTo>
                  <a:pt x="402" y="258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39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39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8"/>
                  <a:pt x="4" y="245"/>
                </a:cubicBezTo>
                <a:cubicBezTo>
                  <a:pt x="1" y="232"/>
                  <a:pt x="0" y="218"/>
                  <a:pt x="0" y="205"/>
                </a:cubicBezTo>
                <a:cubicBezTo>
                  <a:pt x="0" y="192"/>
                  <a:pt x="1" y="178"/>
                  <a:pt x="4" y="165"/>
                </a:cubicBezTo>
                <a:cubicBezTo>
                  <a:pt x="7" y="152"/>
                  <a:pt x="11" y="139"/>
                  <a:pt x="16" y="127"/>
                </a:cubicBezTo>
                <a:cubicBezTo>
                  <a:pt x="21" y="115"/>
                  <a:pt x="27" y="103"/>
                  <a:pt x="34" y="92"/>
                </a:cubicBezTo>
                <a:cubicBezTo>
                  <a:pt x="42" y="81"/>
                  <a:pt x="50" y="70"/>
                  <a:pt x="60" y="61"/>
                </a:cubicBezTo>
                <a:cubicBezTo>
                  <a:pt x="69" y="51"/>
                  <a:pt x="80" y="43"/>
                  <a:pt x="91" y="36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6"/>
                </a:cubicBezTo>
                <a:cubicBezTo>
                  <a:pt x="329" y="43"/>
                  <a:pt x="339" y="51"/>
                  <a:pt x="349" y="61"/>
                </a:cubicBezTo>
                <a:cubicBezTo>
                  <a:pt x="358" y="70"/>
                  <a:pt x="367" y="81"/>
                  <a:pt x="374" y="92"/>
                </a:cubicBezTo>
                <a:cubicBezTo>
                  <a:pt x="382" y="103"/>
                  <a:pt x="388" y="115"/>
                  <a:pt x="393" y="127"/>
                </a:cubicBezTo>
                <a:cubicBezTo>
                  <a:pt x="398" y="139"/>
                  <a:pt x="402" y="152"/>
                  <a:pt x="405" y="165"/>
                </a:cubicBezTo>
                <a:cubicBezTo>
                  <a:pt x="407" y="178"/>
                  <a:pt x="409" y="192"/>
                  <a:pt x="409" y="205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870840" y="5043960"/>
            <a:ext cx="238680" cy="385200"/>
          </a:xfrm>
          <a:custGeom>
            <a:avLst/>
            <a:gdLst/>
            <a:ahLst/>
            <a:rect l="0" t="0" r="r" b="b"/>
            <a:pathLst>
              <a:path fill="none" w="663" h="1070">
                <a:moveTo>
                  <a:pt x="331" y="0"/>
                </a:moveTo>
                <a:lnTo>
                  <a:pt x="331" y="688"/>
                </a:lnTo>
                <a:moveTo>
                  <a:pt x="0" y="203"/>
                </a:moveTo>
                <a:lnTo>
                  <a:pt x="663" y="203"/>
                </a:lnTo>
                <a:moveTo>
                  <a:pt x="331" y="688"/>
                </a:moveTo>
                <a:lnTo>
                  <a:pt x="0" y="1070"/>
                </a:lnTo>
                <a:moveTo>
                  <a:pt x="331" y="688"/>
                </a:moveTo>
                <a:lnTo>
                  <a:pt x="663" y="1070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3376440" y="18486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2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4"/>
                </a:lnTo>
                <a:cubicBezTo>
                  <a:pt x="3174" y="1273"/>
                  <a:pt x="3172" y="1281"/>
                  <a:pt x="3169" y="1289"/>
                </a:cubicBezTo>
                <a:cubicBezTo>
                  <a:pt x="3166" y="1297"/>
                  <a:pt x="3161" y="1303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3"/>
                  <a:pt x="8" y="1297"/>
                  <a:pt x="4" y="1289"/>
                </a:cubicBezTo>
                <a:cubicBezTo>
                  <a:pt x="1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3376440" y="18486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2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4"/>
                </a:lnTo>
                <a:cubicBezTo>
                  <a:pt x="3174" y="1273"/>
                  <a:pt x="3172" y="1281"/>
                  <a:pt x="3169" y="1289"/>
                </a:cubicBezTo>
                <a:cubicBezTo>
                  <a:pt x="3166" y="1297"/>
                  <a:pt x="3161" y="1303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3"/>
                  <a:pt x="8" y="1297"/>
                  <a:pt x="4" y="1289"/>
                </a:cubicBezTo>
                <a:cubicBezTo>
                  <a:pt x="1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739080" y="473292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3692160" y="1927800"/>
            <a:ext cx="441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3376440" y="45432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1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3"/>
                </a:lnTo>
                <a:cubicBezTo>
                  <a:pt x="3174" y="1272"/>
                  <a:pt x="3172" y="1280"/>
                  <a:pt x="3169" y="1288"/>
                </a:cubicBezTo>
                <a:cubicBezTo>
                  <a:pt x="3166" y="1295"/>
                  <a:pt x="3161" y="1302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2"/>
                  <a:pt x="8" y="1295"/>
                  <a:pt x="4" y="1288"/>
                </a:cubicBezTo>
                <a:cubicBezTo>
                  <a:pt x="1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3376440" y="45432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1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3"/>
                </a:lnTo>
                <a:cubicBezTo>
                  <a:pt x="3174" y="1272"/>
                  <a:pt x="3172" y="1280"/>
                  <a:pt x="3169" y="1288"/>
                </a:cubicBezTo>
                <a:cubicBezTo>
                  <a:pt x="3166" y="1295"/>
                  <a:pt x="3161" y="1302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2"/>
                  <a:pt x="8" y="1295"/>
                  <a:pt x="4" y="1288"/>
                </a:cubicBezTo>
                <a:cubicBezTo>
                  <a:pt x="1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3440520" y="210276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692160" y="4622400"/>
            <a:ext cx="441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4610160" y="18486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2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4"/>
                </a:lnTo>
                <a:cubicBezTo>
                  <a:pt x="1691" y="1273"/>
                  <a:pt x="1689" y="1281"/>
                  <a:pt x="1686" y="1289"/>
                </a:cubicBezTo>
                <a:cubicBezTo>
                  <a:pt x="1683" y="1297"/>
                  <a:pt x="1678" y="1303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4610160" y="18486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2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4"/>
                </a:lnTo>
                <a:cubicBezTo>
                  <a:pt x="1691" y="1273"/>
                  <a:pt x="1689" y="1281"/>
                  <a:pt x="1686" y="1289"/>
                </a:cubicBezTo>
                <a:cubicBezTo>
                  <a:pt x="1683" y="1297"/>
                  <a:pt x="1678" y="1303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3440520" y="479736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4674600" y="192780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4610160" y="45432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1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3"/>
                </a:lnTo>
                <a:cubicBezTo>
                  <a:pt x="1691" y="1272"/>
                  <a:pt x="1689" y="1280"/>
                  <a:pt x="1686" y="1288"/>
                </a:cubicBezTo>
                <a:cubicBezTo>
                  <a:pt x="1683" y="1295"/>
                  <a:pt x="1678" y="1302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4610160" y="45432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1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3"/>
                </a:lnTo>
                <a:cubicBezTo>
                  <a:pt x="1691" y="1272"/>
                  <a:pt x="1689" y="1280"/>
                  <a:pt x="1686" y="1288"/>
                </a:cubicBezTo>
                <a:cubicBezTo>
                  <a:pt x="1683" y="1295"/>
                  <a:pt x="1678" y="1302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721400" y="21027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4674600" y="462240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6733440" y="18486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2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4"/>
                </a:lnTo>
                <a:cubicBezTo>
                  <a:pt x="3274" y="1273"/>
                  <a:pt x="3273" y="1281"/>
                  <a:pt x="3269" y="1289"/>
                </a:cubicBezTo>
                <a:cubicBezTo>
                  <a:pt x="3266" y="1297"/>
                  <a:pt x="3262" y="1303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6733440" y="18486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2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4"/>
                </a:lnTo>
                <a:cubicBezTo>
                  <a:pt x="3274" y="1273"/>
                  <a:pt x="3273" y="1281"/>
                  <a:pt x="3269" y="1289"/>
                </a:cubicBezTo>
                <a:cubicBezTo>
                  <a:pt x="3266" y="1297"/>
                  <a:pt x="3262" y="1303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721400" y="47973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6797880" y="192780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6733440" y="45432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1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3"/>
                </a:lnTo>
                <a:cubicBezTo>
                  <a:pt x="3274" y="1272"/>
                  <a:pt x="3273" y="1280"/>
                  <a:pt x="3269" y="1288"/>
                </a:cubicBezTo>
                <a:cubicBezTo>
                  <a:pt x="3266" y="1295"/>
                  <a:pt x="3262" y="1302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733440" y="45432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1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3"/>
                </a:lnTo>
                <a:cubicBezTo>
                  <a:pt x="3274" y="1272"/>
                  <a:pt x="3273" y="1280"/>
                  <a:pt x="3269" y="1288"/>
                </a:cubicBezTo>
                <a:cubicBezTo>
                  <a:pt x="3266" y="1295"/>
                  <a:pt x="3262" y="1302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7138800" y="21027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797880" y="462240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3837600" y="26078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0" y="0"/>
                </a:moveTo>
                <a:lnTo>
                  <a:pt x="255" y="101"/>
                </a:lnTo>
                <a:lnTo>
                  <a:pt x="0" y="204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990000" y="2644200"/>
            <a:ext cx="290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138800" y="47973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999000" y="2898360"/>
            <a:ext cx="92160" cy="73440"/>
          </a:xfrm>
          <a:custGeom>
            <a:avLst/>
            <a:gdLst/>
            <a:ahLst/>
            <a:rect l="0" t="0" r="r" b="b"/>
            <a:pathLst>
              <a:path w="256" h="204">
                <a:moveTo>
                  <a:pt x="256" y="0"/>
                </a:moveTo>
                <a:lnTo>
                  <a:pt x="0" y="101"/>
                </a:lnTo>
                <a:lnTo>
                  <a:pt x="256" y="204"/>
                </a:lnTo>
                <a:lnTo>
                  <a:pt x="154" y="101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1035720" y="2930400"/>
            <a:ext cx="2903040" cy="9360"/>
          </a:xfrm>
          <a:custGeom>
            <a:avLst/>
            <a:gdLst/>
            <a:ahLst/>
            <a:rect l="0" t="0" r="r" b="b"/>
            <a:pathLst>
              <a:path w="8064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7" y="0"/>
                </a:lnTo>
                <a:lnTo>
                  <a:pt x="357" y="26"/>
                </a:lnTo>
                <a:lnTo>
                  <a:pt x="306" y="26"/>
                </a:lnTo>
                <a:lnTo>
                  <a:pt x="306" y="0"/>
                </a:lnTo>
                <a:moveTo>
                  <a:pt x="408" y="0"/>
                </a:moveTo>
                <a:lnTo>
                  <a:pt x="458" y="0"/>
                </a:lnTo>
                <a:lnTo>
                  <a:pt x="458" y="26"/>
                </a:lnTo>
                <a:lnTo>
                  <a:pt x="408" y="26"/>
                </a:lnTo>
                <a:lnTo>
                  <a:pt x="408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9" y="0"/>
                </a:moveTo>
                <a:lnTo>
                  <a:pt x="1069" y="0"/>
                </a:lnTo>
                <a:lnTo>
                  <a:pt x="1069" y="26"/>
                </a:lnTo>
                <a:lnTo>
                  <a:pt x="1019" y="26"/>
                </a:lnTo>
                <a:lnTo>
                  <a:pt x="1019" y="0"/>
                </a:lnTo>
                <a:moveTo>
                  <a:pt x="1120" y="0"/>
                </a:moveTo>
                <a:lnTo>
                  <a:pt x="1172" y="0"/>
                </a:lnTo>
                <a:lnTo>
                  <a:pt x="1172" y="26"/>
                </a:lnTo>
                <a:lnTo>
                  <a:pt x="1120" y="26"/>
                </a:lnTo>
                <a:lnTo>
                  <a:pt x="1120" y="0"/>
                </a:lnTo>
                <a:moveTo>
                  <a:pt x="1223" y="0"/>
                </a:moveTo>
                <a:lnTo>
                  <a:pt x="1274" y="0"/>
                </a:lnTo>
                <a:lnTo>
                  <a:pt x="1274" y="26"/>
                </a:lnTo>
                <a:lnTo>
                  <a:pt x="1223" y="26"/>
                </a:lnTo>
                <a:lnTo>
                  <a:pt x="1223" y="0"/>
                </a:lnTo>
                <a:moveTo>
                  <a:pt x="1325" y="0"/>
                </a:moveTo>
                <a:lnTo>
                  <a:pt x="1376" y="0"/>
                </a:lnTo>
                <a:lnTo>
                  <a:pt x="1376" y="26"/>
                </a:lnTo>
                <a:lnTo>
                  <a:pt x="1325" y="26"/>
                </a:lnTo>
                <a:lnTo>
                  <a:pt x="1325" y="0"/>
                </a:lnTo>
                <a:moveTo>
                  <a:pt x="1427" y="0"/>
                </a:moveTo>
                <a:lnTo>
                  <a:pt x="1478" y="0"/>
                </a:lnTo>
                <a:lnTo>
                  <a:pt x="1478" y="26"/>
                </a:lnTo>
                <a:lnTo>
                  <a:pt x="1427" y="26"/>
                </a:lnTo>
                <a:lnTo>
                  <a:pt x="1427" y="0"/>
                </a:lnTo>
                <a:moveTo>
                  <a:pt x="1529" y="0"/>
                </a:moveTo>
                <a:lnTo>
                  <a:pt x="1580" y="0"/>
                </a:lnTo>
                <a:lnTo>
                  <a:pt x="1580" y="26"/>
                </a:lnTo>
                <a:lnTo>
                  <a:pt x="1529" y="26"/>
                </a:lnTo>
                <a:lnTo>
                  <a:pt x="1529" y="0"/>
                </a:lnTo>
                <a:moveTo>
                  <a:pt x="1631" y="0"/>
                </a:moveTo>
                <a:lnTo>
                  <a:pt x="1682" y="0"/>
                </a:lnTo>
                <a:lnTo>
                  <a:pt x="1682" y="26"/>
                </a:lnTo>
                <a:lnTo>
                  <a:pt x="1631" y="26"/>
                </a:lnTo>
                <a:lnTo>
                  <a:pt x="1631" y="0"/>
                </a:lnTo>
                <a:moveTo>
                  <a:pt x="1732" y="0"/>
                </a:moveTo>
                <a:lnTo>
                  <a:pt x="1783" y="0"/>
                </a:lnTo>
                <a:lnTo>
                  <a:pt x="1783" y="26"/>
                </a:lnTo>
                <a:lnTo>
                  <a:pt x="1732" y="26"/>
                </a:lnTo>
                <a:lnTo>
                  <a:pt x="1732" y="0"/>
                </a:lnTo>
                <a:moveTo>
                  <a:pt x="1834" y="0"/>
                </a:moveTo>
                <a:lnTo>
                  <a:pt x="1885" y="0"/>
                </a:lnTo>
                <a:lnTo>
                  <a:pt x="1885" y="26"/>
                </a:lnTo>
                <a:lnTo>
                  <a:pt x="1834" y="26"/>
                </a:lnTo>
                <a:lnTo>
                  <a:pt x="1834" y="0"/>
                </a:lnTo>
                <a:moveTo>
                  <a:pt x="1936" y="0"/>
                </a:moveTo>
                <a:lnTo>
                  <a:pt x="1987" y="0"/>
                </a:lnTo>
                <a:lnTo>
                  <a:pt x="1987" y="26"/>
                </a:lnTo>
                <a:lnTo>
                  <a:pt x="1936" y="26"/>
                </a:lnTo>
                <a:lnTo>
                  <a:pt x="1936" y="0"/>
                </a:lnTo>
                <a:moveTo>
                  <a:pt x="2038" y="0"/>
                </a:moveTo>
                <a:lnTo>
                  <a:pt x="2089" y="0"/>
                </a:lnTo>
                <a:lnTo>
                  <a:pt x="2089" y="26"/>
                </a:lnTo>
                <a:lnTo>
                  <a:pt x="2038" y="26"/>
                </a:lnTo>
                <a:lnTo>
                  <a:pt x="2038" y="0"/>
                </a:lnTo>
                <a:moveTo>
                  <a:pt x="2140" y="0"/>
                </a:moveTo>
                <a:lnTo>
                  <a:pt x="2191" y="0"/>
                </a:lnTo>
                <a:lnTo>
                  <a:pt x="2191" y="26"/>
                </a:lnTo>
                <a:lnTo>
                  <a:pt x="2140" y="26"/>
                </a:lnTo>
                <a:lnTo>
                  <a:pt x="2140" y="0"/>
                </a:lnTo>
                <a:moveTo>
                  <a:pt x="2242" y="0"/>
                </a:moveTo>
                <a:lnTo>
                  <a:pt x="2293" y="0"/>
                </a:lnTo>
                <a:lnTo>
                  <a:pt x="2293" y="26"/>
                </a:lnTo>
                <a:lnTo>
                  <a:pt x="2242" y="26"/>
                </a:lnTo>
                <a:lnTo>
                  <a:pt x="2242" y="0"/>
                </a:lnTo>
                <a:moveTo>
                  <a:pt x="2344" y="0"/>
                </a:moveTo>
                <a:lnTo>
                  <a:pt x="2394" y="0"/>
                </a:lnTo>
                <a:lnTo>
                  <a:pt x="2394" y="26"/>
                </a:lnTo>
                <a:lnTo>
                  <a:pt x="2344" y="26"/>
                </a:lnTo>
                <a:lnTo>
                  <a:pt x="2344" y="0"/>
                </a:lnTo>
                <a:moveTo>
                  <a:pt x="2445" y="0"/>
                </a:moveTo>
                <a:lnTo>
                  <a:pt x="2496" y="0"/>
                </a:lnTo>
                <a:lnTo>
                  <a:pt x="2496" y="26"/>
                </a:lnTo>
                <a:lnTo>
                  <a:pt x="2445" y="26"/>
                </a:lnTo>
                <a:lnTo>
                  <a:pt x="2445" y="0"/>
                </a:lnTo>
                <a:moveTo>
                  <a:pt x="2547" y="0"/>
                </a:moveTo>
                <a:lnTo>
                  <a:pt x="2598" y="0"/>
                </a:lnTo>
                <a:lnTo>
                  <a:pt x="2598" y="26"/>
                </a:lnTo>
                <a:lnTo>
                  <a:pt x="2547" y="26"/>
                </a:lnTo>
                <a:lnTo>
                  <a:pt x="2547" y="0"/>
                </a:lnTo>
                <a:moveTo>
                  <a:pt x="2649" y="0"/>
                </a:moveTo>
                <a:lnTo>
                  <a:pt x="2700" y="0"/>
                </a:lnTo>
                <a:lnTo>
                  <a:pt x="2700" y="26"/>
                </a:lnTo>
                <a:lnTo>
                  <a:pt x="2649" y="26"/>
                </a:lnTo>
                <a:lnTo>
                  <a:pt x="2649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5" y="0"/>
                </a:moveTo>
                <a:lnTo>
                  <a:pt x="3006" y="0"/>
                </a:lnTo>
                <a:lnTo>
                  <a:pt x="3006" y="26"/>
                </a:lnTo>
                <a:lnTo>
                  <a:pt x="2955" y="26"/>
                </a:lnTo>
                <a:lnTo>
                  <a:pt x="2955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7" y="0"/>
                </a:lnTo>
                <a:lnTo>
                  <a:pt x="3617" y="26"/>
                </a:lnTo>
                <a:lnTo>
                  <a:pt x="3566" y="26"/>
                </a:lnTo>
                <a:lnTo>
                  <a:pt x="3566" y="0"/>
                </a:lnTo>
                <a:moveTo>
                  <a:pt x="3668" y="0"/>
                </a:moveTo>
                <a:lnTo>
                  <a:pt x="3718" y="0"/>
                </a:lnTo>
                <a:lnTo>
                  <a:pt x="3718" y="26"/>
                </a:lnTo>
                <a:lnTo>
                  <a:pt x="3668" y="26"/>
                </a:lnTo>
                <a:lnTo>
                  <a:pt x="3668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9" y="0"/>
                </a:moveTo>
                <a:lnTo>
                  <a:pt x="4330" y="0"/>
                </a:lnTo>
                <a:lnTo>
                  <a:pt x="4330" y="26"/>
                </a:lnTo>
                <a:lnTo>
                  <a:pt x="4279" y="26"/>
                </a:lnTo>
                <a:lnTo>
                  <a:pt x="4279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1" y="0"/>
                </a:lnTo>
                <a:lnTo>
                  <a:pt x="4941" y="26"/>
                </a:lnTo>
                <a:lnTo>
                  <a:pt x="4890" y="26"/>
                </a:lnTo>
                <a:lnTo>
                  <a:pt x="4890" y="0"/>
                </a:lnTo>
                <a:moveTo>
                  <a:pt x="4992" y="0"/>
                </a:moveTo>
                <a:lnTo>
                  <a:pt x="5042" y="0"/>
                </a:lnTo>
                <a:lnTo>
                  <a:pt x="5042" y="26"/>
                </a:lnTo>
                <a:lnTo>
                  <a:pt x="4992" y="26"/>
                </a:lnTo>
                <a:lnTo>
                  <a:pt x="4992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3" y="0"/>
                </a:moveTo>
                <a:lnTo>
                  <a:pt x="5654" y="0"/>
                </a:lnTo>
                <a:lnTo>
                  <a:pt x="5654" y="26"/>
                </a:lnTo>
                <a:lnTo>
                  <a:pt x="5603" y="26"/>
                </a:lnTo>
                <a:lnTo>
                  <a:pt x="5603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5" y="0"/>
                </a:lnTo>
                <a:lnTo>
                  <a:pt x="6265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70" y="0"/>
                </a:lnTo>
                <a:lnTo>
                  <a:pt x="6570" y="26"/>
                </a:lnTo>
                <a:lnTo>
                  <a:pt x="6519" y="26"/>
                </a:lnTo>
                <a:lnTo>
                  <a:pt x="6519" y="0"/>
                </a:lnTo>
                <a:moveTo>
                  <a:pt x="6621" y="0"/>
                </a:moveTo>
                <a:lnTo>
                  <a:pt x="6672" y="0"/>
                </a:lnTo>
                <a:lnTo>
                  <a:pt x="6672" y="26"/>
                </a:lnTo>
                <a:lnTo>
                  <a:pt x="6621" y="26"/>
                </a:lnTo>
                <a:lnTo>
                  <a:pt x="6621" y="0"/>
                </a:lnTo>
                <a:moveTo>
                  <a:pt x="6723" y="0"/>
                </a:moveTo>
                <a:lnTo>
                  <a:pt x="6774" y="0"/>
                </a:lnTo>
                <a:lnTo>
                  <a:pt x="6774" y="26"/>
                </a:lnTo>
                <a:lnTo>
                  <a:pt x="6723" y="26"/>
                </a:lnTo>
                <a:lnTo>
                  <a:pt x="6723" y="0"/>
                </a:lnTo>
                <a:moveTo>
                  <a:pt x="6825" y="0"/>
                </a:moveTo>
                <a:lnTo>
                  <a:pt x="6876" y="0"/>
                </a:lnTo>
                <a:lnTo>
                  <a:pt x="6876" y="26"/>
                </a:lnTo>
                <a:lnTo>
                  <a:pt x="6825" y="26"/>
                </a:lnTo>
                <a:lnTo>
                  <a:pt x="6825" y="0"/>
                </a:lnTo>
                <a:moveTo>
                  <a:pt x="6927" y="0"/>
                </a:moveTo>
                <a:lnTo>
                  <a:pt x="6977" y="0"/>
                </a:lnTo>
                <a:lnTo>
                  <a:pt x="6977" y="26"/>
                </a:lnTo>
                <a:lnTo>
                  <a:pt x="6927" y="26"/>
                </a:lnTo>
                <a:lnTo>
                  <a:pt x="6927" y="0"/>
                </a:lnTo>
                <a:moveTo>
                  <a:pt x="7028" y="0"/>
                </a:moveTo>
                <a:lnTo>
                  <a:pt x="7079" y="0"/>
                </a:lnTo>
                <a:lnTo>
                  <a:pt x="7079" y="26"/>
                </a:lnTo>
                <a:lnTo>
                  <a:pt x="7028" y="26"/>
                </a:lnTo>
                <a:lnTo>
                  <a:pt x="7028" y="0"/>
                </a:lnTo>
                <a:moveTo>
                  <a:pt x="7130" y="0"/>
                </a:moveTo>
                <a:lnTo>
                  <a:pt x="7181" y="0"/>
                </a:lnTo>
                <a:lnTo>
                  <a:pt x="7181" y="26"/>
                </a:lnTo>
                <a:lnTo>
                  <a:pt x="7130" y="26"/>
                </a:lnTo>
                <a:lnTo>
                  <a:pt x="7130" y="0"/>
                </a:lnTo>
                <a:moveTo>
                  <a:pt x="7232" y="0"/>
                </a:moveTo>
                <a:lnTo>
                  <a:pt x="7283" y="0"/>
                </a:lnTo>
                <a:lnTo>
                  <a:pt x="7283" y="26"/>
                </a:lnTo>
                <a:lnTo>
                  <a:pt x="7232" y="26"/>
                </a:lnTo>
                <a:lnTo>
                  <a:pt x="7232" y="0"/>
                </a:lnTo>
                <a:moveTo>
                  <a:pt x="7334" y="0"/>
                </a:moveTo>
                <a:lnTo>
                  <a:pt x="7385" y="0"/>
                </a:lnTo>
                <a:lnTo>
                  <a:pt x="7385" y="26"/>
                </a:lnTo>
                <a:lnTo>
                  <a:pt x="7334" y="26"/>
                </a:lnTo>
                <a:lnTo>
                  <a:pt x="7334" y="0"/>
                </a:lnTo>
                <a:moveTo>
                  <a:pt x="7436" y="0"/>
                </a:moveTo>
                <a:lnTo>
                  <a:pt x="7487" y="0"/>
                </a:lnTo>
                <a:lnTo>
                  <a:pt x="7487" y="26"/>
                </a:lnTo>
                <a:lnTo>
                  <a:pt x="7436" y="26"/>
                </a:lnTo>
                <a:lnTo>
                  <a:pt x="7436" y="0"/>
                </a:lnTo>
                <a:moveTo>
                  <a:pt x="7538" y="0"/>
                </a:moveTo>
                <a:lnTo>
                  <a:pt x="7589" y="0"/>
                </a:lnTo>
                <a:lnTo>
                  <a:pt x="7589" y="26"/>
                </a:lnTo>
                <a:lnTo>
                  <a:pt x="7538" y="26"/>
                </a:lnTo>
                <a:lnTo>
                  <a:pt x="7538" y="0"/>
                </a:lnTo>
                <a:moveTo>
                  <a:pt x="7639" y="0"/>
                </a:moveTo>
                <a:lnTo>
                  <a:pt x="7690" y="0"/>
                </a:lnTo>
                <a:lnTo>
                  <a:pt x="7690" y="26"/>
                </a:lnTo>
                <a:lnTo>
                  <a:pt x="7639" y="26"/>
                </a:lnTo>
                <a:lnTo>
                  <a:pt x="7639" y="0"/>
                </a:lnTo>
                <a:moveTo>
                  <a:pt x="7741" y="0"/>
                </a:moveTo>
                <a:lnTo>
                  <a:pt x="7792" y="0"/>
                </a:lnTo>
                <a:lnTo>
                  <a:pt x="7792" y="26"/>
                </a:lnTo>
                <a:lnTo>
                  <a:pt x="7741" y="26"/>
                </a:lnTo>
                <a:lnTo>
                  <a:pt x="7741" y="0"/>
                </a:lnTo>
                <a:moveTo>
                  <a:pt x="7843" y="0"/>
                </a:moveTo>
                <a:lnTo>
                  <a:pt x="7894" y="0"/>
                </a:lnTo>
                <a:lnTo>
                  <a:pt x="7894" y="26"/>
                </a:lnTo>
                <a:lnTo>
                  <a:pt x="7843" y="26"/>
                </a:lnTo>
                <a:lnTo>
                  <a:pt x="7843" y="0"/>
                </a:lnTo>
                <a:moveTo>
                  <a:pt x="7945" y="0"/>
                </a:moveTo>
                <a:lnTo>
                  <a:pt x="7996" y="0"/>
                </a:lnTo>
                <a:lnTo>
                  <a:pt x="7996" y="26"/>
                </a:lnTo>
                <a:lnTo>
                  <a:pt x="7945" y="26"/>
                </a:lnTo>
                <a:lnTo>
                  <a:pt x="7945" y="0"/>
                </a:lnTo>
                <a:moveTo>
                  <a:pt x="8047" y="0"/>
                </a:moveTo>
                <a:lnTo>
                  <a:pt x="8064" y="0"/>
                </a:lnTo>
                <a:lnTo>
                  <a:pt x="8064" y="26"/>
                </a:lnTo>
                <a:lnTo>
                  <a:pt x="8047" y="26"/>
                </a:lnTo>
                <a:lnTo>
                  <a:pt x="8047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054080" y="2477880"/>
            <a:ext cx="23828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1. search HealthcareService / Location / Endpoint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4804200" y="318852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0" y="0"/>
                </a:moveTo>
                <a:lnTo>
                  <a:pt x="256" y="102"/>
                </a:lnTo>
                <a:lnTo>
                  <a:pt x="0" y="205"/>
                </a:lnTo>
                <a:lnTo>
                  <a:pt x="102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990000" y="3225240"/>
            <a:ext cx="386928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145880" y="2768400"/>
            <a:ext cx="18752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matching services + receiving Endpoint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999000" y="347904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4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035720" y="3511440"/>
            <a:ext cx="3868560" cy="9360"/>
          </a:xfrm>
          <a:custGeom>
            <a:avLst/>
            <a:gdLst/>
            <a:ahLst/>
            <a:rect l="0" t="0" r="r" b="b"/>
            <a:pathLst>
              <a:path w="10746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7" y="0"/>
                </a:lnTo>
                <a:lnTo>
                  <a:pt x="357" y="26"/>
                </a:lnTo>
                <a:lnTo>
                  <a:pt x="306" y="26"/>
                </a:lnTo>
                <a:lnTo>
                  <a:pt x="306" y="0"/>
                </a:lnTo>
                <a:moveTo>
                  <a:pt x="408" y="0"/>
                </a:moveTo>
                <a:lnTo>
                  <a:pt x="458" y="0"/>
                </a:lnTo>
                <a:lnTo>
                  <a:pt x="458" y="26"/>
                </a:lnTo>
                <a:lnTo>
                  <a:pt x="408" y="26"/>
                </a:lnTo>
                <a:lnTo>
                  <a:pt x="408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9" y="0"/>
                </a:moveTo>
                <a:lnTo>
                  <a:pt x="1069" y="0"/>
                </a:lnTo>
                <a:lnTo>
                  <a:pt x="1069" y="26"/>
                </a:lnTo>
                <a:lnTo>
                  <a:pt x="1019" y="26"/>
                </a:lnTo>
                <a:lnTo>
                  <a:pt x="1019" y="0"/>
                </a:lnTo>
                <a:moveTo>
                  <a:pt x="1120" y="0"/>
                </a:moveTo>
                <a:lnTo>
                  <a:pt x="1171" y="0"/>
                </a:lnTo>
                <a:lnTo>
                  <a:pt x="1171" y="26"/>
                </a:lnTo>
                <a:lnTo>
                  <a:pt x="1120" y="26"/>
                </a:lnTo>
                <a:lnTo>
                  <a:pt x="1120" y="0"/>
                </a:lnTo>
                <a:moveTo>
                  <a:pt x="1222" y="0"/>
                </a:moveTo>
                <a:lnTo>
                  <a:pt x="1273" y="0"/>
                </a:lnTo>
                <a:lnTo>
                  <a:pt x="1273" y="26"/>
                </a:lnTo>
                <a:lnTo>
                  <a:pt x="1222" y="26"/>
                </a:lnTo>
                <a:lnTo>
                  <a:pt x="1222" y="0"/>
                </a:lnTo>
                <a:moveTo>
                  <a:pt x="1324" y="0"/>
                </a:moveTo>
                <a:lnTo>
                  <a:pt x="1375" y="0"/>
                </a:lnTo>
                <a:lnTo>
                  <a:pt x="1375" y="26"/>
                </a:lnTo>
                <a:lnTo>
                  <a:pt x="1324" y="26"/>
                </a:lnTo>
                <a:lnTo>
                  <a:pt x="1324" y="0"/>
                </a:lnTo>
                <a:moveTo>
                  <a:pt x="1426" y="0"/>
                </a:moveTo>
                <a:lnTo>
                  <a:pt x="1477" y="0"/>
                </a:lnTo>
                <a:lnTo>
                  <a:pt x="1477" y="26"/>
                </a:lnTo>
                <a:lnTo>
                  <a:pt x="1426" y="26"/>
                </a:lnTo>
                <a:lnTo>
                  <a:pt x="1426" y="0"/>
                </a:lnTo>
                <a:moveTo>
                  <a:pt x="1528" y="0"/>
                </a:moveTo>
                <a:lnTo>
                  <a:pt x="1579" y="0"/>
                </a:lnTo>
                <a:lnTo>
                  <a:pt x="1579" y="26"/>
                </a:lnTo>
                <a:lnTo>
                  <a:pt x="1528" y="26"/>
                </a:lnTo>
                <a:lnTo>
                  <a:pt x="1528" y="0"/>
                </a:lnTo>
                <a:moveTo>
                  <a:pt x="1630" y="0"/>
                </a:moveTo>
                <a:lnTo>
                  <a:pt x="1681" y="0"/>
                </a:lnTo>
                <a:lnTo>
                  <a:pt x="1681" y="26"/>
                </a:lnTo>
                <a:lnTo>
                  <a:pt x="1630" y="26"/>
                </a:lnTo>
                <a:lnTo>
                  <a:pt x="1630" y="0"/>
                </a:lnTo>
                <a:moveTo>
                  <a:pt x="1731" y="0"/>
                </a:moveTo>
                <a:lnTo>
                  <a:pt x="1782" y="0"/>
                </a:lnTo>
                <a:lnTo>
                  <a:pt x="1782" y="26"/>
                </a:lnTo>
                <a:lnTo>
                  <a:pt x="1731" y="26"/>
                </a:lnTo>
                <a:lnTo>
                  <a:pt x="1731" y="0"/>
                </a:lnTo>
                <a:moveTo>
                  <a:pt x="1833" y="0"/>
                </a:moveTo>
                <a:lnTo>
                  <a:pt x="1884" y="0"/>
                </a:lnTo>
                <a:lnTo>
                  <a:pt x="1884" y="26"/>
                </a:lnTo>
                <a:lnTo>
                  <a:pt x="1833" y="26"/>
                </a:lnTo>
                <a:lnTo>
                  <a:pt x="1833" y="0"/>
                </a:lnTo>
                <a:moveTo>
                  <a:pt x="1935" y="0"/>
                </a:moveTo>
                <a:lnTo>
                  <a:pt x="1986" y="0"/>
                </a:lnTo>
                <a:lnTo>
                  <a:pt x="1986" y="26"/>
                </a:lnTo>
                <a:lnTo>
                  <a:pt x="1935" y="26"/>
                </a:lnTo>
                <a:lnTo>
                  <a:pt x="1935" y="0"/>
                </a:lnTo>
                <a:moveTo>
                  <a:pt x="2037" y="0"/>
                </a:moveTo>
                <a:lnTo>
                  <a:pt x="2088" y="0"/>
                </a:lnTo>
                <a:lnTo>
                  <a:pt x="2088" y="26"/>
                </a:lnTo>
                <a:lnTo>
                  <a:pt x="2037" y="26"/>
                </a:lnTo>
                <a:lnTo>
                  <a:pt x="2037" y="0"/>
                </a:lnTo>
                <a:moveTo>
                  <a:pt x="2139" y="0"/>
                </a:moveTo>
                <a:lnTo>
                  <a:pt x="2190" y="0"/>
                </a:lnTo>
                <a:lnTo>
                  <a:pt x="2190" y="26"/>
                </a:lnTo>
                <a:lnTo>
                  <a:pt x="2139" y="26"/>
                </a:lnTo>
                <a:lnTo>
                  <a:pt x="2139" y="0"/>
                </a:lnTo>
                <a:moveTo>
                  <a:pt x="2241" y="0"/>
                </a:moveTo>
                <a:lnTo>
                  <a:pt x="2292" y="0"/>
                </a:lnTo>
                <a:lnTo>
                  <a:pt x="2292" y="26"/>
                </a:lnTo>
                <a:lnTo>
                  <a:pt x="2241" y="26"/>
                </a:lnTo>
                <a:lnTo>
                  <a:pt x="2241" y="0"/>
                </a:lnTo>
                <a:moveTo>
                  <a:pt x="2343" y="0"/>
                </a:moveTo>
                <a:lnTo>
                  <a:pt x="2393" y="0"/>
                </a:lnTo>
                <a:lnTo>
                  <a:pt x="2393" y="26"/>
                </a:lnTo>
                <a:lnTo>
                  <a:pt x="2343" y="26"/>
                </a:lnTo>
                <a:lnTo>
                  <a:pt x="2343" y="0"/>
                </a:lnTo>
                <a:moveTo>
                  <a:pt x="2444" y="0"/>
                </a:moveTo>
                <a:lnTo>
                  <a:pt x="2496" y="0"/>
                </a:lnTo>
                <a:lnTo>
                  <a:pt x="2496" y="26"/>
                </a:lnTo>
                <a:lnTo>
                  <a:pt x="2444" y="26"/>
                </a:lnTo>
                <a:lnTo>
                  <a:pt x="2444" y="0"/>
                </a:lnTo>
                <a:moveTo>
                  <a:pt x="2547" y="0"/>
                </a:moveTo>
                <a:lnTo>
                  <a:pt x="2598" y="0"/>
                </a:lnTo>
                <a:lnTo>
                  <a:pt x="2598" y="26"/>
                </a:lnTo>
                <a:lnTo>
                  <a:pt x="2547" y="26"/>
                </a:lnTo>
                <a:lnTo>
                  <a:pt x="2547" y="0"/>
                </a:lnTo>
                <a:moveTo>
                  <a:pt x="2649" y="0"/>
                </a:moveTo>
                <a:lnTo>
                  <a:pt x="2700" y="0"/>
                </a:lnTo>
                <a:lnTo>
                  <a:pt x="2700" y="26"/>
                </a:lnTo>
                <a:lnTo>
                  <a:pt x="2649" y="26"/>
                </a:lnTo>
                <a:lnTo>
                  <a:pt x="2649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5" y="0"/>
                </a:moveTo>
                <a:lnTo>
                  <a:pt x="3006" y="0"/>
                </a:lnTo>
                <a:lnTo>
                  <a:pt x="3006" y="26"/>
                </a:lnTo>
                <a:lnTo>
                  <a:pt x="2955" y="26"/>
                </a:lnTo>
                <a:lnTo>
                  <a:pt x="2955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7" y="0"/>
                </a:lnTo>
                <a:lnTo>
                  <a:pt x="3617" y="26"/>
                </a:lnTo>
                <a:lnTo>
                  <a:pt x="3566" y="26"/>
                </a:lnTo>
                <a:lnTo>
                  <a:pt x="3566" y="0"/>
                </a:lnTo>
                <a:moveTo>
                  <a:pt x="3668" y="0"/>
                </a:moveTo>
                <a:lnTo>
                  <a:pt x="3718" y="0"/>
                </a:lnTo>
                <a:lnTo>
                  <a:pt x="3718" y="26"/>
                </a:lnTo>
                <a:lnTo>
                  <a:pt x="3668" y="26"/>
                </a:lnTo>
                <a:lnTo>
                  <a:pt x="3668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9" y="0"/>
                </a:moveTo>
                <a:lnTo>
                  <a:pt x="4330" y="0"/>
                </a:lnTo>
                <a:lnTo>
                  <a:pt x="4330" y="26"/>
                </a:lnTo>
                <a:lnTo>
                  <a:pt x="4279" y="26"/>
                </a:lnTo>
                <a:lnTo>
                  <a:pt x="4279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1" y="0"/>
                </a:lnTo>
                <a:lnTo>
                  <a:pt x="4941" y="26"/>
                </a:lnTo>
                <a:lnTo>
                  <a:pt x="4890" y="26"/>
                </a:lnTo>
                <a:lnTo>
                  <a:pt x="4890" y="0"/>
                </a:lnTo>
                <a:moveTo>
                  <a:pt x="4992" y="0"/>
                </a:moveTo>
                <a:lnTo>
                  <a:pt x="5042" y="0"/>
                </a:lnTo>
                <a:lnTo>
                  <a:pt x="5042" y="26"/>
                </a:lnTo>
                <a:lnTo>
                  <a:pt x="4992" y="26"/>
                </a:lnTo>
                <a:lnTo>
                  <a:pt x="4992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3" y="0"/>
                </a:moveTo>
                <a:lnTo>
                  <a:pt x="5654" y="0"/>
                </a:lnTo>
                <a:lnTo>
                  <a:pt x="5654" y="26"/>
                </a:lnTo>
                <a:lnTo>
                  <a:pt x="5603" y="26"/>
                </a:lnTo>
                <a:lnTo>
                  <a:pt x="5603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5" y="0"/>
                </a:lnTo>
                <a:lnTo>
                  <a:pt x="6265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70" y="0"/>
                </a:lnTo>
                <a:lnTo>
                  <a:pt x="6570" y="26"/>
                </a:lnTo>
                <a:lnTo>
                  <a:pt x="6519" y="26"/>
                </a:lnTo>
                <a:lnTo>
                  <a:pt x="6519" y="0"/>
                </a:lnTo>
                <a:moveTo>
                  <a:pt x="6621" y="0"/>
                </a:moveTo>
                <a:lnTo>
                  <a:pt x="6672" y="0"/>
                </a:lnTo>
                <a:lnTo>
                  <a:pt x="6672" y="26"/>
                </a:lnTo>
                <a:lnTo>
                  <a:pt x="6621" y="26"/>
                </a:lnTo>
                <a:lnTo>
                  <a:pt x="6621" y="0"/>
                </a:lnTo>
                <a:moveTo>
                  <a:pt x="6723" y="0"/>
                </a:moveTo>
                <a:lnTo>
                  <a:pt x="6774" y="0"/>
                </a:lnTo>
                <a:lnTo>
                  <a:pt x="6774" y="26"/>
                </a:lnTo>
                <a:lnTo>
                  <a:pt x="6723" y="26"/>
                </a:lnTo>
                <a:lnTo>
                  <a:pt x="6723" y="0"/>
                </a:lnTo>
                <a:moveTo>
                  <a:pt x="6825" y="0"/>
                </a:moveTo>
                <a:lnTo>
                  <a:pt x="6876" y="0"/>
                </a:lnTo>
                <a:lnTo>
                  <a:pt x="6876" y="26"/>
                </a:lnTo>
                <a:lnTo>
                  <a:pt x="6825" y="26"/>
                </a:lnTo>
                <a:lnTo>
                  <a:pt x="6825" y="0"/>
                </a:lnTo>
                <a:moveTo>
                  <a:pt x="6927" y="0"/>
                </a:moveTo>
                <a:lnTo>
                  <a:pt x="6977" y="0"/>
                </a:lnTo>
                <a:lnTo>
                  <a:pt x="6977" y="26"/>
                </a:lnTo>
                <a:lnTo>
                  <a:pt x="6927" y="26"/>
                </a:lnTo>
                <a:lnTo>
                  <a:pt x="6927" y="0"/>
                </a:lnTo>
                <a:moveTo>
                  <a:pt x="7028" y="0"/>
                </a:moveTo>
                <a:lnTo>
                  <a:pt x="7079" y="0"/>
                </a:lnTo>
                <a:lnTo>
                  <a:pt x="7079" y="26"/>
                </a:lnTo>
                <a:lnTo>
                  <a:pt x="7028" y="26"/>
                </a:lnTo>
                <a:lnTo>
                  <a:pt x="7028" y="0"/>
                </a:lnTo>
                <a:moveTo>
                  <a:pt x="7130" y="0"/>
                </a:moveTo>
                <a:lnTo>
                  <a:pt x="7181" y="0"/>
                </a:lnTo>
                <a:lnTo>
                  <a:pt x="7181" y="26"/>
                </a:lnTo>
                <a:lnTo>
                  <a:pt x="7130" y="26"/>
                </a:lnTo>
                <a:lnTo>
                  <a:pt x="7130" y="0"/>
                </a:lnTo>
                <a:moveTo>
                  <a:pt x="7232" y="0"/>
                </a:moveTo>
                <a:lnTo>
                  <a:pt x="7283" y="0"/>
                </a:lnTo>
                <a:lnTo>
                  <a:pt x="7283" y="26"/>
                </a:lnTo>
                <a:lnTo>
                  <a:pt x="7232" y="26"/>
                </a:lnTo>
                <a:lnTo>
                  <a:pt x="7232" y="0"/>
                </a:lnTo>
                <a:moveTo>
                  <a:pt x="7334" y="0"/>
                </a:moveTo>
                <a:lnTo>
                  <a:pt x="7385" y="0"/>
                </a:lnTo>
                <a:lnTo>
                  <a:pt x="7385" y="26"/>
                </a:lnTo>
                <a:lnTo>
                  <a:pt x="7334" y="26"/>
                </a:lnTo>
                <a:lnTo>
                  <a:pt x="7334" y="0"/>
                </a:lnTo>
                <a:moveTo>
                  <a:pt x="7436" y="0"/>
                </a:moveTo>
                <a:lnTo>
                  <a:pt x="7487" y="0"/>
                </a:lnTo>
                <a:lnTo>
                  <a:pt x="7487" y="26"/>
                </a:lnTo>
                <a:lnTo>
                  <a:pt x="7436" y="26"/>
                </a:lnTo>
                <a:lnTo>
                  <a:pt x="7436" y="0"/>
                </a:lnTo>
                <a:moveTo>
                  <a:pt x="7538" y="0"/>
                </a:moveTo>
                <a:lnTo>
                  <a:pt x="7589" y="0"/>
                </a:lnTo>
                <a:lnTo>
                  <a:pt x="7589" y="26"/>
                </a:lnTo>
                <a:lnTo>
                  <a:pt x="7538" y="26"/>
                </a:lnTo>
                <a:lnTo>
                  <a:pt x="7538" y="0"/>
                </a:lnTo>
                <a:moveTo>
                  <a:pt x="7639" y="0"/>
                </a:moveTo>
                <a:lnTo>
                  <a:pt x="7690" y="0"/>
                </a:lnTo>
                <a:lnTo>
                  <a:pt x="7690" y="26"/>
                </a:lnTo>
                <a:lnTo>
                  <a:pt x="7639" y="26"/>
                </a:lnTo>
                <a:lnTo>
                  <a:pt x="7639" y="0"/>
                </a:lnTo>
                <a:moveTo>
                  <a:pt x="7741" y="0"/>
                </a:moveTo>
                <a:lnTo>
                  <a:pt x="7792" y="0"/>
                </a:lnTo>
                <a:lnTo>
                  <a:pt x="7792" y="26"/>
                </a:lnTo>
                <a:lnTo>
                  <a:pt x="7741" y="26"/>
                </a:lnTo>
                <a:lnTo>
                  <a:pt x="7741" y="0"/>
                </a:lnTo>
                <a:moveTo>
                  <a:pt x="7843" y="0"/>
                </a:moveTo>
                <a:lnTo>
                  <a:pt x="7894" y="0"/>
                </a:lnTo>
                <a:lnTo>
                  <a:pt x="7894" y="26"/>
                </a:lnTo>
                <a:lnTo>
                  <a:pt x="7843" y="26"/>
                </a:lnTo>
                <a:lnTo>
                  <a:pt x="7843" y="0"/>
                </a:lnTo>
                <a:moveTo>
                  <a:pt x="7945" y="0"/>
                </a:moveTo>
                <a:lnTo>
                  <a:pt x="7996" y="0"/>
                </a:lnTo>
                <a:lnTo>
                  <a:pt x="7996" y="26"/>
                </a:lnTo>
                <a:lnTo>
                  <a:pt x="7945" y="26"/>
                </a:lnTo>
                <a:lnTo>
                  <a:pt x="7945" y="0"/>
                </a:lnTo>
                <a:moveTo>
                  <a:pt x="8047" y="0"/>
                </a:moveTo>
                <a:lnTo>
                  <a:pt x="8098" y="0"/>
                </a:lnTo>
                <a:lnTo>
                  <a:pt x="8098" y="26"/>
                </a:lnTo>
                <a:lnTo>
                  <a:pt x="8047" y="26"/>
                </a:lnTo>
                <a:lnTo>
                  <a:pt x="8047" y="0"/>
                </a:lnTo>
                <a:moveTo>
                  <a:pt x="8149" y="0"/>
                </a:moveTo>
                <a:lnTo>
                  <a:pt x="8200" y="0"/>
                </a:lnTo>
                <a:lnTo>
                  <a:pt x="8200" y="26"/>
                </a:lnTo>
                <a:lnTo>
                  <a:pt x="8149" y="26"/>
                </a:lnTo>
                <a:lnTo>
                  <a:pt x="8149" y="0"/>
                </a:lnTo>
                <a:moveTo>
                  <a:pt x="8251" y="0"/>
                </a:moveTo>
                <a:lnTo>
                  <a:pt x="8301" y="0"/>
                </a:lnTo>
                <a:lnTo>
                  <a:pt x="8301" y="26"/>
                </a:lnTo>
                <a:lnTo>
                  <a:pt x="8251" y="26"/>
                </a:lnTo>
                <a:lnTo>
                  <a:pt x="8251" y="0"/>
                </a:lnTo>
                <a:moveTo>
                  <a:pt x="8352" y="0"/>
                </a:moveTo>
                <a:lnTo>
                  <a:pt x="8403" y="0"/>
                </a:lnTo>
                <a:lnTo>
                  <a:pt x="8403" y="26"/>
                </a:lnTo>
                <a:lnTo>
                  <a:pt x="8352" y="26"/>
                </a:lnTo>
                <a:lnTo>
                  <a:pt x="8352" y="0"/>
                </a:lnTo>
                <a:moveTo>
                  <a:pt x="8454" y="0"/>
                </a:moveTo>
                <a:lnTo>
                  <a:pt x="8505" y="0"/>
                </a:lnTo>
                <a:lnTo>
                  <a:pt x="8505" y="26"/>
                </a:lnTo>
                <a:lnTo>
                  <a:pt x="8454" y="26"/>
                </a:lnTo>
                <a:lnTo>
                  <a:pt x="8454" y="0"/>
                </a:lnTo>
                <a:moveTo>
                  <a:pt x="8556" y="0"/>
                </a:moveTo>
                <a:lnTo>
                  <a:pt x="8607" y="0"/>
                </a:lnTo>
                <a:lnTo>
                  <a:pt x="8607" y="26"/>
                </a:lnTo>
                <a:lnTo>
                  <a:pt x="8556" y="26"/>
                </a:lnTo>
                <a:lnTo>
                  <a:pt x="8556" y="0"/>
                </a:lnTo>
                <a:moveTo>
                  <a:pt x="8658" y="0"/>
                </a:moveTo>
                <a:lnTo>
                  <a:pt x="8709" y="0"/>
                </a:lnTo>
                <a:lnTo>
                  <a:pt x="8709" y="26"/>
                </a:lnTo>
                <a:lnTo>
                  <a:pt x="8658" y="26"/>
                </a:lnTo>
                <a:lnTo>
                  <a:pt x="8658" y="0"/>
                </a:lnTo>
                <a:moveTo>
                  <a:pt x="8760" y="0"/>
                </a:moveTo>
                <a:lnTo>
                  <a:pt x="8811" y="0"/>
                </a:lnTo>
                <a:lnTo>
                  <a:pt x="8811" y="26"/>
                </a:lnTo>
                <a:lnTo>
                  <a:pt x="8760" y="26"/>
                </a:lnTo>
                <a:lnTo>
                  <a:pt x="8760" y="0"/>
                </a:lnTo>
                <a:moveTo>
                  <a:pt x="8862" y="0"/>
                </a:moveTo>
                <a:lnTo>
                  <a:pt x="8913" y="0"/>
                </a:lnTo>
                <a:lnTo>
                  <a:pt x="8913" y="26"/>
                </a:lnTo>
                <a:lnTo>
                  <a:pt x="8862" y="26"/>
                </a:lnTo>
                <a:lnTo>
                  <a:pt x="8862" y="0"/>
                </a:lnTo>
                <a:moveTo>
                  <a:pt x="8963" y="0"/>
                </a:moveTo>
                <a:lnTo>
                  <a:pt x="9014" y="0"/>
                </a:lnTo>
                <a:lnTo>
                  <a:pt x="9014" y="26"/>
                </a:lnTo>
                <a:lnTo>
                  <a:pt x="8963" y="26"/>
                </a:lnTo>
                <a:lnTo>
                  <a:pt x="8963" y="0"/>
                </a:lnTo>
                <a:moveTo>
                  <a:pt x="9065" y="0"/>
                </a:moveTo>
                <a:lnTo>
                  <a:pt x="9116" y="0"/>
                </a:lnTo>
                <a:lnTo>
                  <a:pt x="9116" y="26"/>
                </a:lnTo>
                <a:lnTo>
                  <a:pt x="9065" y="26"/>
                </a:lnTo>
                <a:lnTo>
                  <a:pt x="9065" y="0"/>
                </a:lnTo>
                <a:moveTo>
                  <a:pt x="9167" y="0"/>
                </a:moveTo>
                <a:lnTo>
                  <a:pt x="9218" y="0"/>
                </a:lnTo>
                <a:lnTo>
                  <a:pt x="9218" y="26"/>
                </a:lnTo>
                <a:lnTo>
                  <a:pt x="9167" y="26"/>
                </a:lnTo>
                <a:lnTo>
                  <a:pt x="9167" y="0"/>
                </a:lnTo>
                <a:moveTo>
                  <a:pt x="9269" y="0"/>
                </a:moveTo>
                <a:lnTo>
                  <a:pt x="9320" y="0"/>
                </a:lnTo>
                <a:lnTo>
                  <a:pt x="9320" y="26"/>
                </a:lnTo>
                <a:lnTo>
                  <a:pt x="9269" y="26"/>
                </a:lnTo>
                <a:lnTo>
                  <a:pt x="9269" y="0"/>
                </a:lnTo>
                <a:moveTo>
                  <a:pt x="9371" y="0"/>
                </a:moveTo>
                <a:lnTo>
                  <a:pt x="9422" y="0"/>
                </a:lnTo>
                <a:lnTo>
                  <a:pt x="9422" y="26"/>
                </a:lnTo>
                <a:lnTo>
                  <a:pt x="9371" y="26"/>
                </a:lnTo>
                <a:lnTo>
                  <a:pt x="9371" y="0"/>
                </a:lnTo>
                <a:moveTo>
                  <a:pt x="9473" y="0"/>
                </a:moveTo>
                <a:lnTo>
                  <a:pt x="9524" y="0"/>
                </a:lnTo>
                <a:lnTo>
                  <a:pt x="9524" y="26"/>
                </a:lnTo>
                <a:lnTo>
                  <a:pt x="9473" y="26"/>
                </a:lnTo>
                <a:lnTo>
                  <a:pt x="9473" y="0"/>
                </a:lnTo>
                <a:moveTo>
                  <a:pt x="9575" y="0"/>
                </a:moveTo>
                <a:lnTo>
                  <a:pt x="9625" y="0"/>
                </a:lnTo>
                <a:lnTo>
                  <a:pt x="9625" y="26"/>
                </a:lnTo>
                <a:lnTo>
                  <a:pt x="9575" y="26"/>
                </a:lnTo>
                <a:lnTo>
                  <a:pt x="9575" y="0"/>
                </a:lnTo>
                <a:moveTo>
                  <a:pt x="9676" y="0"/>
                </a:moveTo>
                <a:lnTo>
                  <a:pt x="9727" y="0"/>
                </a:lnTo>
                <a:lnTo>
                  <a:pt x="9727" y="26"/>
                </a:lnTo>
                <a:lnTo>
                  <a:pt x="9676" y="26"/>
                </a:lnTo>
                <a:lnTo>
                  <a:pt x="9676" y="0"/>
                </a:lnTo>
                <a:moveTo>
                  <a:pt x="9778" y="0"/>
                </a:moveTo>
                <a:lnTo>
                  <a:pt x="9829" y="0"/>
                </a:lnTo>
                <a:lnTo>
                  <a:pt x="9829" y="26"/>
                </a:lnTo>
                <a:lnTo>
                  <a:pt x="9778" y="26"/>
                </a:lnTo>
                <a:lnTo>
                  <a:pt x="9778" y="0"/>
                </a:lnTo>
                <a:moveTo>
                  <a:pt x="9880" y="0"/>
                </a:moveTo>
                <a:lnTo>
                  <a:pt x="9931" y="0"/>
                </a:lnTo>
                <a:lnTo>
                  <a:pt x="9931" y="26"/>
                </a:lnTo>
                <a:lnTo>
                  <a:pt x="9880" y="26"/>
                </a:lnTo>
                <a:lnTo>
                  <a:pt x="9880" y="0"/>
                </a:lnTo>
                <a:moveTo>
                  <a:pt x="9982" y="0"/>
                </a:moveTo>
                <a:lnTo>
                  <a:pt x="10033" y="0"/>
                </a:lnTo>
                <a:lnTo>
                  <a:pt x="10033" y="26"/>
                </a:lnTo>
                <a:lnTo>
                  <a:pt x="9982" y="26"/>
                </a:lnTo>
                <a:lnTo>
                  <a:pt x="9982" y="0"/>
                </a:lnTo>
                <a:moveTo>
                  <a:pt x="10084" y="0"/>
                </a:moveTo>
                <a:lnTo>
                  <a:pt x="10135" y="0"/>
                </a:lnTo>
                <a:lnTo>
                  <a:pt x="10135" y="26"/>
                </a:lnTo>
                <a:lnTo>
                  <a:pt x="10084" y="26"/>
                </a:lnTo>
                <a:lnTo>
                  <a:pt x="10084" y="0"/>
                </a:lnTo>
                <a:moveTo>
                  <a:pt x="10186" y="0"/>
                </a:moveTo>
                <a:lnTo>
                  <a:pt x="10237" y="0"/>
                </a:lnTo>
                <a:lnTo>
                  <a:pt x="10237" y="26"/>
                </a:lnTo>
                <a:lnTo>
                  <a:pt x="10186" y="26"/>
                </a:lnTo>
                <a:lnTo>
                  <a:pt x="10186" y="0"/>
                </a:lnTo>
                <a:moveTo>
                  <a:pt x="10287" y="0"/>
                </a:moveTo>
                <a:lnTo>
                  <a:pt x="10338" y="0"/>
                </a:lnTo>
                <a:lnTo>
                  <a:pt x="10338" y="26"/>
                </a:lnTo>
                <a:lnTo>
                  <a:pt x="10287" y="26"/>
                </a:lnTo>
                <a:lnTo>
                  <a:pt x="10287" y="0"/>
                </a:lnTo>
                <a:moveTo>
                  <a:pt x="10389" y="0"/>
                </a:moveTo>
                <a:lnTo>
                  <a:pt x="10440" y="0"/>
                </a:lnTo>
                <a:lnTo>
                  <a:pt x="10440" y="26"/>
                </a:lnTo>
                <a:lnTo>
                  <a:pt x="10389" y="26"/>
                </a:lnTo>
                <a:lnTo>
                  <a:pt x="10389" y="0"/>
                </a:lnTo>
                <a:moveTo>
                  <a:pt x="10491" y="0"/>
                </a:moveTo>
                <a:lnTo>
                  <a:pt x="10542" y="0"/>
                </a:lnTo>
                <a:lnTo>
                  <a:pt x="10542" y="26"/>
                </a:lnTo>
                <a:lnTo>
                  <a:pt x="10491" y="26"/>
                </a:lnTo>
                <a:lnTo>
                  <a:pt x="10491" y="0"/>
                </a:lnTo>
                <a:moveTo>
                  <a:pt x="10593" y="0"/>
                </a:moveTo>
                <a:lnTo>
                  <a:pt x="10644" y="0"/>
                </a:lnTo>
                <a:lnTo>
                  <a:pt x="10644" y="26"/>
                </a:lnTo>
                <a:lnTo>
                  <a:pt x="10593" y="26"/>
                </a:lnTo>
                <a:lnTo>
                  <a:pt x="10593" y="0"/>
                </a:lnTo>
                <a:moveTo>
                  <a:pt x="10695" y="0"/>
                </a:moveTo>
                <a:lnTo>
                  <a:pt x="10746" y="0"/>
                </a:lnTo>
                <a:lnTo>
                  <a:pt x="10746" y="26"/>
                </a:lnTo>
                <a:lnTo>
                  <a:pt x="10695" y="26"/>
                </a:lnTo>
                <a:lnTo>
                  <a:pt x="1069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054080" y="3058920"/>
            <a:ext cx="275292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2. POST Bundle (ServiceRequest + Task + supporting info)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4923360" y="376956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3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4960080" y="3806280"/>
            <a:ext cx="2353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145880" y="3349440"/>
            <a:ext cx="5904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201 Created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7212600" y="406008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0" y="0"/>
                </a:moveTo>
                <a:lnTo>
                  <a:pt x="256" y="102"/>
                </a:lnTo>
                <a:lnTo>
                  <a:pt x="0" y="205"/>
                </a:lnTo>
                <a:lnTo>
                  <a:pt x="102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4914360" y="4092480"/>
            <a:ext cx="2353680" cy="9360"/>
          </a:xfrm>
          <a:custGeom>
            <a:avLst/>
            <a:gdLst/>
            <a:ahLst/>
            <a:rect l="0" t="0" r="r" b="b"/>
            <a:pathLst>
              <a:path w="6538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6" y="0"/>
                </a:lnTo>
                <a:lnTo>
                  <a:pt x="356" y="26"/>
                </a:lnTo>
                <a:lnTo>
                  <a:pt x="306" y="26"/>
                </a:lnTo>
                <a:lnTo>
                  <a:pt x="306" y="0"/>
                </a:lnTo>
                <a:moveTo>
                  <a:pt x="407" y="0"/>
                </a:moveTo>
                <a:lnTo>
                  <a:pt x="458" y="0"/>
                </a:lnTo>
                <a:lnTo>
                  <a:pt x="458" y="26"/>
                </a:lnTo>
                <a:lnTo>
                  <a:pt x="407" y="26"/>
                </a:lnTo>
                <a:lnTo>
                  <a:pt x="407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8" y="0"/>
                </a:moveTo>
                <a:lnTo>
                  <a:pt x="1069" y="0"/>
                </a:lnTo>
                <a:lnTo>
                  <a:pt x="1069" y="26"/>
                </a:lnTo>
                <a:lnTo>
                  <a:pt x="1018" y="26"/>
                </a:lnTo>
                <a:lnTo>
                  <a:pt x="1018" y="0"/>
                </a:lnTo>
                <a:moveTo>
                  <a:pt x="1120" y="0"/>
                </a:moveTo>
                <a:lnTo>
                  <a:pt x="1171" y="0"/>
                </a:lnTo>
                <a:lnTo>
                  <a:pt x="1171" y="26"/>
                </a:lnTo>
                <a:lnTo>
                  <a:pt x="1120" y="26"/>
                </a:lnTo>
                <a:lnTo>
                  <a:pt x="1120" y="0"/>
                </a:lnTo>
                <a:moveTo>
                  <a:pt x="1222" y="0"/>
                </a:moveTo>
                <a:lnTo>
                  <a:pt x="1273" y="0"/>
                </a:lnTo>
                <a:lnTo>
                  <a:pt x="1273" y="26"/>
                </a:lnTo>
                <a:lnTo>
                  <a:pt x="1222" y="26"/>
                </a:lnTo>
                <a:lnTo>
                  <a:pt x="1222" y="0"/>
                </a:lnTo>
                <a:moveTo>
                  <a:pt x="1324" y="0"/>
                </a:moveTo>
                <a:lnTo>
                  <a:pt x="1375" y="0"/>
                </a:lnTo>
                <a:lnTo>
                  <a:pt x="1375" y="26"/>
                </a:lnTo>
                <a:lnTo>
                  <a:pt x="1324" y="26"/>
                </a:lnTo>
                <a:lnTo>
                  <a:pt x="1324" y="0"/>
                </a:lnTo>
                <a:moveTo>
                  <a:pt x="1426" y="0"/>
                </a:moveTo>
                <a:lnTo>
                  <a:pt x="1477" y="0"/>
                </a:lnTo>
                <a:lnTo>
                  <a:pt x="1477" y="26"/>
                </a:lnTo>
                <a:lnTo>
                  <a:pt x="1426" y="26"/>
                </a:lnTo>
                <a:lnTo>
                  <a:pt x="1426" y="0"/>
                </a:lnTo>
                <a:moveTo>
                  <a:pt x="1528" y="0"/>
                </a:moveTo>
                <a:lnTo>
                  <a:pt x="1579" y="0"/>
                </a:lnTo>
                <a:lnTo>
                  <a:pt x="1579" y="26"/>
                </a:lnTo>
                <a:lnTo>
                  <a:pt x="1528" y="26"/>
                </a:lnTo>
                <a:lnTo>
                  <a:pt x="1528" y="0"/>
                </a:lnTo>
                <a:moveTo>
                  <a:pt x="1630" y="0"/>
                </a:moveTo>
                <a:lnTo>
                  <a:pt x="1680" y="0"/>
                </a:lnTo>
                <a:lnTo>
                  <a:pt x="1680" y="26"/>
                </a:lnTo>
                <a:lnTo>
                  <a:pt x="1630" y="26"/>
                </a:lnTo>
                <a:lnTo>
                  <a:pt x="1630" y="0"/>
                </a:lnTo>
                <a:moveTo>
                  <a:pt x="1731" y="0"/>
                </a:moveTo>
                <a:lnTo>
                  <a:pt x="1782" y="0"/>
                </a:lnTo>
                <a:lnTo>
                  <a:pt x="1782" y="26"/>
                </a:lnTo>
                <a:lnTo>
                  <a:pt x="1731" y="26"/>
                </a:lnTo>
                <a:lnTo>
                  <a:pt x="1731" y="0"/>
                </a:lnTo>
                <a:moveTo>
                  <a:pt x="1833" y="0"/>
                </a:moveTo>
                <a:lnTo>
                  <a:pt x="1884" y="0"/>
                </a:lnTo>
                <a:lnTo>
                  <a:pt x="1884" y="26"/>
                </a:lnTo>
                <a:lnTo>
                  <a:pt x="1833" y="26"/>
                </a:lnTo>
                <a:lnTo>
                  <a:pt x="1833" y="0"/>
                </a:lnTo>
                <a:moveTo>
                  <a:pt x="1935" y="0"/>
                </a:moveTo>
                <a:lnTo>
                  <a:pt x="1986" y="0"/>
                </a:lnTo>
                <a:lnTo>
                  <a:pt x="1986" y="26"/>
                </a:lnTo>
                <a:lnTo>
                  <a:pt x="1935" y="26"/>
                </a:lnTo>
                <a:lnTo>
                  <a:pt x="1935" y="0"/>
                </a:lnTo>
                <a:moveTo>
                  <a:pt x="2037" y="0"/>
                </a:moveTo>
                <a:lnTo>
                  <a:pt x="2088" y="0"/>
                </a:lnTo>
                <a:lnTo>
                  <a:pt x="2088" y="26"/>
                </a:lnTo>
                <a:lnTo>
                  <a:pt x="2037" y="26"/>
                </a:lnTo>
                <a:lnTo>
                  <a:pt x="2037" y="0"/>
                </a:lnTo>
                <a:moveTo>
                  <a:pt x="2139" y="0"/>
                </a:moveTo>
                <a:lnTo>
                  <a:pt x="2190" y="0"/>
                </a:lnTo>
                <a:lnTo>
                  <a:pt x="2190" y="26"/>
                </a:lnTo>
                <a:lnTo>
                  <a:pt x="2139" y="26"/>
                </a:lnTo>
                <a:lnTo>
                  <a:pt x="2139" y="0"/>
                </a:lnTo>
                <a:moveTo>
                  <a:pt x="2241" y="0"/>
                </a:moveTo>
                <a:lnTo>
                  <a:pt x="2291" y="0"/>
                </a:lnTo>
                <a:lnTo>
                  <a:pt x="2291" y="26"/>
                </a:lnTo>
                <a:lnTo>
                  <a:pt x="2241" y="26"/>
                </a:lnTo>
                <a:lnTo>
                  <a:pt x="2241" y="0"/>
                </a:lnTo>
                <a:moveTo>
                  <a:pt x="2342" y="0"/>
                </a:moveTo>
                <a:lnTo>
                  <a:pt x="2393" y="0"/>
                </a:lnTo>
                <a:lnTo>
                  <a:pt x="2393" y="26"/>
                </a:lnTo>
                <a:lnTo>
                  <a:pt x="2342" y="26"/>
                </a:lnTo>
                <a:lnTo>
                  <a:pt x="2342" y="0"/>
                </a:lnTo>
                <a:moveTo>
                  <a:pt x="2444" y="0"/>
                </a:moveTo>
                <a:lnTo>
                  <a:pt x="2495" y="0"/>
                </a:lnTo>
                <a:lnTo>
                  <a:pt x="2495" y="26"/>
                </a:lnTo>
                <a:lnTo>
                  <a:pt x="2444" y="26"/>
                </a:lnTo>
                <a:lnTo>
                  <a:pt x="2444" y="0"/>
                </a:lnTo>
                <a:moveTo>
                  <a:pt x="2546" y="0"/>
                </a:moveTo>
                <a:lnTo>
                  <a:pt x="2597" y="0"/>
                </a:lnTo>
                <a:lnTo>
                  <a:pt x="2597" y="26"/>
                </a:lnTo>
                <a:lnTo>
                  <a:pt x="2546" y="26"/>
                </a:lnTo>
                <a:lnTo>
                  <a:pt x="2546" y="0"/>
                </a:lnTo>
                <a:moveTo>
                  <a:pt x="2648" y="0"/>
                </a:moveTo>
                <a:lnTo>
                  <a:pt x="2700" y="0"/>
                </a:lnTo>
                <a:lnTo>
                  <a:pt x="2700" y="26"/>
                </a:lnTo>
                <a:lnTo>
                  <a:pt x="2648" y="26"/>
                </a:lnTo>
                <a:lnTo>
                  <a:pt x="2648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4" y="0"/>
                </a:moveTo>
                <a:lnTo>
                  <a:pt x="3005" y="0"/>
                </a:lnTo>
                <a:lnTo>
                  <a:pt x="3005" y="26"/>
                </a:lnTo>
                <a:lnTo>
                  <a:pt x="2954" y="26"/>
                </a:lnTo>
                <a:lnTo>
                  <a:pt x="2954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6" y="0"/>
                </a:lnTo>
                <a:lnTo>
                  <a:pt x="3616" y="26"/>
                </a:lnTo>
                <a:lnTo>
                  <a:pt x="3566" y="26"/>
                </a:lnTo>
                <a:lnTo>
                  <a:pt x="3566" y="0"/>
                </a:lnTo>
                <a:moveTo>
                  <a:pt x="3667" y="0"/>
                </a:moveTo>
                <a:lnTo>
                  <a:pt x="3718" y="0"/>
                </a:lnTo>
                <a:lnTo>
                  <a:pt x="3718" y="26"/>
                </a:lnTo>
                <a:lnTo>
                  <a:pt x="3667" y="26"/>
                </a:lnTo>
                <a:lnTo>
                  <a:pt x="3667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8" y="0"/>
                </a:moveTo>
                <a:lnTo>
                  <a:pt x="4329" y="0"/>
                </a:lnTo>
                <a:lnTo>
                  <a:pt x="4329" y="26"/>
                </a:lnTo>
                <a:lnTo>
                  <a:pt x="4278" y="26"/>
                </a:lnTo>
                <a:lnTo>
                  <a:pt x="4278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0" y="0"/>
                </a:lnTo>
                <a:lnTo>
                  <a:pt x="4940" y="26"/>
                </a:lnTo>
                <a:lnTo>
                  <a:pt x="4890" y="26"/>
                </a:lnTo>
                <a:lnTo>
                  <a:pt x="4890" y="0"/>
                </a:lnTo>
                <a:moveTo>
                  <a:pt x="4991" y="0"/>
                </a:moveTo>
                <a:lnTo>
                  <a:pt x="5042" y="0"/>
                </a:lnTo>
                <a:lnTo>
                  <a:pt x="5042" y="26"/>
                </a:lnTo>
                <a:lnTo>
                  <a:pt x="4991" y="26"/>
                </a:lnTo>
                <a:lnTo>
                  <a:pt x="4991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2" y="0"/>
                </a:moveTo>
                <a:lnTo>
                  <a:pt x="5653" y="0"/>
                </a:lnTo>
                <a:lnTo>
                  <a:pt x="5653" y="26"/>
                </a:lnTo>
                <a:lnTo>
                  <a:pt x="5602" y="26"/>
                </a:lnTo>
                <a:lnTo>
                  <a:pt x="5602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4" y="0"/>
                </a:lnTo>
                <a:lnTo>
                  <a:pt x="6264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38" y="0"/>
                </a:lnTo>
                <a:lnTo>
                  <a:pt x="6538" y="26"/>
                </a:lnTo>
                <a:lnTo>
                  <a:pt x="6519" y="26"/>
                </a:lnTo>
                <a:lnTo>
                  <a:pt x="6519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070240" y="3639960"/>
            <a:ext cx="15444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3. poll / subscribe for new Tasks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4923360" y="435060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3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4960080" y="4387320"/>
            <a:ext cx="2353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978800" y="3930480"/>
            <a:ext cx="165888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(requested) + ServiceRequest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070240" y="4221000"/>
            <a:ext cx="19256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accept / reject / on-hold (coded reason)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66720" y="5774400"/>
            <a:ext cx="8106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Search the directory → raise the referral (ServiceRequest + Task) → ﬁller triages.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100332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102852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425376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42796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700488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70300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66720" y="739440"/>
            <a:ext cx="53910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2. Track this request &amp; book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12160" y="1875240"/>
            <a:ext cx="34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937800" y="154692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7"/>
                </a:lnTo>
                <a:moveTo>
                  <a:pt x="0" y="162"/>
                </a:moveTo>
                <a:lnTo>
                  <a:pt x="526" y="162"/>
                </a:lnTo>
                <a:moveTo>
                  <a:pt x="262" y="547"/>
                </a:moveTo>
                <a:lnTo>
                  <a:pt x="0" y="850"/>
                </a:lnTo>
                <a:moveTo>
                  <a:pt x="262" y="547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833400" y="2014200"/>
            <a:ext cx="316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812160" y="4748040"/>
            <a:ext cx="34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937800" y="513360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5"/>
                </a:lnTo>
                <a:moveTo>
                  <a:pt x="0" y="161"/>
                </a:moveTo>
                <a:lnTo>
                  <a:pt x="526" y="161"/>
                </a:lnTo>
                <a:moveTo>
                  <a:pt x="262" y="545"/>
                </a:moveTo>
                <a:lnTo>
                  <a:pt x="0" y="850"/>
                </a:lnTo>
                <a:moveTo>
                  <a:pt x="262" y="545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833400" y="4887000"/>
            <a:ext cx="316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092480" y="1817280"/>
            <a:ext cx="354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Refe rral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4129560" y="1955880"/>
            <a:ext cx="2887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092480" y="4799160"/>
            <a:ext cx="354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Refe rral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129560" y="4937760"/>
            <a:ext cx="2887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617520" y="1817280"/>
            <a:ext cx="704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6887880" y="195588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6617520" y="4799160"/>
            <a:ext cx="704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fill="none"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fill="none"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887880" y="493776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218960" y="2297520"/>
            <a:ext cx="24026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Track</a:t>
            </a:r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this referral's Task</a:t>
            </a:r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— Task?focus=ServiceRequest/{id} —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218960" y="2426400"/>
            <a:ext cx="22042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to know whether</a:t>
            </a:r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this speciﬁc request</a:t>
            </a:r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has been acted on,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218960" y="2555280"/>
            <a:ext cx="2234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not generic Slot availability. The ﬁller publishes availability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4195440" y="301752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1032120" y="304668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218960" y="2683800"/>
            <a:ext cx="57996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independently.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fill="none"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</a:path>
            </a:pathLst>
          </a:custGeom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3240" y="2914560"/>
            <a:ext cx="21067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 (poll or subscribe)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848520" y="3174120"/>
            <a:ext cx="1454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a l t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1039680" y="3442680"/>
            <a:ext cx="73080" cy="58320"/>
          </a:xfrm>
          <a:custGeom>
            <a:avLst/>
            <a:gdLst/>
            <a:ahLst/>
            <a:rect l="0" t="0" r="r" b="b"/>
            <a:pathLst>
              <a:path w="203" h="162">
                <a:moveTo>
                  <a:pt x="203" y="0"/>
                </a:moveTo>
                <a:lnTo>
                  <a:pt x="0" y="81"/>
                </a:lnTo>
                <a:lnTo>
                  <a:pt x="203" y="162"/>
                </a:lnTo>
                <a:lnTo>
                  <a:pt x="122" y="81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068480" y="3467880"/>
            <a:ext cx="3207240" cy="7920"/>
          </a:xfrm>
          <a:custGeom>
            <a:avLst/>
            <a:gdLst/>
            <a:ahLst/>
            <a:rect l="0" t="0" r="r" b="b"/>
            <a:pathLst>
              <a:path w="8909" h="22">
                <a:moveTo>
                  <a:pt x="0" y="0"/>
                </a:moveTo>
                <a:lnTo>
                  <a:pt x="41" y="0"/>
                </a:lnTo>
                <a:lnTo>
                  <a:pt x="41" y="22"/>
                </a:lnTo>
                <a:lnTo>
                  <a:pt x="0" y="22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2"/>
                </a:lnTo>
                <a:lnTo>
                  <a:pt x="81" y="22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2"/>
                </a:lnTo>
                <a:lnTo>
                  <a:pt x="162" y="22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2"/>
                </a:lnTo>
                <a:lnTo>
                  <a:pt x="243" y="22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2"/>
                </a:lnTo>
                <a:lnTo>
                  <a:pt x="324" y="22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2"/>
                </a:lnTo>
                <a:lnTo>
                  <a:pt x="404" y="22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2"/>
                </a:lnTo>
                <a:lnTo>
                  <a:pt x="485" y="22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2"/>
                </a:lnTo>
                <a:lnTo>
                  <a:pt x="566" y="22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2"/>
                </a:lnTo>
                <a:lnTo>
                  <a:pt x="647" y="22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2"/>
                </a:lnTo>
                <a:lnTo>
                  <a:pt x="728" y="22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2"/>
                </a:lnTo>
                <a:lnTo>
                  <a:pt x="809" y="22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2"/>
                </a:lnTo>
                <a:lnTo>
                  <a:pt x="889" y="22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2"/>
                </a:lnTo>
                <a:lnTo>
                  <a:pt x="970" y="22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2"/>
                </a:lnTo>
                <a:lnTo>
                  <a:pt x="1051" y="22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2"/>
                </a:lnTo>
                <a:lnTo>
                  <a:pt x="1132" y="22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2"/>
                </a:lnTo>
                <a:lnTo>
                  <a:pt x="1213" y="22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2"/>
                </a:lnTo>
                <a:lnTo>
                  <a:pt x="1293" y="22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2"/>
                </a:lnTo>
                <a:lnTo>
                  <a:pt x="1374" y="22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2"/>
                </a:lnTo>
                <a:lnTo>
                  <a:pt x="1455" y="22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2"/>
                </a:lnTo>
                <a:lnTo>
                  <a:pt x="1537" y="22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2"/>
                </a:lnTo>
                <a:lnTo>
                  <a:pt x="1618" y="22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2"/>
                </a:lnTo>
                <a:lnTo>
                  <a:pt x="1699" y="22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2"/>
                </a:lnTo>
                <a:lnTo>
                  <a:pt x="1779" y="22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2"/>
                </a:lnTo>
                <a:lnTo>
                  <a:pt x="1860" y="22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2"/>
                </a:lnTo>
                <a:lnTo>
                  <a:pt x="1941" y="22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2"/>
                </a:lnTo>
                <a:lnTo>
                  <a:pt x="2022" y="22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2"/>
                </a:lnTo>
                <a:lnTo>
                  <a:pt x="2103" y="22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2"/>
                </a:lnTo>
                <a:lnTo>
                  <a:pt x="2183" y="22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2"/>
                </a:lnTo>
                <a:lnTo>
                  <a:pt x="2264" y="22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2"/>
                </a:lnTo>
                <a:lnTo>
                  <a:pt x="2345" y="22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2"/>
                </a:lnTo>
                <a:lnTo>
                  <a:pt x="2426" y="22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2"/>
                </a:lnTo>
                <a:lnTo>
                  <a:pt x="2507" y="22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2"/>
                </a:lnTo>
                <a:lnTo>
                  <a:pt x="2587" y="22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2"/>
                </a:lnTo>
                <a:lnTo>
                  <a:pt x="2668" y="22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2"/>
                </a:lnTo>
                <a:lnTo>
                  <a:pt x="2749" y="22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2"/>
                </a:lnTo>
                <a:lnTo>
                  <a:pt x="2830" y="22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2"/>
                </a:lnTo>
                <a:lnTo>
                  <a:pt x="2911" y="22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2"/>
                </a:lnTo>
                <a:lnTo>
                  <a:pt x="2992" y="22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2"/>
                </a:lnTo>
                <a:lnTo>
                  <a:pt x="3072" y="22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2"/>
                </a:lnTo>
                <a:lnTo>
                  <a:pt x="3153" y="22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2"/>
                </a:lnTo>
                <a:lnTo>
                  <a:pt x="3234" y="22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2"/>
                </a:lnTo>
                <a:lnTo>
                  <a:pt x="3315" y="22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2"/>
                </a:lnTo>
                <a:lnTo>
                  <a:pt x="3396" y="22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2"/>
                </a:lnTo>
                <a:lnTo>
                  <a:pt x="3476" y="22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2"/>
                </a:lnTo>
                <a:lnTo>
                  <a:pt x="3557" y="22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2"/>
                </a:lnTo>
                <a:lnTo>
                  <a:pt x="3638" y="22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2"/>
                </a:lnTo>
                <a:lnTo>
                  <a:pt x="3719" y="22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2"/>
                </a:lnTo>
                <a:lnTo>
                  <a:pt x="3800" y="22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2"/>
                </a:lnTo>
                <a:lnTo>
                  <a:pt x="3880" y="22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2"/>
                </a:lnTo>
                <a:lnTo>
                  <a:pt x="3961" y="22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2"/>
                </a:lnTo>
                <a:lnTo>
                  <a:pt x="4042" y="22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2"/>
                </a:lnTo>
                <a:lnTo>
                  <a:pt x="4123" y="22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2"/>
                </a:lnTo>
                <a:lnTo>
                  <a:pt x="4204" y="22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2"/>
                </a:lnTo>
                <a:lnTo>
                  <a:pt x="4285" y="22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2"/>
                </a:lnTo>
                <a:lnTo>
                  <a:pt x="4365" y="22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2"/>
                </a:lnTo>
                <a:lnTo>
                  <a:pt x="4446" y="22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2"/>
                </a:lnTo>
                <a:lnTo>
                  <a:pt x="4527" y="22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2"/>
                </a:lnTo>
                <a:lnTo>
                  <a:pt x="4608" y="22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2"/>
                </a:lnTo>
                <a:lnTo>
                  <a:pt x="4689" y="22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2"/>
                </a:lnTo>
                <a:lnTo>
                  <a:pt x="4769" y="22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2"/>
                </a:lnTo>
                <a:lnTo>
                  <a:pt x="4850" y="22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2"/>
                </a:lnTo>
                <a:lnTo>
                  <a:pt x="4931" y="22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2"/>
                </a:lnTo>
                <a:lnTo>
                  <a:pt x="5012" y="22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2"/>
                </a:lnTo>
                <a:lnTo>
                  <a:pt x="5093" y="22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2"/>
                </a:lnTo>
                <a:lnTo>
                  <a:pt x="5174" y="22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2"/>
                </a:lnTo>
                <a:lnTo>
                  <a:pt x="5254" y="22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2"/>
                </a:lnTo>
                <a:lnTo>
                  <a:pt x="5335" y="22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2"/>
                </a:lnTo>
                <a:lnTo>
                  <a:pt x="5416" y="22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2"/>
                </a:lnTo>
                <a:lnTo>
                  <a:pt x="5497" y="22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2"/>
                </a:lnTo>
                <a:lnTo>
                  <a:pt x="5578" y="22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2"/>
                </a:lnTo>
                <a:lnTo>
                  <a:pt x="5658" y="22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2"/>
                </a:lnTo>
                <a:lnTo>
                  <a:pt x="5739" y="22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2"/>
                </a:lnTo>
                <a:lnTo>
                  <a:pt x="5820" y="22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2"/>
                </a:lnTo>
                <a:lnTo>
                  <a:pt x="5901" y="22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2"/>
                </a:lnTo>
                <a:lnTo>
                  <a:pt x="5982" y="22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2"/>
                </a:lnTo>
                <a:lnTo>
                  <a:pt x="6062" y="22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2"/>
                </a:lnTo>
                <a:lnTo>
                  <a:pt x="6143" y="22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2"/>
                </a:lnTo>
                <a:lnTo>
                  <a:pt x="6224" y="22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2"/>
                </a:lnTo>
                <a:lnTo>
                  <a:pt x="6305" y="22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2"/>
                </a:lnTo>
                <a:lnTo>
                  <a:pt x="6386" y="22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2"/>
                </a:lnTo>
                <a:lnTo>
                  <a:pt x="6467" y="22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2"/>
                </a:lnTo>
                <a:lnTo>
                  <a:pt x="6547" y="22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2"/>
                </a:lnTo>
                <a:lnTo>
                  <a:pt x="6628" y="22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2"/>
                </a:lnTo>
                <a:lnTo>
                  <a:pt x="6709" y="22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2"/>
                </a:lnTo>
                <a:lnTo>
                  <a:pt x="6790" y="22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2"/>
                </a:lnTo>
                <a:lnTo>
                  <a:pt x="6871" y="22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2"/>
                </a:lnTo>
                <a:lnTo>
                  <a:pt x="6951" y="22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2"/>
                </a:lnTo>
                <a:lnTo>
                  <a:pt x="7032" y="22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2"/>
                </a:lnTo>
                <a:lnTo>
                  <a:pt x="7113" y="22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2"/>
                </a:lnTo>
                <a:lnTo>
                  <a:pt x="7194" y="22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2"/>
                </a:lnTo>
                <a:lnTo>
                  <a:pt x="7275" y="22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2"/>
                </a:lnTo>
                <a:lnTo>
                  <a:pt x="7356" y="22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2"/>
                </a:lnTo>
                <a:lnTo>
                  <a:pt x="7436" y="22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2"/>
                </a:lnTo>
                <a:lnTo>
                  <a:pt x="7517" y="22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2"/>
                </a:lnTo>
                <a:lnTo>
                  <a:pt x="7598" y="22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2"/>
                </a:lnTo>
                <a:lnTo>
                  <a:pt x="7679" y="22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2"/>
                </a:lnTo>
                <a:lnTo>
                  <a:pt x="7760" y="22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2"/>
                </a:lnTo>
                <a:lnTo>
                  <a:pt x="7840" y="22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2"/>
                </a:lnTo>
                <a:lnTo>
                  <a:pt x="7921" y="22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2"/>
                </a:lnTo>
                <a:lnTo>
                  <a:pt x="8002" y="22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2"/>
                </a:lnTo>
                <a:lnTo>
                  <a:pt x="8083" y="22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2"/>
                </a:lnTo>
                <a:lnTo>
                  <a:pt x="8164" y="22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2"/>
                </a:lnTo>
                <a:lnTo>
                  <a:pt x="8244" y="22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2"/>
                </a:lnTo>
                <a:lnTo>
                  <a:pt x="8325" y="22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2"/>
                </a:lnTo>
                <a:lnTo>
                  <a:pt x="8406" y="22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2"/>
                </a:lnTo>
                <a:lnTo>
                  <a:pt x="8487" y="22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2"/>
                </a:lnTo>
                <a:lnTo>
                  <a:pt x="8568" y="22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2"/>
                </a:lnTo>
                <a:lnTo>
                  <a:pt x="8649" y="22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2"/>
                </a:lnTo>
                <a:lnTo>
                  <a:pt x="8729" y="22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2"/>
                </a:lnTo>
                <a:lnTo>
                  <a:pt x="8810" y="22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2"/>
                </a:lnTo>
                <a:lnTo>
                  <a:pt x="8891" y="22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302840" y="3179880"/>
            <a:ext cx="158256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[Task accepted / scheduled — request acted on]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4195440" y="3673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1032120" y="370224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155960" y="3339360"/>
            <a:ext cx="11268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+ linked Slots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4290120" y="390384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4318920" y="3933000"/>
            <a:ext cx="270756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83240" y="3570120"/>
            <a:ext cx="26708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search Slot / POST Appointment (proposed, basedOn ServiceRequest)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739440" y="3994920"/>
            <a:ext cx="6822720" cy="7560"/>
          </a:xfrm>
          <a:custGeom>
            <a:avLst/>
            <a:gdLst/>
            <a:ahLst/>
            <a:rect l="0" t="0" r="r" b="b"/>
            <a:pathLst>
              <a:path w="18952" h="21">
                <a:moveTo>
                  <a:pt x="0" y="0"/>
                </a:moveTo>
                <a:lnTo>
                  <a:pt x="40" y="0"/>
                </a:lnTo>
                <a:lnTo>
                  <a:pt x="40" y="21"/>
                </a:lnTo>
                <a:lnTo>
                  <a:pt x="0" y="21"/>
                </a:lnTo>
                <a:lnTo>
                  <a:pt x="0" y="0"/>
                </a:lnTo>
                <a:moveTo>
                  <a:pt x="80" y="0"/>
                </a:moveTo>
                <a:lnTo>
                  <a:pt x="121" y="0"/>
                </a:lnTo>
                <a:lnTo>
                  <a:pt x="121" y="21"/>
                </a:lnTo>
                <a:lnTo>
                  <a:pt x="80" y="21"/>
                </a:lnTo>
                <a:lnTo>
                  <a:pt x="80" y="0"/>
                </a:lnTo>
                <a:moveTo>
                  <a:pt x="161" y="0"/>
                </a:moveTo>
                <a:lnTo>
                  <a:pt x="202" y="0"/>
                </a:lnTo>
                <a:lnTo>
                  <a:pt x="202" y="21"/>
                </a:lnTo>
                <a:lnTo>
                  <a:pt x="161" y="21"/>
                </a:lnTo>
                <a:lnTo>
                  <a:pt x="161" y="0"/>
                </a:lnTo>
                <a:moveTo>
                  <a:pt x="242" y="0"/>
                </a:moveTo>
                <a:lnTo>
                  <a:pt x="282" y="0"/>
                </a:lnTo>
                <a:lnTo>
                  <a:pt x="282" y="21"/>
                </a:lnTo>
                <a:lnTo>
                  <a:pt x="242" y="21"/>
                </a:lnTo>
                <a:lnTo>
                  <a:pt x="242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21"/>
                </a:lnTo>
                <a:lnTo>
                  <a:pt x="323" y="21"/>
                </a:lnTo>
                <a:lnTo>
                  <a:pt x="323" y="0"/>
                </a:lnTo>
                <a:moveTo>
                  <a:pt x="404" y="0"/>
                </a:moveTo>
                <a:lnTo>
                  <a:pt x="444" y="0"/>
                </a:lnTo>
                <a:lnTo>
                  <a:pt x="444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5" y="0"/>
                </a:lnTo>
                <a:lnTo>
                  <a:pt x="525" y="21"/>
                </a:lnTo>
                <a:lnTo>
                  <a:pt x="485" y="21"/>
                </a:lnTo>
                <a:lnTo>
                  <a:pt x="485" y="0"/>
                </a:lnTo>
                <a:moveTo>
                  <a:pt x="565" y="0"/>
                </a:moveTo>
                <a:lnTo>
                  <a:pt x="606" y="0"/>
                </a:lnTo>
                <a:lnTo>
                  <a:pt x="606" y="21"/>
                </a:lnTo>
                <a:lnTo>
                  <a:pt x="565" y="21"/>
                </a:lnTo>
                <a:lnTo>
                  <a:pt x="565" y="0"/>
                </a:lnTo>
                <a:moveTo>
                  <a:pt x="646" y="0"/>
                </a:moveTo>
                <a:lnTo>
                  <a:pt x="687" y="0"/>
                </a:lnTo>
                <a:lnTo>
                  <a:pt x="687" y="21"/>
                </a:lnTo>
                <a:lnTo>
                  <a:pt x="646" y="21"/>
                </a:lnTo>
                <a:lnTo>
                  <a:pt x="646" y="0"/>
                </a:lnTo>
                <a:moveTo>
                  <a:pt x="727" y="0"/>
                </a:moveTo>
                <a:lnTo>
                  <a:pt x="767" y="0"/>
                </a:lnTo>
                <a:lnTo>
                  <a:pt x="767" y="21"/>
                </a:lnTo>
                <a:lnTo>
                  <a:pt x="727" y="21"/>
                </a:lnTo>
                <a:lnTo>
                  <a:pt x="727" y="0"/>
                </a:lnTo>
                <a:moveTo>
                  <a:pt x="808" y="0"/>
                </a:moveTo>
                <a:lnTo>
                  <a:pt x="848" y="0"/>
                </a:lnTo>
                <a:lnTo>
                  <a:pt x="848" y="21"/>
                </a:lnTo>
                <a:lnTo>
                  <a:pt x="808" y="21"/>
                </a:lnTo>
                <a:lnTo>
                  <a:pt x="808" y="0"/>
                </a:lnTo>
                <a:moveTo>
                  <a:pt x="889" y="0"/>
                </a:moveTo>
                <a:lnTo>
                  <a:pt x="929" y="0"/>
                </a:lnTo>
                <a:lnTo>
                  <a:pt x="929" y="21"/>
                </a:lnTo>
                <a:lnTo>
                  <a:pt x="889" y="21"/>
                </a:lnTo>
                <a:lnTo>
                  <a:pt x="889" y="0"/>
                </a:lnTo>
                <a:moveTo>
                  <a:pt x="969" y="0"/>
                </a:moveTo>
                <a:lnTo>
                  <a:pt x="1010" y="0"/>
                </a:lnTo>
                <a:lnTo>
                  <a:pt x="1010" y="21"/>
                </a:lnTo>
                <a:lnTo>
                  <a:pt x="969" y="21"/>
                </a:lnTo>
                <a:lnTo>
                  <a:pt x="969" y="0"/>
                </a:lnTo>
                <a:moveTo>
                  <a:pt x="1050" y="0"/>
                </a:moveTo>
                <a:lnTo>
                  <a:pt x="1091" y="0"/>
                </a:lnTo>
                <a:lnTo>
                  <a:pt x="1091" y="21"/>
                </a:lnTo>
                <a:lnTo>
                  <a:pt x="1050" y="21"/>
                </a:lnTo>
                <a:lnTo>
                  <a:pt x="1050" y="0"/>
                </a:lnTo>
                <a:moveTo>
                  <a:pt x="1131" y="0"/>
                </a:moveTo>
                <a:lnTo>
                  <a:pt x="1171" y="0"/>
                </a:lnTo>
                <a:lnTo>
                  <a:pt x="1171" y="21"/>
                </a:lnTo>
                <a:lnTo>
                  <a:pt x="1131" y="21"/>
                </a:lnTo>
                <a:lnTo>
                  <a:pt x="1131" y="0"/>
                </a:lnTo>
                <a:moveTo>
                  <a:pt x="1212" y="0"/>
                </a:moveTo>
                <a:lnTo>
                  <a:pt x="1252" y="0"/>
                </a:lnTo>
                <a:lnTo>
                  <a:pt x="1252" y="21"/>
                </a:lnTo>
                <a:lnTo>
                  <a:pt x="1212" y="21"/>
                </a:lnTo>
                <a:lnTo>
                  <a:pt x="1212" y="0"/>
                </a:lnTo>
                <a:moveTo>
                  <a:pt x="1293" y="0"/>
                </a:moveTo>
                <a:lnTo>
                  <a:pt x="1333" y="0"/>
                </a:lnTo>
                <a:lnTo>
                  <a:pt x="1333" y="21"/>
                </a:lnTo>
                <a:lnTo>
                  <a:pt x="1293" y="21"/>
                </a:lnTo>
                <a:lnTo>
                  <a:pt x="1293" y="0"/>
                </a:lnTo>
                <a:moveTo>
                  <a:pt x="1373" y="0"/>
                </a:moveTo>
                <a:lnTo>
                  <a:pt x="1414" y="0"/>
                </a:lnTo>
                <a:lnTo>
                  <a:pt x="1414" y="21"/>
                </a:lnTo>
                <a:lnTo>
                  <a:pt x="1373" y="21"/>
                </a:lnTo>
                <a:lnTo>
                  <a:pt x="1373" y="0"/>
                </a:lnTo>
                <a:moveTo>
                  <a:pt x="1454" y="0"/>
                </a:moveTo>
                <a:lnTo>
                  <a:pt x="1495" y="0"/>
                </a:lnTo>
                <a:lnTo>
                  <a:pt x="1495" y="21"/>
                </a:lnTo>
                <a:lnTo>
                  <a:pt x="1454" y="21"/>
                </a:lnTo>
                <a:lnTo>
                  <a:pt x="1454" y="0"/>
                </a:lnTo>
                <a:moveTo>
                  <a:pt x="1535" y="0"/>
                </a:moveTo>
                <a:lnTo>
                  <a:pt x="1575" y="0"/>
                </a:lnTo>
                <a:lnTo>
                  <a:pt x="1575" y="21"/>
                </a:lnTo>
                <a:lnTo>
                  <a:pt x="1535" y="21"/>
                </a:lnTo>
                <a:lnTo>
                  <a:pt x="1535" y="0"/>
                </a:lnTo>
                <a:moveTo>
                  <a:pt x="1616" y="0"/>
                </a:moveTo>
                <a:lnTo>
                  <a:pt x="1656" y="0"/>
                </a:lnTo>
                <a:lnTo>
                  <a:pt x="1656" y="21"/>
                </a:lnTo>
                <a:lnTo>
                  <a:pt x="1616" y="21"/>
                </a:lnTo>
                <a:lnTo>
                  <a:pt x="1616" y="0"/>
                </a:lnTo>
                <a:moveTo>
                  <a:pt x="1697" y="0"/>
                </a:moveTo>
                <a:lnTo>
                  <a:pt x="1737" y="0"/>
                </a:lnTo>
                <a:lnTo>
                  <a:pt x="1737" y="21"/>
                </a:lnTo>
                <a:lnTo>
                  <a:pt x="1697" y="21"/>
                </a:lnTo>
                <a:lnTo>
                  <a:pt x="1697" y="0"/>
                </a:lnTo>
                <a:moveTo>
                  <a:pt x="1778" y="0"/>
                </a:moveTo>
                <a:lnTo>
                  <a:pt x="1818" y="0"/>
                </a:lnTo>
                <a:lnTo>
                  <a:pt x="1818" y="21"/>
                </a:lnTo>
                <a:lnTo>
                  <a:pt x="1778" y="21"/>
                </a:lnTo>
                <a:lnTo>
                  <a:pt x="1778" y="0"/>
                </a:lnTo>
                <a:moveTo>
                  <a:pt x="1858" y="0"/>
                </a:moveTo>
                <a:lnTo>
                  <a:pt x="1899" y="0"/>
                </a:lnTo>
                <a:lnTo>
                  <a:pt x="1899" y="21"/>
                </a:lnTo>
                <a:lnTo>
                  <a:pt x="1858" y="21"/>
                </a:lnTo>
                <a:lnTo>
                  <a:pt x="1858" y="0"/>
                </a:lnTo>
                <a:moveTo>
                  <a:pt x="1939" y="0"/>
                </a:moveTo>
                <a:lnTo>
                  <a:pt x="1980" y="0"/>
                </a:lnTo>
                <a:lnTo>
                  <a:pt x="1980" y="21"/>
                </a:lnTo>
                <a:lnTo>
                  <a:pt x="1939" y="21"/>
                </a:lnTo>
                <a:lnTo>
                  <a:pt x="1939" y="0"/>
                </a:lnTo>
                <a:moveTo>
                  <a:pt x="2020" y="0"/>
                </a:moveTo>
                <a:lnTo>
                  <a:pt x="2060" y="0"/>
                </a:lnTo>
                <a:lnTo>
                  <a:pt x="2060" y="21"/>
                </a:lnTo>
                <a:lnTo>
                  <a:pt x="2020" y="21"/>
                </a:lnTo>
                <a:lnTo>
                  <a:pt x="2020" y="0"/>
                </a:lnTo>
                <a:moveTo>
                  <a:pt x="2101" y="0"/>
                </a:moveTo>
                <a:lnTo>
                  <a:pt x="2141" y="0"/>
                </a:lnTo>
                <a:lnTo>
                  <a:pt x="2141" y="21"/>
                </a:lnTo>
                <a:lnTo>
                  <a:pt x="2101" y="21"/>
                </a:lnTo>
                <a:lnTo>
                  <a:pt x="2101" y="0"/>
                </a:lnTo>
                <a:moveTo>
                  <a:pt x="2182" y="0"/>
                </a:moveTo>
                <a:lnTo>
                  <a:pt x="2222" y="0"/>
                </a:lnTo>
                <a:lnTo>
                  <a:pt x="2222" y="21"/>
                </a:lnTo>
                <a:lnTo>
                  <a:pt x="2182" y="21"/>
                </a:lnTo>
                <a:lnTo>
                  <a:pt x="2182" y="0"/>
                </a:lnTo>
                <a:moveTo>
                  <a:pt x="2262" y="0"/>
                </a:moveTo>
                <a:lnTo>
                  <a:pt x="2303" y="0"/>
                </a:lnTo>
                <a:lnTo>
                  <a:pt x="2303" y="21"/>
                </a:lnTo>
                <a:lnTo>
                  <a:pt x="2262" y="21"/>
                </a:lnTo>
                <a:lnTo>
                  <a:pt x="2262" y="0"/>
                </a:lnTo>
                <a:moveTo>
                  <a:pt x="2343" y="0"/>
                </a:moveTo>
                <a:lnTo>
                  <a:pt x="2384" y="0"/>
                </a:lnTo>
                <a:lnTo>
                  <a:pt x="2384" y="21"/>
                </a:lnTo>
                <a:lnTo>
                  <a:pt x="2343" y="21"/>
                </a:lnTo>
                <a:lnTo>
                  <a:pt x="2343" y="0"/>
                </a:lnTo>
                <a:moveTo>
                  <a:pt x="2424" y="0"/>
                </a:moveTo>
                <a:lnTo>
                  <a:pt x="2464" y="0"/>
                </a:lnTo>
                <a:lnTo>
                  <a:pt x="2464" y="21"/>
                </a:lnTo>
                <a:lnTo>
                  <a:pt x="2424" y="21"/>
                </a:lnTo>
                <a:lnTo>
                  <a:pt x="2424" y="0"/>
                </a:lnTo>
                <a:moveTo>
                  <a:pt x="2505" y="0"/>
                </a:moveTo>
                <a:lnTo>
                  <a:pt x="2545" y="0"/>
                </a:lnTo>
                <a:lnTo>
                  <a:pt x="2545" y="21"/>
                </a:lnTo>
                <a:lnTo>
                  <a:pt x="2505" y="21"/>
                </a:lnTo>
                <a:lnTo>
                  <a:pt x="2505" y="0"/>
                </a:lnTo>
                <a:moveTo>
                  <a:pt x="2586" y="0"/>
                </a:moveTo>
                <a:lnTo>
                  <a:pt x="2626" y="0"/>
                </a:lnTo>
                <a:lnTo>
                  <a:pt x="2626" y="21"/>
                </a:lnTo>
                <a:lnTo>
                  <a:pt x="2586" y="21"/>
                </a:lnTo>
                <a:lnTo>
                  <a:pt x="2586" y="0"/>
                </a:lnTo>
                <a:moveTo>
                  <a:pt x="2666" y="0"/>
                </a:moveTo>
                <a:lnTo>
                  <a:pt x="2707" y="0"/>
                </a:lnTo>
                <a:lnTo>
                  <a:pt x="2707" y="21"/>
                </a:lnTo>
                <a:lnTo>
                  <a:pt x="2666" y="21"/>
                </a:lnTo>
                <a:lnTo>
                  <a:pt x="2666" y="0"/>
                </a:lnTo>
                <a:moveTo>
                  <a:pt x="2747" y="0"/>
                </a:moveTo>
                <a:lnTo>
                  <a:pt x="2788" y="0"/>
                </a:lnTo>
                <a:lnTo>
                  <a:pt x="2788" y="21"/>
                </a:lnTo>
                <a:lnTo>
                  <a:pt x="2747" y="21"/>
                </a:lnTo>
                <a:lnTo>
                  <a:pt x="2747" y="0"/>
                </a:lnTo>
                <a:moveTo>
                  <a:pt x="2828" y="0"/>
                </a:moveTo>
                <a:lnTo>
                  <a:pt x="2869" y="0"/>
                </a:lnTo>
                <a:lnTo>
                  <a:pt x="2869" y="21"/>
                </a:lnTo>
                <a:lnTo>
                  <a:pt x="2828" y="21"/>
                </a:lnTo>
                <a:lnTo>
                  <a:pt x="2828" y="0"/>
                </a:lnTo>
                <a:moveTo>
                  <a:pt x="2909" y="0"/>
                </a:moveTo>
                <a:lnTo>
                  <a:pt x="2949" y="0"/>
                </a:lnTo>
                <a:lnTo>
                  <a:pt x="2949" y="21"/>
                </a:lnTo>
                <a:lnTo>
                  <a:pt x="2909" y="21"/>
                </a:lnTo>
                <a:lnTo>
                  <a:pt x="2909" y="0"/>
                </a:lnTo>
                <a:moveTo>
                  <a:pt x="2990" y="0"/>
                </a:moveTo>
                <a:lnTo>
                  <a:pt x="3030" y="0"/>
                </a:lnTo>
                <a:lnTo>
                  <a:pt x="3030" y="21"/>
                </a:lnTo>
                <a:lnTo>
                  <a:pt x="2990" y="21"/>
                </a:lnTo>
                <a:lnTo>
                  <a:pt x="2990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21"/>
                </a:lnTo>
                <a:lnTo>
                  <a:pt x="3071" y="21"/>
                </a:lnTo>
                <a:lnTo>
                  <a:pt x="3071" y="0"/>
                </a:lnTo>
                <a:moveTo>
                  <a:pt x="3151" y="0"/>
                </a:moveTo>
                <a:lnTo>
                  <a:pt x="3192" y="0"/>
                </a:lnTo>
                <a:lnTo>
                  <a:pt x="3192" y="21"/>
                </a:lnTo>
                <a:lnTo>
                  <a:pt x="3151" y="21"/>
                </a:lnTo>
                <a:lnTo>
                  <a:pt x="3151" y="0"/>
                </a:lnTo>
                <a:moveTo>
                  <a:pt x="3232" y="0"/>
                </a:moveTo>
                <a:lnTo>
                  <a:pt x="3273" y="0"/>
                </a:lnTo>
                <a:lnTo>
                  <a:pt x="3273" y="21"/>
                </a:lnTo>
                <a:lnTo>
                  <a:pt x="3232" y="21"/>
                </a:lnTo>
                <a:lnTo>
                  <a:pt x="3232" y="0"/>
                </a:lnTo>
                <a:moveTo>
                  <a:pt x="3313" y="0"/>
                </a:moveTo>
                <a:lnTo>
                  <a:pt x="3353" y="0"/>
                </a:lnTo>
                <a:lnTo>
                  <a:pt x="3353" y="21"/>
                </a:lnTo>
                <a:lnTo>
                  <a:pt x="3313" y="21"/>
                </a:lnTo>
                <a:lnTo>
                  <a:pt x="3313" y="0"/>
                </a:lnTo>
                <a:moveTo>
                  <a:pt x="3394" y="0"/>
                </a:moveTo>
                <a:lnTo>
                  <a:pt x="3434" y="0"/>
                </a:lnTo>
                <a:lnTo>
                  <a:pt x="3434" y="21"/>
                </a:lnTo>
                <a:lnTo>
                  <a:pt x="3394" y="21"/>
                </a:lnTo>
                <a:lnTo>
                  <a:pt x="3394" y="0"/>
                </a:lnTo>
                <a:moveTo>
                  <a:pt x="3475" y="0"/>
                </a:moveTo>
                <a:lnTo>
                  <a:pt x="3515" y="0"/>
                </a:lnTo>
                <a:lnTo>
                  <a:pt x="3515" y="21"/>
                </a:lnTo>
                <a:lnTo>
                  <a:pt x="3475" y="21"/>
                </a:lnTo>
                <a:lnTo>
                  <a:pt x="3475" y="0"/>
                </a:lnTo>
                <a:moveTo>
                  <a:pt x="3555" y="0"/>
                </a:moveTo>
                <a:lnTo>
                  <a:pt x="3596" y="0"/>
                </a:lnTo>
                <a:lnTo>
                  <a:pt x="3596" y="21"/>
                </a:lnTo>
                <a:lnTo>
                  <a:pt x="3555" y="21"/>
                </a:lnTo>
                <a:lnTo>
                  <a:pt x="3555" y="0"/>
                </a:lnTo>
                <a:moveTo>
                  <a:pt x="3636" y="0"/>
                </a:moveTo>
                <a:lnTo>
                  <a:pt x="3677" y="0"/>
                </a:lnTo>
                <a:lnTo>
                  <a:pt x="3677" y="21"/>
                </a:lnTo>
                <a:lnTo>
                  <a:pt x="3636" y="21"/>
                </a:lnTo>
                <a:lnTo>
                  <a:pt x="3636" y="0"/>
                </a:lnTo>
                <a:moveTo>
                  <a:pt x="3717" y="0"/>
                </a:moveTo>
                <a:lnTo>
                  <a:pt x="3757" y="0"/>
                </a:lnTo>
                <a:lnTo>
                  <a:pt x="3757" y="21"/>
                </a:lnTo>
                <a:lnTo>
                  <a:pt x="3717" y="21"/>
                </a:lnTo>
                <a:lnTo>
                  <a:pt x="3717" y="0"/>
                </a:lnTo>
                <a:moveTo>
                  <a:pt x="3798" y="0"/>
                </a:moveTo>
                <a:lnTo>
                  <a:pt x="3838" y="0"/>
                </a:lnTo>
                <a:lnTo>
                  <a:pt x="3838" y="21"/>
                </a:lnTo>
                <a:lnTo>
                  <a:pt x="3798" y="21"/>
                </a:lnTo>
                <a:lnTo>
                  <a:pt x="3798" y="0"/>
                </a:lnTo>
                <a:moveTo>
                  <a:pt x="3879" y="0"/>
                </a:moveTo>
                <a:lnTo>
                  <a:pt x="3919" y="0"/>
                </a:lnTo>
                <a:lnTo>
                  <a:pt x="3919" y="21"/>
                </a:lnTo>
                <a:lnTo>
                  <a:pt x="3879" y="21"/>
                </a:lnTo>
                <a:lnTo>
                  <a:pt x="3879" y="0"/>
                </a:lnTo>
                <a:moveTo>
                  <a:pt x="3960" y="0"/>
                </a:moveTo>
                <a:lnTo>
                  <a:pt x="4000" y="0"/>
                </a:lnTo>
                <a:lnTo>
                  <a:pt x="4000" y="21"/>
                </a:lnTo>
                <a:lnTo>
                  <a:pt x="3960" y="21"/>
                </a:lnTo>
                <a:lnTo>
                  <a:pt x="3960" y="0"/>
                </a:lnTo>
                <a:moveTo>
                  <a:pt x="4040" y="0"/>
                </a:moveTo>
                <a:lnTo>
                  <a:pt x="4081" y="0"/>
                </a:lnTo>
                <a:lnTo>
                  <a:pt x="4081" y="21"/>
                </a:lnTo>
                <a:lnTo>
                  <a:pt x="4040" y="21"/>
                </a:lnTo>
                <a:lnTo>
                  <a:pt x="4040" y="0"/>
                </a:lnTo>
                <a:moveTo>
                  <a:pt x="4121" y="0"/>
                </a:moveTo>
                <a:lnTo>
                  <a:pt x="4162" y="0"/>
                </a:lnTo>
                <a:lnTo>
                  <a:pt x="4162" y="21"/>
                </a:lnTo>
                <a:lnTo>
                  <a:pt x="4121" y="21"/>
                </a:lnTo>
                <a:lnTo>
                  <a:pt x="4121" y="0"/>
                </a:lnTo>
                <a:moveTo>
                  <a:pt x="4202" y="0"/>
                </a:moveTo>
                <a:lnTo>
                  <a:pt x="4242" y="0"/>
                </a:lnTo>
                <a:lnTo>
                  <a:pt x="4242" y="21"/>
                </a:lnTo>
                <a:lnTo>
                  <a:pt x="4202" y="21"/>
                </a:lnTo>
                <a:lnTo>
                  <a:pt x="4202" y="0"/>
                </a:lnTo>
                <a:moveTo>
                  <a:pt x="4283" y="0"/>
                </a:moveTo>
                <a:lnTo>
                  <a:pt x="4323" y="0"/>
                </a:lnTo>
                <a:lnTo>
                  <a:pt x="4323" y="21"/>
                </a:lnTo>
                <a:lnTo>
                  <a:pt x="4283" y="21"/>
                </a:lnTo>
                <a:lnTo>
                  <a:pt x="4283" y="0"/>
                </a:lnTo>
                <a:moveTo>
                  <a:pt x="4364" y="0"/>
                </a:moveTo>
                <a:lnTo>
                  <a:pt x="4404" y="0"/>
                </a:lnTo>
                <a:lnTo>
                  <a:pt x="4404" y="21"/>
                </a:lnTo>
                <a:lnTo>
                  <a:pt x="4364" y="21"/>
                </a:lnTo>
                <a:lnTo>
                  <a:pt x="4364" y="0"/>
                </a:lnTo>
                <a:moveTo>
                  <a:pt x="4444" y="0"/>
                </a:moveTo>
                <a:lnTo>
                  <a:pt x="4485" y="0"/>
                </a:lnTo>
                <a:lnTo>
                  <a:pt x="4485" y="21"/>
                </a:lnTo>
                <a:lnTo>
                  <a:pt x="4444" y="21"/>
                </a:lnTo>
                <a:lnTo>
                  <a:pt x="4444" y="0"/>
                </a:lnTo>
                <a:moveTo>
                  <a:pt x="4525" y="0"/>
                </a:moveTo>
                <a:lnTo>
                  <a:pt x="4566" y="0"/>
                </a:lnTo>
                <a:lnTo>
                  <a:pt x="4566" y="21"/>
                </a:lnTo>
                <a:lnTo>
                  <a:pt x="4525" y="21"/>
                </a:lnTo>
                <a:lnTo>
                  <a:pt x="4525" y="0"/>
                </a:lnTo>
                <a:moveTo>
                  <a:pt x="4606" y="0"/>
                </a:moveTo>
                <a:lnTo>
                  <a:pt x="4646" y="0"/>
                </a:lnTo>
                <a:lnTo>
                  <a:pt x="4646" y="21"/>
                </a:lnTo>
                <a:lnTo>
                  <a:pt x="4606" y="21"/>
                </a:lnTo>
                <a:lnTo>
                  <a:pt x="4606" y="0"/>
                </a:lnTo>
                <a:moveTo>
                  <a:pt x="4687" y="0"/>
                </a:moveTo>
                <a:lnTo>
                  <a:pt x="4727" y="0"/>
                </a:lnTo>
                <a:lnTo>
                  <a:pt x="4727" y="21"/>
                </a:lnTo>
                <a:lnTo>
                  <a:pt x="4687" y="21"/>
                </a:lnTo>
                <a:lnTo>
                  <a:pt x="4687" y="0"/>
                </a:lnTo>
                <a:moveTo>
                  <a:pt x="4768" y="0"/>
                </a:moveTo>
                <a:lnTo>
                  <a:pt x="4808" y="0"/>
                </a:lnTo>
                <a:lnTo>
                  <a:pt x="4808" y="21"/>
                </a:lnTo>
                <a:lnTo>
                  <a:pt x="4768" y="21"/>
                </a:lnTo>
                <a:lnTo>
                  <a:pt x="4768" y="0"/>
                </a:lnTo>
                <a:moveTo>
                  <a:pt x="4848" y="0"/>
                </a:moveTo>
                <a:lnTo>
                  <a:pt x="4889" y="0"/>
                </a:lnTo>
                <a:lnTo>
                  <a:pt x="4889" y="21"/>
                </a:lnTo>
                <a:lnTo>
                  <a:pt x="4848" y="21"/>
                </a:lnTo>
                <a:lnTo>
                  <a:pt x="4848" y="0"/>
                </a:lnTo>
                <a:moveTo>
                  <a:pt x="4929" y="0"/>
                </a:moveTo>
                <a:lnTo>
                  <a:pt x="4970" y="0"/>
                </a:lnTo>
                <a:lnTo>
                  <a:pt x="4970" y="21"/>
                </a:lnTo>
                <a:lnTo>
                  <a:pt x="4929" y="21"/>
                </a:lnTo>
                <a:lnTo>
                  <a:pt x="4929" y="0"/>
                </a:lnTo>
                <a:moveTo>
                  <a:pt x="5010" y="0"/>
                </a:moveTo>
                <a:lnTo>
                  <a:pt x="5051" y="0"/>
                </a:lnTo>
                <a:lnTo>
                  <a:pt x="5051" y="21"/>
                </a:lnTo>
                <a:lnTo>
                  <a:pt x="5010" y="21"/>
                </a:lnTo>
                <a:lnTo>
                  <a:pt x="5010" y="0"/>
                </a:lnTo>
                <a:moveTo>
                  <a:pt x="5091" y="0"/>
                </a:moveTo>
                <a:lnTo>
                  <a:pt x="5131" y="0"/>
                </a:lnTo>
                <a:lnTo>
                  <a:pt x="5131" y="21"/>
                </a:lnTo>
                <a:lnTo>
                  <a:pt x="5091" y="21"/>
                </a:lnTo>
                <a:lnTo>
                  <a:pt x="5091" y="0"/>
                </a:lnTo>
                <a:moveTo>
                  <a:pt x="5172" y="0"/>
                </a:moveTo>
                <a:lnTo>
                  <a:pt x="5212" y="0"/>
                </a:lnTo>
                <a:lnTo>
                  <a:pt x="5212" y="21"/>
                </a:lnTo>
                <a:lnTo>
                  <a:pt x="5172" y="21"/>
                </a:lnTo>
                <a:lnTo>
                  <a:pt x="5172" y="0"/>
                </a:lnTo>
                <a:moveTo>
                  <a:pt x="5253" y="0"/>
                </a:moveTo>
                <a:lnTo>
                  <a:pt x="5293" y="0"/>
                </a:lnTo>
                <a:lnTo>
                  <a:pt x="5293" y="21"/>
                </a:lnTo>
                <a:lnTo>
                  <a:pt x="5253" y="21"/>
                </a:lnTo>
                <a:lnTo>
                  <a:pt x="5253" y="0"/>
                </a:lnTo>
                <a:moveTo>
                  <a:pt x="5333" y="0"/>
                </a:moveTo>
                <a:lnTo>
                  <a:pt x="5374" y="0"/>
                </a:lnTo>
                <a:lnTo>
                  <a:pt x="5374" y="21"/>
                </a:lnTo>
                <a:lnTo>
                  <a:pt x="5333" y="21"/>
                </a:lnTo>
                <a:lnTo>
                  <a:pt x="5333" y="0"/>
                </a:lnTo>
                <a:moveTo>
                  <a:pt x="5414" y="0"/>
                </a:moveTo>
                <a:lnTo>
                  <a:pt x="5455" y="0"/>
                </a:lnTo>
                <a:lnTo>
                  <a:pt x="5455" y="21"/>
                </a:lnTo>
                <a:lnTo>
                  <a:pt x="5414" y="21"/>
                </a:lnTo>
                <a:lnTo>
                  <a:pt x="5414" y="0"/>
                </a:lnTo>
                <a:moveTo>
                  <a:pt x="5495" y="0"/>
                </a:moveTo>
                <a:lnTo>
                  <a:pt x="5535" y="0"/>
                </a:lnTo>
                <a:lnTo>
                  <a:pt x="5535" y="21"/>
                </a:lnTo>
                <a:lnTo>
                  <a:pt x="5495" y="21"/>
                </a:lnTo>
                <a:lnTo>
                  <a:pt x="5495" y="0"/>
                </a:lnTo>
                <a:moveTo>
                  <a:pt x="5576" y="0"/>
                </a:moveTo>
                <a:lnTo>
                  <a:pt x="5616" y="0"/>
                </a:lnTo>
                <a:lnTo>
                  <a:pt x="5616" y="21"/>
                </a:lnTo>
                <a:lnTo>
                  <a:pt x="5576" y="21"/>
                </a:lnTo>
                <a:lnTo>
                  <a:pt x="5576" y="0"/>
                </a:lnTo>
                <a:moveTo>
                  <a:pt x="5657" y="0"/>
                </a:moveTo>
                <a:lnTo>
                  <a:pt x="5697" y="0"/>
                </a:lnTo>
                <a:lnTo>
                  <a:pt x="5697" y="21"/>
                </a:lnTo>
                <a:lnTo>
                  <a:pt x="5657" y="21"/>
                </a:lnTo>
                <a:lnTo>
                  <a:pt x="5657" y="0"/>
                </a:lnTo>
                <a:moveTo>
                  <a:pt x="5737" y="0"/>
                </a:moveTo>
                <a:lnTo>
                  <a:pt x="5778" y="0"/>
                </a:lnTo>
                <a:lnTo>
                  <a:pt x="5778" y="21"/>
                </a:lnTo>
                <a:lnTo>
                  <a:pt x="5737" y="21"/>
                </a:lnTo>
                <a:lnTo>
                  <a:pt x="5737" y="0"/>
                </a:lnTo>
                <a:moveTo>
                  <a:pt x="5818" y="0"/>
                </a:moveTo>
                <a:lnTo>
                  <a:pt x="5859" y="0"/>
                </a:lnTo>
                <a:lnTo>
                  <a:pt x="5859" y="21"/>
                </a:lnTo>
                <a:lnTo>
                  <a:pt x="5818" y="21"/>
                </a:lnTo>
                <a:lnTo>
                  <a:pt x="5818" y="0"/>
                </a:lnTo>
                <a:moveTo>
                  <a:pt x="5899" y="0"/>
                </a:moveTo>
                <a:lnTo>
                  <a:pt x="5939" y="0"/>
                </a:lnTo>
                <a:lnTo>
                  <a:pt x="5939" y="21"/>
                </a:lnTo>
                <a:lnTo>
                  <a:pt x="5899" y="21"/>
                </a:lnTo>
                <a:lnTo>
                  <a:pt x="5899" y="0"/>
                </a:lnTo>
                <a:moveTo>
                  <a:pt x="5980" y="0"/>
                </a:moveTo>
                <a:lnTo>
                  <a:pt x="6020" y="0"/>
                </a:lnTo>
                <a:lnTo>
                  <a:pt x="6020" y="21"/>
                </a:lnTo>
                <a:lnTo>
                  <a:pt x="5980" y="21"/>
                </a:lnTo>
                <a:lnTo>
                  <a:pt x="5980" y="0"/>
                </a:lnTo>
                <a:moveTo>
                  <a:pt x="6061" y="0"/>
                </a:moveTo>
                <a:lnTo>
                  <a:pt x="6101" y="0"/>
                </a:lnTo>
                <a:lnTo>
                  <a:pt x="6101" y="21"/>
                </a:lnTo>
                <a:lnTo>
                  <a:pt x="6061" y="21"/>
                </a:lnTo>
                <a:lnTo>
                  <a:pt x="6061" y="0"/>
                </a:lnTo>
                <a:moveTo>
                  <a:pt x="6141" y="0"/>
                </a:moveTo>
                <a:lnTo>
                  <a:pt x="6182" y="0"/>
                </a:lnTo>
                <a:lnTo>
                  <a:pt x="6182" y="21"/>
                </a:lnTo>
                <a:lnTo>
                  <a:pt x="6141" y="21"/>
                </a:lnTo>
                <a:lnTo>
                  <a:pt x="6141" y="0"/>
                </a:lnTo>
                <a:moveTo>
                  <a:pt x="6222" y="0"/>
                </a:moveTo>
                <a:lnTo>
                  <a:pt x="6263" y="0"/>
                </a:lnTo>
                <a:lnTo>
                  <a:pt x="6263" y="21"/>
                </a:lnTo>
                <a:lnTo>
                  <a:pt x="6222" y="21"/>
                </a:lnTo>
                <a:lnTo>
                  <a:pt x="6222" y="0"/>
                </a:lnTo>
                <a:moveTo>
                  <a:pt x="6303" y="0"/>
                </a:moveTo>
                <a:lnTo>
                  <a:pt x="6344" y="0"/>
                </a:lnTo>
                <a:lnTo>
                  <a:pt x="6344" y="21"/>
                </a:lnTo>
                <a:lnTo>
                  <a:pt x="6303" y="21"/>
                </a:lnTo>
                <a:lnTo>
                  <a:pt x="6303" y="0"/>
                </a:lnTo>
                <a:moveTo>
                  <a:pt x="6384" y="0"/>
                </a:moveTo>
                <a:lnTo>
                  <a:pt x="6424" y="0"/>
                </a:lnTo>
                <a:lnTo>
                  <a:pt x="6424" y="21"/>
                </a:lnTo>
                <a:lnTo>
                  <a:pt x="6384" y="21"/>
                </a:lnTo>
                <a:lnTo>
                  <a:pt x="6384" y="0"/>
                </a:lnTo>
                <a:moveTo>
                  <a:pt x="6465" y="0"/>
                </a:moveTo>
                <a:lnTo>
                  <a:pt x="6505" y="0"/>
                </a:lnTo>
                <a:lnTo>
                  <a:pt x="6505" y="21"/>
                </a:lnTo>
                <a:lnTo>
                  <a:pt x="6465" y="21"/>
                </a:lnTo>
                <a:lnTo>
                  <a:pt x="6465" y="0"/>
                </a:lnTo>
                <a:moveTo>
                  <a:pt x="6546" y="0"/>
                </a:moveTo>
                <a:lnTo>
                  <a:pt x="6586" y="0"/>
                </a:lnTo>
                <a:lnTo>
                  <a:pt x="6586" y="21"/>
                </a:lnTo>
                <a:lnTo>
                  <a:pt x="6546" y="21"/>
                </a:lnTo>
                <a:lnTo>
                  <a:pt x="6546" y="0"/>
                </a:lnTo>
                <a:moveTo>
                  <a:pt x="6626" y="0"/>
                </a:moveTo>
                <a:lnTo>
                  <a:pt x="6667" y="0"/>
                </a:lnTo>
                <a:lnTo>
                  <a:pt x="6667" y="21"/>
                </a:lnTo>
                <a:lnTo>
                  <a:pt x="6626" y="21"/>
                </a:lnTo>
                <a:lnTo>
                  <a:pt x="6626" y="0"/>
                </a:lnTo>
                <a:moveTo>
                  <a:pt x="6707" y="0"/>
                </a:moveTo>
                <a:lnTo>
                  <a:pt x="6748" y="0"/>
                </a:lnTo>
                <a:lnTo>
                  <a:pt x="6748" y="21"/>
                </a:lnTo>
                <a:lnTo>
                  <a:pt x="6707" y="21"/>
                </a:lnTo>
                <a:lnTo>
                  <a:pt x="6707" y="0"/>
                </a:lnTo>
                <a:moveTo>
                  <a:pt x="6788" y="0"/>
                </a:moveTo>
                <a:lnTo>
                  <a:pt x="6828" y="0"/>
                </a:lnTo>
                <a:lnTo>
                  <a:pt x="6828" y="21"/>
                </a:lnTo>
                <a:lnTo>
                  <a:pt x="6788" y="21"/>
                </a:lnTo>
                <a:lnTo>
                  <a:pt x="6788" y="0"/>
                </a:lnTo>
                <a:moveTo>
                  <a:pt x="6869" y="0"/>
                </a:moveTo>
                <a:lnTo>
                  <a:pt x="6909" y="0"/>
                </a:lnTo>
                <a:lnTo>
                  <a:pt x="6909" y="21"/>
                </a:lnTo>
                <a:lnTo>
                  <a:pt x="6869" y="21"/>
                </a:lnTo>
                <a:lnTo>
                  <a:pt x="6869" y="0"/>
                </a:lnTo>
                <a:moveTo>
                  <a:pt x="6950" y="0"/>
                </a:moveTo>
                <a:lnTo>
                  <a:pt x="6990" y="0"/>
                </a:lnTo>
                <a:lnTo>
                  <a:pt x="6990" y="21"/>
                </a:lnTo>
                <a:lnTo>
                  <a:pt x="6950" y="21"/>
                </a:lnTo>
                <a:lnTo>
                  <a:pt x="6950" y="0"/>
                </a:lnTo>
                <a:moveTo>
                  <a:pt x="7030" y="0"/>
                </a:moveTo>
                <a:lnTo>
                  <a:pt x="7071" y="0"/>
                </a:lnTo>
                <a:lnTo>
                  <a:pt x="7071" y="21"/>
                </a:lnTo>
                <a:lnTo>
                  <a:pt x="7030" y="21"/>
                </a:lnTo>
                <a:lnTo>
                  <a:pt x="7030" y="0"/>
                </a:lnTo>
                <a:moveTo>
                  <a:pt x="7111" y="0"/>
                </a:moveTo>
                <a:lnTo>
                  <a:pt x="7152" y="0"/>
                </a:lnTo>
                <a:lnTo>
                  <a:pt x="7152" y="21"/>
                </a:lnTo>
                <a:lnTo>
                  <a:pt x="7111" y="21"/>
                </a:lnTo>
                <a:lnTo>
                  <a:pt x="7111" y="0"/>
                </a:lnTo>
                <a:moveTo>
                  <a:pt x="7192" y="0"/>
                </a:moveTo>
                <a:lnTo>
                  <a:pt x="7232" y="0"/>
                </a:lnTo>
                <a:lnTo>
                  <a:pt x="7232" y="21"/>
                </a:lnTo>
                <a:lnTo>
                  <a:pt x="7192" y="21"/>
                </a:lnTo>
                <a:lnTo>
                  <a:pt x="7192" y="0"/>
                </a:lnTo>
                <a:moveTo>
                  <a:pt x="7273" y="0"/>
                </a:moveTo>
                <a:lnTo>
                  <a:pt x="7313" y="0"/>
                </a:lnTo>
                <a:lnTo>
                  <a:pt x="7313" y="21"/>
                </a:lnTo>
                <a:lnTo>
                  <a:pt x="7273" y="21"/>
                </a:lnTo>
                <a:lnTo>
                  <a:pt x="7273" y="0"/>
                </a:lnTo>
                <a:moveTo>
                  <a:pt x="7354" y="0"/>
                </a:moveTo>
                <a:lnTo>
                  <a:pt x="7394" y="0"/>
                </a:lnTo>
                <a:lnTo>
                  <a:pt x="7394" y="21"/>
                </a:lnTo>
                <a:lnTo>
                  <a:pt x="7354" y="21"/>
                </a:lnTo>
                <a:lnTo>
                  <a:pt x="7354" y="0"/>
                </a:lnTo>
                <a:moveTo>
                  <a:pt x="7436" y="0"/>
                </a:moveTo>
                <a:lnTo>
                  <a:pt x="7476" y="0"/>
                </a:lnTo>
                <a:lnTo>
                  <a:pt x="7476" y="21"/>
                </a:lnTo>
                <a:lnTo>
                  <a:pt x="7436" y="21"/>
                </a:lnTo>
                <a:lnTo>
                  <a:pt x="7436" y="0"/>
                </a:lnTo>
                <a:moveTo>
                  <a:pt x="7516" y="0"/>
                </a:moveTo>
                <a:lnTo>
                  <a:pt x="7557" y="0"/>
                </a:lnTo>
                <a:lnTo>
                  <a:pt x="7557" y="21"/>
                </a:lnTo>
                <a:lnTo>
                  <a:pt x="7516" y="21"/>
                </a:lnTo>
                <a:lnTo>
                  <a:pt x="7516" y="0"/>
                </a:lnTo>
                <a:moveTo>
                  <a:pt x="7597" y="0"/>
                </a:moveTo>
                <a:lnTo>
                  <a:pt x="7638" y="0"/>
                </a:lnTo>
                <a:lnTo>
                  <a:pt x="7638" y="21"/>
                </a:lnTo>
                <a:lnTo>
                  <a:pt x="7597" y="21"/>
                </a:lnTo>
                <a:lnTo>
                  <a:pt x="7597" y="0"/>
                </a:lnTo>
                <a:moveTo>
                  <a:pt x="7678" y="0"/>
                </a:moveTo>
                <a:lnTo>
                  <a:pt x="7718" y="0"/>
                </a:lnTo>
                <a:lnTo>
                  <a:pt x="7718" y="21"/>
                </a:lnTo>
                <a:lnTo>
                  <a:pt x="7678" y="21"/>
                </a:lnTo>
                <a:lnTo>
                  <a:pt x="7678" y="0"/>
                </a:lnTo>
                <a:moveTo>
                  <a:pt x="7759" y="0"/>
                </a:moveTo>
                <a:lnTo>
                  <a:pt x="7799" y="0"/>
                </a:lnTo>
                <a:lnTo>
                  <a:pt x="7799" y="21"/>
                </a:lnTo>
                <a:lnTo>
                  <a:pt x="7759" y="21"/>
                </a:lnTo>
                <a:lnTo>
                  <a:pt x="7759" y="0"/>
                </a:lnTo>
                <a:moveTo>
                  <a:pt x="7840" y="0"/>
                </a:moveTo>
                <a:lnTo>
                  <a:pt x="7880" y="0"/>
                </a:lnTo>
                <a:lnTo>
                  <a:pt x="7880" y="21"/>
                </a:lnTo>
                <a:lnTo>
                  <a:pt x="7840" y="21"/>
                </a:lnTo>
                <a:lnTo>
                  <a:pt x="7840" y="0"/>
                </a:lnTo>
                <a:moveTo>
                  <a:pt x="7920" y="0"/>
                </a:moveTo>
                <a:lnTo>
                  <a:pt x="7961" y="0"/>
                </a:lnTo>
                <a:lnTo>
                  <a:pt x="7961" y="21"/>
                </a:lnTo>
                <a:lnTo>
                  <a:pt x="7920" y="21"/>
                </a:lnTo>
                <a:lnTo>
                  <a:pt x="7920" y="0"/>
                </a:lnTo>
                <a:moveTo>
                  <a:pt x="8001" y="0"/>
                </a:moveTo>
                <a:lnTo>
                  <a:pt x="8042" y="0"/>
                </a:lnTo>
                <a:lnTo>
                  <a:pt x="8042" y="21"/>
                </a:lnTo>
                <a:lnTo>
                  <a:pt x="8001" y="21"/>
                </a:lnTo>
                <a:lnTo>
                  <a:pt x="8001" y="0"/>
                </a:lnTo>
                <a:moveTo>
                  <a:pt x="8082" y="0"/>
                </a:moveTo>
                <a:lnTo>
                  <a:pt x="8122" y="0"/>
                </a:lnTo>
                <a:lnTo>
                  <a:pt x="8122" y="21"/>
                </a:lnTo>
                <a:lnTo>
                  <a:pt x="8082" y="21"/>
                </a:lnTo>
                <a:lnTo>
                  <a:pt x="8082" y="0"/>
                </a:lnTo>
                <a:moveTo>
                  <a:pt x="8163" y="0"/>
                </a:moveTo>
                <a:lnTo>
                  <a:pt x="8203" y="0"/>
                </a:lnTo>
                <a:lnTo>
                  <a:pt x="8203" y="21"/>
                </a:lnTo>
                <a:lnTo>
                  <a:pt x="8163" y="21"/>
                </a:lnTo>
                <a:lnTo>
                  <a:pt x="8163" y="0"/>
                </a:lnTo>
                <a:moveTo>
                  <a:pt x="8244" y="0"/>
                </a:moveTo>
                <a:lnTo>
                  <a:pt x="8284" y="0"/>
                </a:lnTo>
                <a:lnTo>
                  <a:pt x="8284" y="21"/>
                </a:lnTo>
                <a:lnTo>
                  <a:pt x="8244" y="21"/>
                </a:lnTo>
                <a:lnTo>
                  <a:pt x="8244" y="0"/>
                </a:lnTo>
                <a:moveTo>
                  <a:pt x="8324" y="0"/>
                </a:moveTo>
                <a:lnTo>
                  <a:pt x="8365" y="0"/>
                </a:lnTo>
                <a:lnTo>
                  <a:pt x="8365" y="21"/>
                </a:lnTo>
                <a:lnTo>
                  <a:pt x="8324" y="21"/>
                </a:lnTo>
                <a:lnTo>
                  <a:pt x="8324" y="0"/>
                </a:lnTo>
                <a:moveTo>
                  <a:pt x="8405" y="0"/>
                </a:moveTo>
                <a:lnTo>
                  <a:pt x="8446" y="0"/>
                </a:lnTo>
                <a:lnTo>
                  <a:pt x="8446" y="21"/>
                </a:lnTo>
                <a:lnTo>
                  <a:pt x="8405" y="21"/>
                </a:lnTo>
                <a:lnTo>
                  <a:pt x="8405" y="0"/>
                </a:lnTo>
                <a:moveTo>
                  <a:pt x="8486" y="0"/>
                </a:moveTo>
                <a:lnTo>
                  <a:pt x="8527" y="0"/>
                </a:lnTo>
                <a:lnTo>
                  <a:pt x="8527" y="21"/>
                </a:lnTo>
                <a:lnTo>
                  <a:pt x="8486" y="21"/>
                </a:lnTo>
                <a:lnTo>
                  <a:pt x="8486" y="0"/>
                </a:lnTo>
                <a:moveTo>
                  <a:pt x="8567" y="0"/>
                </a:moveTo>
                <a:lnTo>
                  <a:pt x="8607" y="0"/>
                </a:lnTo>
                <a:lnTo>
                  <a:pt x="8607" y="21"/>
                </a:lnTo>
                <a:lnTo>
                  <a:pt x="8567" y="21"/>
                </a:lnTo>
                <a:lnTo>
                  <a:pt x="8567" y="0"/>
                </a:lnTo>
                <a:moveTo>
                  <a:pt x="8648" y="0"/>
                </a:moveTo>
                <a:lnTo>
                  <a:pt x="8688" y="0"/>
                </a:lnTo>
                <a:lnTo>
                  <a:pt x="8688" y="21"/>
                </a:lnTo>
                <a:lnTo>
                  <a:pt x="8648" y="21"/>
                </a:lnTo>
                <a:lnTo>
                  <a:pt x="8648" y="0"/>
                </a:lnTo>
                <a:moveTo>
                  <a:pt x="8729" y="0"/>
                </a:moveTo>
                <a:lnTo>
                  <a:pt x="8769" y="0"/>
                </a:lnTo>
                <a:lnTo>
                  <a:pt x="8769" y="21"/>
                </a:lnTo>
                <a:lnTo>
                  <a:pt x="8729" y="21"/>
                </a:lnTo>
                <a:lnTo>
                  <a:pt x="8729" y="0"/>
                </a:lnTo>
                <a:moveTo>
                  <a:pt x="8809" y="0"/>
                </a:moveTo>
                <a:lnTo>
                  <a:pt x="8850" y="0"/>
                </a:lnTo>
                <a:lnTo>
                  <a:pt x="8850" y="21"/>
                </a:lnTo>
                <a:lnTo>
                  <a:pt x="8809" y="21"/>
                </a:lnTo>
                <a:lnTo>
                  <a:pt x="8809" y="0"/>
                </a:lnTo>
                <a:moveTo>
                  <a:pt x="8890" y="0"/>
                </a:moveTo>
                <a:lnTo>
                  <a:pt x="8931" y="0"/>
                </a:lnTo>
                <a:lnTo>
                  <a:pt x="8931" y="21"/>
                </a:lnTo>
                <a:lnTo>
                  <a:pt x="8890" y="21"/>
                </a:lnTo>
                <a:lnTo>
                  <a:pt x="8890" y="0"/>
                </a:lnTo>
                <a:moveTo>
                  <a:pt x="8971" y="0"/>
                </a:moveTo>
                <a:lnTo>
                  <a:pt x="9011" y="0"/>
                </a:lnTo>
                <a:lnTo>
                  <a:pt x="9011" y="21"/>
                </a:lnTo>
                <a:lnTo>
                  <a:pt x="8971" y="21"/>
                </a:lnTo>
                <a:lnTo>
                  <a:pt x="8971" y="0"/>
                </a:lnTo>
                <a:moveTo>
                  <a:pt x="9052" y="0"/>
                </a:moveTo>
                <a:lnTo>
                  <a:pt x="9092" y="0"/>
                </a:lnTo>
                <a:lnTo>
                  <a:pt x="9092" y="21"/>
                </a:lnTo>
                <a:lnTo>
                  <a:pt x="9052" y="21"/>
                </a:lnTo>
                <a:lnTo>
                  <a:pt x="9052" y="0"/>
                </a:lnTo>
                <a:moveTo>
                  <a:pt x="9133" y="0"/>
                </a:moveTo>
                <a:lnTo>
                  <a:pt x="9173" y="0"/>
                </a:lnTo>
                <a:lnTo>
                  <a:pt x="9173" y="21"/>
                </a:lnTo>
                <a:lnTo>
                  <a:pt x="9133" y="21"/>
                </a:lnTo>
                <a:lnTo>
                  <a:pt x="9133" y="0"/>
                </a:lnTo>
                <a:moveTo>
                  <a:pt x="9213" y="0"/>
                </a:moveTo>
                <a:lnTo>
                  <a:pt x="9254" y="0"/>
                </a:lnTo>
                <a:lnTo>
                  <a:pt x="9254" y="21"/>
                </a:lnTo>
                <a:lnTo>
                  <a:pt x="9213" y="21"/>
                </a:lnTo>
                <a:lnTo>
                  <a:pt x="9213" y="0"/>
                </a:lnTo>
                <a:moveTo>
                  <a:pt x="9294" y="0"/>
                </a:moveTo>
                <a:lnTo>
                  <a:pt x="9335" y="0"/>
                </a:lnTo>
                <a:lnTo>
                  <a:pt x="9335" y="21"/>
                </a:lnTo>
                <a:lnTo>
                  <a:pt x="9294" y="21"/>
                </a:lnTo>
                <a:lnTo>
                  <a:pt x="9294" y="0"/>
                </a:lnTo>
                <a:moveTo>
                  <a:pt x="9375" y="0"/>
                </a:moveTo>
                <a:lnTo>
                  <a:pt x="9415" y="0"/>
                </a:lnTo>
                <a:lnTo>
                  <a:pt x="9415" y="21"/>
                </a:lnTo>
                <a:lnTo>
                  <a:pt x="9375" y="21"/>
                </a:lnTo>
                <a:lnTo>
                  <a:pt x="9375" y="0"/>
                </a:lnTo>
                <a:moveTo>
                  <a:pt x="9456" y="0"/>
                </a:moveTo>
                <a:lnTo>
                  <a:pt x="9496" y="0"/>
                </a:lnTo>
                <a:lnTo>
                  <a:pt x="9496" y="21"/>
                </a:lnTo>
                <a:lnTo>
                  <a:pt x="9456" y="21"/>
                </a:lnTo>
                <a:lnTo>
                  <a:pt x="9456" y="0"/>
                </a:lnTo>
                <a:moveTo>
                  <a:pt x="9537" y="0"/>
                </a:moveTo>
                <a:lnTo>
                  <a:pt x="9577" y="0"/>
                </a:lnTo>
                <a:lnTo>
                  <a:pt x="9577" y="21"/>
                </a:lnTo>
                <a:lnTo>
                  <a:pt x="9537" y="21"/>
                </a:lnTo>
                <a:lnTo>
                  <a:pt x="9537" y="0"/>
                </a:lnTo>
                <a:moveTo>
                  <a:pt x="9618" y="0"/>
                </a:moveTo>
                <a:lnTo>
                  <a:pt x="9658" y="0"/>
                </a:lnTo>
                <a:lnTo>
                  <a:pt x="9658" y="21"/>
                </a:lnTo>
                <a:lnTo>
                  <a:pt x="9618" y="21"/>
                </a:lnTo>
                <a:lnTo>
                  <a:pt x="9618" y="0"/>
                </a:lnTo>
                <a:moveTo>
                  <a:pt x="9698" y="0"/>
                </a:moveTo>
                <a:lnTo>
                  <a:pt x="9739" y="0"/>
                </a:lnTo>
                <a:lnTo>
                  <a:pt x="9739" y="21"/>
                </a:lnTo>
                <a:lnTo>
                  <a:pt x="9698" y="21"/>
                </a:lnTo>
                <a:lnTo>
                  <a:pt x="9698" y="0"/>
                </a:lnTo>
                <a:moveTo>
                  <a:pt x="9779" y="0"/>
                </a:moveTo>
                <a:lnTo>
                  <a:pt x="9820" y="0"/>
                </a:lnTo>
                <a:lnTo>
                  <a:pt x="9820" y="21"/>
                </a:lnTo>
                <a:lnTo>
                  <a:pt x="9779" y="21"/>
                </a:lnTo>
                <a:lnTo>
                  <a:pt x="9779" y="0"/>
                </a:lnTo>
                <a:moveTo>
                  <a:pt x="9860" y="0"/>
                </a:moveTo>
                <a:lnTo>
                  <a:pt x="9900" y="0"/>
                </a:lnTo>
                <a:lnTo>
                  <a:pt x="9900" y="21"/>
                </a:lnTo>
                <a:lnTo>
                  <a:pt x="9860" y="21"/>
                </a:lnTo>
                <a:lnTo>
                  <a:pt x="9860" y="0"/>
                </a:lnTo>
                <a:moveTo>
                  <a:pt x="9941" y="0"/>
                </a:moveTo>
                <a:lnTo>
                  <a:pt x="9981" y="0"/>
                </a:lnTo>
                <a:lnTo>
                  <a:pt x="9981" y="21"/>
                </a:lnTo>
                <a:lnTo>
                  <a:pt x="9941" y="21"/>
                </a:lnTo>
                <a:lnTo>
                  <a:pt x="9941" y="0"/>
                </a:lnTo>
                <a:moveTo>
                  <a:pt x="10022" y="0"/>
                </a:moveTo>
                <a:lnTo>
                  <a:pt x="10062" y="0"/>
                </a:lnTo>
                <a:lnTo>
                  <a:pt x="10062" y="21"/>
                </a:lnTo>
                <a:lnTo>
                  <a:pt x="10022" y="21"/>
                </a:lnTo>
                <a:lnTo>
                  <a:pt x="10022" y="0"/>
                </a:lnTo>
                <a:moveTo>
                  <a:pt x="10102" y="0"/>
                </a:moveTo>
                <a:lnTo>
                  <a:pt x="10143" y="0"/>
                </a:lnTo>
                <a:lnTo>
                  <a:pt x="10143" y="21"/>
                </a:lnTo>
                <a:lnTo>
                  <a:pt x="10102" y="21"/>
                </a:lnTo>
                <a:lnTo>
                  <a:pt x="10102" y="0"/>
                </a:lnTo>
                <a:moveTo>
                  <a:pt x="10183" y="0"/>
                </a:moveTo>
                <a:lnTo>
                  <a:pt x="10224" y="0"/>
                </a:lnTo>
                <a:lnTo>
                  <a:pt x="10224" y="21"/>
                </a:lnTo>
                <a:lnTo>
                  <a:pt x="10183" y="21"/>
                </a:lnTo>
                <a:lnTo>
                  <a:pt x="10183" y="0"/>
                </a:lnTo>
                <a:moveTo>
                  <a:pt x="10264" y="0"/>
                </a:moveTo>
                <a:lnTo>
                  <a:pt x="10304" y="0"/>
                </a:lnTo>
                <a:lnTo>
                  <a:pt x="10304" y="21"/>
                </a:lnTo>
                <a:lnTo>
                  <a:pt x="10264" y="21"/>
                </a:lnTo>
                <a:lnTo>
                  <a:pt x="10264" y="0"/>
                </a:lnTo>
                <a:moveTo>
                  <a:pt x="10345" y="0"/>
                </a:moveTo>
                <a:lnTo>
                  <a:pt x="10385" y="0"/>
                </a:lnTo>
                <a:lnTo>
                  <a:pt x="10385" y="21"/>
                </a:lnTo>
                <a:lnTo>
                  <a:pt x="10345" y="21"/>
                </a:lnTo>
                <a:lnTo>
                  <a:pt x="10345" y="0"/>
                </a:lnTo>
                <a:moveTo>
                  <a:pt x="10426" y="0"/>
                </a:moveTo>
                <a:lnTo>
                  <a:pt x="10466" y="0"/>
                </a:lnTo>
                <a:lnTo>
                  <a:pt x="10466" y="21"/>
                </a:lnTo>
                <a:lnTo>
                  <a:pt x="10426" y="21"/>
                </a:lnTo>
                <a:lnTo>
                  <a:pt x="10426" y="0"/>
                </a:lnTo>
                <a:moveTo>
                  <a:pt x="10506" y="0"/>
                </a:moveTo>
                <a:lnTo>
                  <a:pt x="10547" y="0"/>
                </a:lnTo>
                <a:lnTo>
                  <a:pt x="10547" y="21"/>
                </a:lnTo>
                <a:lnTo>
                  <a:pt x="10506" y="21"/>
                </a:lnTo>
                <a:lnTo>
                  <a:pt x="10506" y="0"/>
                </a:lnTo>
                <a:moveTo>
                  <a:pt x="10587" y="0"/>
                </a:moveTo>
                <a:lnTo>
                  <a:pt x="10628" y="0"/>
                </a:lnTo>
                <a:lnTo>
                  <a:pt x="10628" y="21"/>
                </a:lnTo>
                <a:lnTo>
                  <a:pt x="10587" y="21"/>
                </a:lnTo>
                <a:lnTo>
                  <a:pt x="10587" y="0"/>
                </a:lnTo>
                <a:moveTo>
                  <a:pt x="10668" y="0"/>
                </a:moveTo>
                <a:lnTo>
                  <a:pt x="10708" y="0"/>
                </a:lnTo>
                <a:lnTo>
                  <a:pt x="10708" y="21"/>
                </a:lnTo>
                <a:lnTo>
                  <a:pt x="10668" y="21"/>
                </a:lnTo>
                <a:lnTo>
                  <a:pt x="10668" y="0"/>
                </a:lnTo>
                <a:moveTo>
                  <a:pt x="10749" y="0"/>
                </a:moveTo>
                <a:lnTo>
                  <a:pt x="10789" y="0"/>
                </a:lnTo>
                <a:lnTo>
                  <a:pt x="10789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830" y="0"/>
                </a:moveTo>
                <a:lnTo>
                  <a:pt x="10870" y="0"/>
                </a:lnTo>
                <a:lnTo>
                  <a:pt x="10870" y="21"/>
                </a:lnTo>
                <a:lnTo>
                  <a:pt x="10830" y="21"/>
                </a:lnTo>
                <a:lnTo>
                  <a:pt x="10830" y="0"/>
                </a:lnTo>
                <a:moveTo>
                  <a:pt x="10911" y="0"/>
                </a:moveTo>
                <a:lnTo>
                  <a:pt x="10951" y="0"/>
                </a:lnTo>
                <a:lnTo>
                  <a:pt x="10951" y="21"/>
                </a:lnTo>
                <a:lnTo>
                  <a:pt x="10911" y="21"/>
                </a:lnTo>
                <a:lnTo>
                  <a:pt x="10911" y="0"/>
                </a:lnTo>
                <a:moveTo>
                  <a:pt x="10991" y="0"/>
                </a:moveTo>
                <a:lnTo>
                  <a:pt x="11032" y="0"/>
                </a:lnTo>
                <a:lnTo>
                  <a:pt x="11032" y="21"/>
                </a:lnTo>
                <a:lnTo>
                  <a:pt x="10991" y="21"/>
                </a:lnTo>
                <a:lnTo>
                  <a:pt x="10991" y="0"/>
                </a:lnTo>
                <a:moveTo>
                  <a:pt x="11072" y="0"/>
                </a:moveTo>
                <a:lnTo>
                  <a:pt x="11113" y="0"/>
                </a:lnTo>
                <a:lnTo>
                  <a:pt x="11113" y="21"/>
                </a:lnTo>
                <a:lnTo>
                  <a:pt x="11072" y="21"/>
                </a:lnTo>
                <a:lnTo>
                  <a:pt x="11072" y="0"/>
                </a:lnTo>
                <a:moveTo>
                  <a:pt x="11153" y="0"/>
                </a:moveTo>
                <a:lnTo>
                  <a:pt x="11193" y="0"/>
                </a:lnTo>
                <a:lnTo>
                  <a:pt x="11193" y="21"/>
                </a:lnTo>
                <a:lnTo>
                  <a:pt x="11153" y="21"/>
                </a:lnTo>
                <a:lnTo>
                  <a:pt x="11153" y="0"/>
                </a:lnTo>
                <a:moveTo>
                  <a:pt x="11234" y="0"/>
                </a:moveTo>
                <a:lnTo>
                  <a:pt x="11274" y="0"/>
                </a:lnTo>
                <a:lnTo>
                  <a:pt x="11274" y="21"/>
                </a:lnTo>
                <a:lnTo>
                  <a:pt x="11234" y="21"/>
                </a:lnTo>
                <a:lnTo>
                  <a:pt x="11234" y="0"/>
                </a:lnTo>
                <a:moveTo>
                  <a:pt x="11315" y="0"/>
                </a:moveTo>
                <a:lnTo>
                  <a:pt x="11355" y="0"/>
                </a:lnTo>
                <a:lnTo>
                  <a:pt x="11355" y="21"/>
                </a:lnTo>
                <a:lnTo>
                  <a:pt x="11315" y="21"/>
                </a:lnTo>
                <a:lnTo>
                  <a:pt x="11315" y="0"/>
                </a:lnTo>
                <a:moveTo>
                  <a:pt x="11395" y="0"/>
                </a:moveTo>
                <a:lnTo>
                  <a:pt x="11436" y="0"/>
                </a:lnTo>
                <a:lnTo>
                  <a:pt x="11436" y="21"/>
                </a:lnTo>
                <a:lnTo>
                  <a:pt x="11395" y="21"/>
                </a:lnTo>
                <a:lnTo>
                  <a:pt x="11395" y="0"/>
                </a:lnTo>
                <a:moveTo>
                  <a:pt x="11476" y="0"/>
                </a:moveTo>
                <a:lnTo>
                  <a:pt x="11517" y="0"/>
                </a:lnTo>
                <a:lnTo>
                  <a:pt x="11517" y="21"/>
                </a:lnTo>
                <a:lnTo>
                  <a:pt x="11476" y="21"/>
                </a:lnTo>
                <a:lnTo>
                  <a:pt x="11476" y="0"/>
                </a:lnTo>
                <a:moveTo>
                  <a:pt x="11557" y="0"/>
                </a:moveTo>
                <a:lnTo>
                  <a:pt x="11597" y="0"/>
                </a:lnTo>
                <a:lnTo>
                  <a:pt x="11597" y="21"/>
                </a:lnTo>
                <a:lnTo>
                  <a:pt x="11557" y="21"/>
                </a:lnTo>
                <a:lnTo>
                  <a:pt x="11557" y="0"/>
                </a:lnTo>
                <a:moveTo>
                  <a:pt x="11638" y="0"/>
                </a:moveTo>
                <a:lnTo>
                  <a:pt x="11678" y="0"/>
                </a:lnTo>
                <a:lnTo>
                  <a:pt x="11678" y="21"/>
                </a:lnTo>
                <a:lnTo>
                  <a:pt x="11638" y="21"/>
                </a:lnTo>
                <a:lnTo>
                  <a:pt x="11638" y="0"/>
                </a:lnTo>
                <a:moveTo>
                  <a:pt x="11719" y="0"/>
                </a:moveTo>
                <a:lnTo>
                  <a:pt x="11759" y="0"/>
                </a:lnTo>
                <a:lnTo>
                  <a:pt x="11759" y="21"/>
                </a:lnTo>
                <a:lnTo>
                  <a:pt x="11719" y="21"/>
                </a:lnTo>
                <a:lnTo>
                  <a:pt x="11719" y="0"/>
                </a:lnTo>
                <a:moveTo>
                  <a:pt x="11799" y="0"/>
                </a:moveTo>
                <a:lnTo>
                  <a:pt x="11840" y="0"/>
                </a:lnTo>
                <a:lnTo>
                  <a:pt x="11840" y="21"/>
                </a:lnTo>
                <a:lnTo>
                  <a:pt x="11799" y="21"/>
                </a:lnTo>
                <a:lnTo>
                  <a:pt x="11799" y="0"/>
                </a:lnTo>
                <a:moveTo>
                  <a:pt x="11880" y="0"/>
                </a:moveTo>
                <a:lnTo>
                  <a:pt x="11921" y="0"/>
                </a:lnTo>
                <a:lnTo>
                  <a:pt x="11921" y="21"/>
                </a:lnTo>
                <a:lnTo>
                  <a:pt x="11880" y="21"/>
                </a:lnTo>
                <a:lnTo>
                  <a:pt x="11880" y="0"/>
                </a:lnTo>
                <a:moveTo>
                  <a:pt x="11961" y="0"/>
                </a:moveTo>
                <a:lnTo>
                  <a:pt x="12002" y="0"/>
                </a:lnTo>
                <a:lnTo>
                  <a:pt x="12002" y="21"/>
                </a:lnTo>
                <a:lnTo>
                  <a:pt x="11961" y="21"/>
                </a:lnTo>
                <a:lnTo>
                  <a:pt x="11961" y="0"/>
                </a:lnTo>
                <a:moveTo>
                  <a:pt x="12042" y="0"/>
                </a:moveTo>
                <a:lnTo>
                  <a:pt x="12082" y="0"/>
                </a:lnTo>
                <a:lnTo>
                  <a:pt x="12082" y="21"/>
                </a:lnTo>
                <a:lnTo>
                  <a:pt x="12042" y="21"/>
                </a:lnTo>
                <a:lnTo>
                  <a:pt x="12042" y="0"/>
                </a:lnTo>
                <a:moveTo>
                  <a:pt x="12123" y="0"/>
                </a:moveTo>
                <a:lnTo>
                  <a:pt x="12163" y="0"/>
                </a:lnTo>
                <a:lnTo>
                  <a:pt x="12163" y="21"/>
                </a:lnTo>
                <a:lnTo>
                  <a:pt x="12123" y="21"/>
                </a:lnTo>
                <a:lnTo>
                  <a:pt x="12123" y="0"/>
                </a:lnTo>
                <a:moveTo>
                  <a:pt x="12204" y="0"/>
                </a:moveTo>
                <a:lnTo>
                  <a:pt x="12244" y="0"/>
                </a:lnTo>
                <a:lnTo>
                  <a:pt x="12244" y="21"/>
                </a:lnTo>
                <a:lnTo>
                  <a:pt x="12204" y="21"/>
                </a:lnTo>
                <a:lnTo>
                  <a:pt x="12204" y="0"/>
                </a:lnTo>
                <a:moveTo>
                  <a:pt x="12284" y="0"/>
                </a:moveTo>
                <a:lnTo>
                  <a:pt x="12325" y="0"/>
                </a:lnTo>
                <a:lnTo>
                  <a:pt x="12325" y="21"/>
                </a:lnTo>
                <a:lnTo>
                  <a:pt x="12284" y="21"/>
                </a:lnTo>
                <a:lnTo>
                  <a:pt x="12284" y="0"/>
                </a:lnTo>
                <a:moveTo>
                  <a:pt x="12365" y="0"/>
                </a:moveTo>
                <a:lnTo>
                  <a:pt x="12406" y="0"/>
                </a:lnTo>
                <a:lnTo>
                  <a:pt x="12406" y="21"/>
                </a:lnTo>
                <a:lnTo>
                  <a:pt x="12365" y="21"/>
                </a:lnTo>
                <a:lnTo>
                  <a:pt x="12365" y="0"/>
                </a:lnTo>
                <a:moveTo>
                  <a:pt x="12446" y="0"/>
                </a:moveTo>
                <a:lnTo>
                  <a:pt x="12486" y="0"/>
                </a:lnTo>
                <a:lnTo>
                  <a:pt x="12486" y="21"/>
                </a:lnTo>
                <a:lnTo>
                  <a:pt x="12446" y="21"/>
                </a:lnTo>
                <a:lnTo>
                  <a:pt x="12446" y="0"/>
                </a:lnTo>
                <a:moveTo>
                  <a:pt x="12527" y="0"/>
                </a:moveTo>
                <a:lnTo>
                  <a:pt x="12567" y="0"/>
                </a:lnTo>
                <a:lnTo>
                  <a:pt x="12567" y="21"/>
                </a:lnTo>
                <a:lnTo>
                  <a:pt x="12527" y="21"/>
                </a:lnTo>
                <a:lnTo>
                  <a:pt x="12527" y="0"/>
                </a:lnTo>
                <a:moveTo>
                  <a:pt x="12608" y="0"/>
                </a:moveTo>
                <a:lnTo>
                  <a:pt x="12648" y="0"/>
                </a:lnTo>
                <a:lnTo>
                  <a:pt x="12648" y="21"/>
                </a:lnTo>
                <a:lnTo>
                  <a:pt x="12608" y="21"/>
                </a:lnTo>
                <a:lnTo>
                  <a:pt x="12608" y="0"/>
                </a:lnTo>
                <a:moveTo>
                  <a:pt x="12688" y="0"/>
                </a:moveTo>
                <a:lnTo>
                  <a:pt x="12729" y="0"/>
                </a:lnTo>
                <a:lnTo>
                  <a:pt x="12729" y="21"/>
                </a:lnTo>
                <a:lnTo>
                  <a:pt x="12688" y="21"/>
                </a:lnTo>
                <a:lnTo>
                  <a:pt x="12688" y="0"/>
                </a:lnTo>
                <a:moveTo>
                  <a:pt x="12769" y="0"/>
                </a:moveTo>
                <a:lnTo>
                  <a:pt x="12810" y="0"/>
                </a:lnTo>
                <a:lnTo>
                  <a:pt x="12810" y="21"/>
                </a:lnTo>
                <a:lnTo>
                  <a:pt x="12769" y="21"/>
                </a:lnTo>
                <a:lnTo>
                  <a:pt x="12769" y="0"/>
                </a:lnTo>
                <a:moveTo>
                  <a:pt x="12850" y="0"/>
                </a:moveTo>
                <a:lnTo>
                  <a:pt x="12890" y="0"/>
                </a:lnTo>
                <a:lnTo>
                  <a:pt x="12890" y="21"/>
                </a:lnTo>
                <a:lnTo>
                  <a:pt x="12850" y="21"/>
                </a:lnTo>
                <a:lnTo>
                  <a:pt x="12850" y="0"/>
                </a:lnTo>
                <a:moveTo>
                  <a:pt x="12931" y="0"/>
                </a:moveTo>
                <a:lnTo>
                  <a:pt x="12971" y="0"/>
                </a:lnTo>
                <a:lnTo>
                  <a:pt x="12971" y="21"/>
                </a:lnTo>
                <a:lnTo>
                  <a:pt x="12931" y="21"/>
                </a:lnTo>
                <a:lnTo>
                  <a:pt x="12931" y="0"/>
                </a:lnTo>
                <a:moveTo>
                  <a:pt x="13012" y="0"/>
                </a:moveTo>
                <a:lnTo>
                  <a:pt x="13052" y="0"/>
                </a:lnTo>
                <a:lnTo>
                  <a:pt x="13052" y="21"/>
                </a:lnTo>
                <a:lnTo>
                  <a:pt x="13012" y="21"/>
                </a:lnTo>
                <a:lnTo>
                  <a:pt x="13012" y="0"/>
                </a:lnTo>
                <a:moveTo>
                  <a:pt x="13093" y="0"/>
                </a:moveTo>
                <a:lnTo>
                  <a:pt x="13133" y="0"/>
                </a:lnTo>
                <a:lnTo>
                  <a:pt x="13133" y="21"/>
                </a:lnTo>
                <a:lnTo>
                  <a:pt x="13093" y="21"/>
                </a:lnTo>
                <a:lnTo>
                  <a:pt x="13093" y="0"/>
                </a:lnTo>
                <a:moveTo>
                  <a:pt x="13173" y="0"/>
                </a:moveTo>
                <a:lnTo>
                  <a:pt x="13214" y="0"/>
                </a:lnTo>
                <a:lnTo>
                  <a:pt x="13214" y="21"/>
                </a:lnTo>
                <a:lnTo>
                  <a:pt x="13173" y="21"/>
                </a:lnTo>
                <a:lnTo>
                  <a:pt x="13173" y="0"/>
                </a:lnTo>
                <a:moveTo>
                  <a:pt x="13254" y="0"/>
                </a:moveTo>
                <a:lnTo>
                  <a:pt x="13295" y="0"/>
                </a:lnTo>
                <a:lnTo>
                  <a:pt x="13295" y="21"/>
                </a:lnTo>
                <a:lnTo>
                  <a:pt x="13254" y="21"/>
                </a:lnTo>
                <a:lnTo>
                  <a:pt x="13254" y="0"/>
                </a:lnTo>
                <a:moveTo>
                  <a:pt x="13335" y="0"/>
                </a:moveTo>
                <a:lnTo>
                  <a:pt x="13375" y="0"/>
                </a:lnTo>
                <a:lnTo>
                  <a:pt x="13375" y="21"/>
                </a:lnTo>
                <a:lnTo>
                  <a:pt x="13335" y="21"/>
                </a:lnTo>
                <a:lnTo>
                  <a:pt x="13335" y="0"/>
                </a:lnTo>
                <a:moveTo>
                  <a:pt x="13416" y="0"/>
                </a:moveTo>
                <a:lnTo>
                  <a:pt x="13456" y="0"/>
                </a:lnTo>
                <a:lnTo>
                  <a:pt x="13456" y="21"/>
                </a:lnTo>
                <a:lnTo>
                  <a:pt x="13416" y="21"/>
                </a:lnTo>
                <a:lnTo>
                  <a:pt x="13416" y="0"/>
                </a:lnTo>
                <a:moveTo>
                  <a:pt x="13497" y="0"/>
                </a:moveTo>
                <a:lnTo>
                  <a:pt x="13537" y="0"/>
                </a:lnTo>
                <a:lnTo>
                  <a:pt x="13537" y="21"/>
                </a:lnTo>
                <a:lnTo>
                  <a:pt x="13497" y="21"/>
                </a:lnTo>
                <a:lnTo>
                  <a:pt x="13497" y="0"/>
                </a:lnTo>
                <a:moveTo>
                  <a:pt x="13577" y="0"/>
                </a:moveTo>
                <a:lnTo>
                  <a:pt x="13618" y="0"/>
                </a:lnTo>
                <a:lnTo>
                  <a:pt x="13618" y="21"/>
                </a:lnTo>
                <a:lnTo>
                  <a:pt x="13577" y="21"/>
                </a:lnTo>
                <a:lnTo>
                  <a:pt x="13577" y="0"/>
                </a:lnTo>
                <a:moveTo>
                  <a:pt x="13658" y="0"/>
                </a:moveTo>
                <a:lnTo>
                  <a:pt x="13699" y="0"/>
                </a:lnTo>
                <a:lnTo>
                  <a:pt x="13699" y="21"/>
                </a:lnTo>
                <a:lnTo>
                  <a:pt x="13658" y="21"/>
                </a:lnTo>
                <a:lnTo>
                  <a:pt x="13658" y="0"/>
                </a:lnTo>
                <a:moveTo>
                  <a:pt x="13739" y="0"/>
                </a:moveTo>
                <a:lnTo>
                  <a:pt x="13779" y="0"/>
                </a:lnTo>
                <a:lnTo>
                  <a:pt x="13779" y="21"/>
                </a:lnTo>
                <a:lnTo>
                  <a:pt x="13739" y="21"/>
                </a:lnTo>
                <a:lnTo>
                  <a:pt x="13739" y="0"/>
                </a:lnTo>
                <a:moveTo>
                  <a:pt x="13820" y="0"/>
                </a:moveTo>
                <a:lnTo>
                  <a:pt x="13860" y="0"/>
                </a:lnTo>
                <a:lnTo>
                  <a:pt x="13860" y="21"/>
                </a:lnTo>
                <a:lnTo>
                  <a:pt x="13820" y="21"/>
                </a:lnTo>
                <a:lnTo>
                  <a:pt x="13820" y="0"/>
                </a:lnTo>
                <a:moveTo>
                  <a:pt x="13901" y="0"/>
                </a:moveTo>
                <a:lnTo>
                  <a:pt x="13941" y="0"/>
                </a:lnTo>
                <a:lnTo>
                  <a:pt x="13941" y="21"/>
                </a:lnTo>
                <a:lnTo>
                  <a:pt x="13901" y="21"/>
                </a:lnTo>
                <a:lnTo>
                  <a:pt x="13901" y="0"/>
                </a:lnTo>
                <a:moveTo>
                  <a:pt x="13981" y="0"/>
                </a:moveTo>
                <a:lnTo>
                  <a:pt x="14022" y="0"/>
                </a:lnTo>
                <a:lnTo>
                  <a:pt x="14022" y="21"/>
                </a:lnTo>
                <a:lnTo>
                  <a:pt x="13981" y="21"/>
                </a:lnTo>
                <a:lnTo>
                  <a:pt x="13981" y="0"/>
                </a:lnTo>
                <a:moveTo>
                  <a:pt x="14062" y="0"/>
                </a:moveTo>
                <a:lnTo>
                  <a:pt x="14103" y="0"/>
                </a:lnTo>
                <a:lnTo>
                  <a:pt x="14103" y="21"/>
                </a:lnTo>
                <a:lnTo>
                  <a:pt x="14062" y="21"/>
                </a:lnTo>
                <a:lnTo>
                  <a:pt x="14062" y="0"/>
                </a:lnTo>
                <a:moveTo>
                  <a:pt x="14143" y="0"/>
                </a:moveTo>
                <a:lnTo>
                  <a:pt x="14184" y="0"/>
                </a:lnTo>
                <a:lnTo>
                  <a:pt x="14184" y="21"/>
                </a:lnTo>
                <a:lnTo>
                  <a:pt x="14143" y="21"/>
                </a:lnTo>
                <a:lnTo>
                  <a:pt x="14143" y="0"/>
                </a:lnTo>
                <a:moveTo>
                  <a:pt x="14224" y="0"/>
                </a:moveTo>
                <a:lnTo>
                  <a:pt x="14264" y="0"/>
                </a:lnTo>
                <a:lnTo>
                  <a:pt x="14264" y="21"/>
                </a:lnTo>
                <a:lnTo>
                  <a:pt x="14224" y="21"/>
                </a:lnTo>
                <a:lnTo>
                  <a:pt x="14224" y="0"/>
                </a:lnTo>
                <a:moveTo>
                  <a:pt x="14305" y="0"/>
                </a:moveTo>
                <a:lnTo>
                  <a:pt x="14345" y="0"/>
                </a:lnTo>
                <a:lnTo>
                  <a:pt x="14345" y="21"/>
                </a:lnTo>
                <a:lnTo>
                  <a:pt x="14305" y="21"/>
                </a:lnTo>
                <a:lnTo>
                  <a:pt x="14305" y="0"/>
                </a:lnTo>
                <a:moveTo>
                  <a:pt x="14386" y="0"/>
                </a:moveTo>
                <a:lnTo>
                  <a:pt x="14426" y="0"/>
                </a:lnTo>
                <a:lnTo>
                  <a:pt x="14426" y="21"/>
                </a:lnTo>
                <a:lnTo>
                  <a:pt x="14386" y="21"/>
                </a:lnTo>
                <a:lnTo>
                  <a:pt x="14386" y="0"/>
                </a:lnTo>
                <a:moveTo>
                  <a:pt x="14466" y="0"/>
                </a:moveTo>
                <a:lnTo>
                  <a:pt x="14507" y="0"/>
                </a:lnTo>
                <a:lnTo>
                  <a:pt x="14507" y="21"/>
                </a:lnTo>
                <a:lnTo>
                  <a:pt x="14466" y="21"/>
                </a:lnTo>
                <a:lnTo>
                  <a:pt x="14466" y="0"/>
                </a:lnTo>
                <a:moveTo>
                  <a:pt x="14547" y="0"/>
                </a:moveTo>
                <a:lnTo>
                  <a:pt x="14588" y="0"/>
                </a:lnTo>
                <a:lnTo>
                  <a:pt x="14588" y="21"/>
                </a:lnTo>
                <a:lnTo>
                  <a:pt x="14547" y="21"/>
                </a:lnTo>
                <a:lnTo>
                  <a:pt x="14547" y="0"/>
                </a:lnTo>
                <a:moveTo>
                  <a:pt x="14628" y="0"/>
                </a:moveTo>
                <a:lnTo>
                  <a:pt x="14668" y="0"/>
                </a:lnTo>
                <a:lnTo>
                  <a:pt x="14668" y="21"/>
                </a:lnTo>
                <a:lnTo>
                  <a:pt x="14628" y="21"/>
                </a:lnTo>
                <a:lnTo>
                  <a:pt x="14628" y="0"/>
                </a:lnTo>
                <a:moveTo>
                  <a:pt x="14709" y="0"/>
                </a:moveTo>
                <a:lnTo>
                  <a:pt x="14749" y="0"/>
                </a:lnTo>
                <a:lnTo>
                  <a:pt x="14749" y="21"/>
                </a:lnTo>
                <a:lnTo>
                  <a:pt x="14709" y="21"/>
                </a:lnTo>
                <a:lnTo>
                  <a:pt x="14709" y="0"/>
                </a:lnTo>
                <a:moveTo>
                  <a:pt x="14790" y="0"/>
                </a:moveTo>
                <a:lnTo>
                  <a:pt x="14830" y="0"/>
                </a:lnTo>
                <a:lnTo>
                  <a:pt x="14830" y="21"/>
                </a:lnTo>
                <a:lnTo>
                  <a:pt x="14790" y="21"/>
                </a:lnTo>
                <a:lnTo>
                  <a:pt x="14790" y="0"/>
                </a:lnTo>
                <a:moveTo>
                  <a:pt x="14870" y="0"/>
                </a:moveTo>
                <a:lnTo>
                  <a:pt x="14911" y="0"/>
                </a:lnTo>
                <a:lnTo>
                  <a:pt x="14911" y="21"/>
                </a:lnTo>
                <a:lnTo>
                  <a:pt x="14870" y="21"/>
                </a:lnTo>
                <a:lnTo>
                  <a:pt x="14870" y="0"/>
                </a:lnTo>
                <a:moveTo>
                  <a:pt x="14951" y="0"/>
                </a:moveTo>
                <a:lnTo>
                  <a:pt x="14992" y="0"/>
                </a:lnTo>
                <a:lnTo>
                  <a:pt x="14992" y="21"/>
                </a:lnTo>
                <a:lnTo>
                  <a:pt x="14951" y="21"/>
                </a:lnTo>
                <a:lnTo>
                  <a:pt x="14951" y="0"/>
                </a:lnTo>
                <a:moveTo>
                  <a:pt x="15032" y="0"/>
                </a:moveTo>
                <a:lnTo>
                  <a:pt x="15072" y="0"/>
                </a:lnTo>
                <a:lnTo>
                  <a:pt x="15072" y="21"/>
                </a:lnTo>
                <a:lnTo>
                  <a:pt x="15032" y="21"/>
                </a:lnTo>
                <a:lnTo>
                  <a:pt x="15032" y="0"/>
                </a:lnTo>
                <a:moveTo>
                  <a:pt x="15113" y="0"/>
                </a:moveTo>
                <a:lnTo>
                  <a:pt x="15153" y="0"/>
                </a:lnTo>
                <a:lnTo>
                  <a:pt x="15153" y="21"/>
                </a:lnTo>
                <a:lnTo>
                  <a:pt x="15113" y="21"/>
                </a:lnTo>
                <a:lnTo>
                  <a:pt x="15113" y="0"/>
                </a:lnTo>
                <a:moveTo>
                  <a:pt x="15194" y="0"/>
                </a:moveTo>
                <a:lnTo>
                  <a:pt x="15234" y="0"/>
                </a:lnTo>
                <a:lnTo>
                  <a:pt x="15234" y="21"/>
                </a:lnTo>
                <a:lnTo>
                  <a:pt x="15194" y="21"/>
                </a:lnTo>
                <a:lnTo>
                  <a:pt x="15194" y="0"/>
                </a:lnTo>
                <a:moveTo>
                  <a:pt x="15274" y="0"/>
                </a:moveTo>
                <a:lnTo>
                  <a:pt x="15315" y="0"/>
                </a:lnTo>
                <a:lnTo>
                  <a:pt x="15315" y="21"/>
                </a:lnTo>
                <a:lnTo>
                  <a:pt x="15274" y="21"/>
                </a:lnTo>
                <a:lnTo>
                  <a:pt x="15274" y="0"/>
                </a:lnTo>
                <a:moveTo>
                  <a:pt x="15355" y="0"/>
                </a:moveTo>
                <a:lnTo>
                  <a:pt x="15396" y="0"/>
                </a:lnTo>
                <a:lnTo>
                  <a:pt x="15396" y="21"/>
                </a:lnTo>
                <a:lnTo>
                  <a:pt x="15355" y="21"/>
                </a:lnTo>
                <a:lnTo>
                  <a:pt x="15355" y="0"/>
                </a:lnTo>
                <a:moveTo>
                  <a:pt x="15436" y="0"/>
                </a:moveTo>
                <a:lnTo>
                  <a:pt x="15477" y="0"/>
                </a:lnTo>
                <a:lnTo>
                  <a:pt x="15477" y="21"/>
                </a:lnTo>
                <a:lnTo>
                  <a:pt x="15436" y="21"/>
                </a:lnTo>
                <a:lnTo>
                  <a:pt x="15436" y="0"/>
                </a:lnTo>
                <a:moveTo>
                  <a:pt x="15517" y="0"/>
                </a:moveTo>
                <a:lnTo>
                  <a:pt x="15557" y="0"/>
                </a:lnTo>
                <a:lnTo>
                  <a:pt x="15557" y="21"/>
                </a:lnTo>
                <a:lnTo>
                  <a:pt x="15517" y="21"/>
                </a:lnTo>
                <a:lnTo>
                  <a:pt x="15517" y="0"/>
                </a:lnTo>
                <a:moveTo>
                  <a:pt x="15598" y="0"/>
                </a:moveTo>
                <a:lnTo>
                  <a:pt x="15638" y="0"/>
                </a:lnTo>
                <a:lnTo>
                  <a:pt x="15638" y="21"/>
                </a:lnTo>
                <a:lnTo>
                  <a:pt x="15598" y="21"/>
                </a:lnTo>
                <a:lnTo>
                  <a:pt x="15598" y="0"/>
                </a:lnTo>
                <a:moveTo>
                  <a:pt x="15679" y="0"/>
                </a:moveTo>
                <a:lnTo>
                  <a:pt x="15719" y="0"/>
                </a:lnTo>
                <a:lnTo>
                  <a:pt x="15719" y="21"/>
                </a:lnTo>
                <a:lnTo>
                  <a:pt x="15679" y="21"/>
                </a:lnTo>
                <a:lnTo>
                  <a:pt x="15679" y="0"/>
                </a:lnTo>
                <a:moveTo>
                  <a:pt x="15759" y="0"/>
                </a:moveTo>
                <a:lnTo>
                  <a:pt x="15800" y="0"/>
                </a:lnTo>
                <a:lnTo>
                  <a:pt x="15800" y="21"/>
                </a:lnTo>
                <a:lnTo>
                  <a:pt x="15759" y="21"/>
                </a:lnTo>
                <a:lnTo>
                  <a:pt x="15759" y="0"/>
                </a:lnTo>
                <a:moveTo>
                  <a:pt x="15840" y="0"/>
                </a:moveTo>
                <a:lnTo>
                  <a:pt x="15881" y="0"/>
                </a:lnTo>
                <a:lnTo>
                  <a:pt x="15881" y="21"/>
                </a:lnTo>
                <a:lnTo>
                  <a:pt x="15840" y="21"/>
                </a:lnTo>
                <a:lnTo>
                  <a:pt x="15840" y="0"/>
                </a:lnTo>
                <a:moveTo>
                  <a:pt x="15921" y="0"/>
                </a:moveTo>
                <a:lnTo>
                  <a:pt x="15961" y="0"/>
                </a:lnTo>
                <a:lnTo>
                  <a:pt x="15961" y="21"/>
                </a:lnTo>
                <a:lnTo>
                  <a:pt x="15921" y="21"/>
                </a:lnTo>
                <a:lnTo>
                  <a:pt x="15921" y="0"/>
                </a:lnTo>
                <a:moveTo>
                  <a:pt x="16002" y="0"/>
                </a:moveTo>
                <a:lnTo>
                  <a:pt x="16042" y="0"/>
                </a:lnTo>
                <a:lnTo>
                  <a:pt x="16042" y="21"/>
                </a:lnTo>
                <a:lnTo>
                  <a:pt x="16002" y="21"/>
                </a:lnTo>
                <a:lnTo>
                  <a:pt x="16002" y="0"/>
                </a:lnTo>
                <a:moveTo>
                  <a:pt x="16083" y="0"/>
                </a:moveTo>
                <a:lnTo>
                  <a:pt x="16123" y="0"/>
                </a:lnTo>
                <a:lnTo>
                  <a:pt x="16123" y="21"/>
                </a:lnTo>
                <a:lnTo>
                  <a:pt x="16083" y="21"/>
                </a:lnTo>
                <a:lnTo>
                  <a:pt x="16083" y="0"/>
                </a:lnTo>
                <a:moveTo>
                  <a:pt x="16163" y="0"/>
                </a:moveTo>
                <a:lnTo>
                  <a:pt x="16204" y="0"/>
                </a:lnTo>
                <a:lnTo>
                  <a:pt x="16204" y="21"/>
                </a:lnTo>
                <a:lnTo>
                  <a:pt x="16163" y="21"/>
                </a:lnTo>
                <a:lnTo>
                  <a:pt x="16163" y="0"/>
                </a:lnTo>
                <a:moveTo>
                  <a:pt x="16244" y="0"/>
                </a:moveTo>
                <a:lnTo>
                  <a:pt x="16285" y="0"/>
                </a:lnTo>
                <a:lnTo>
                  <a:pt x="16285" y="21"/>
                </a:lnTo>
                <a:lnTo>
                  <a:pt x="16244" y="21"/>
                </a:lnTo>
                <a:lnTo>
                  <a:pt x="16244" y="0"/>
                </a:lnTo>
                <a:moveTo>
                  <a:pt x="16325" y="0"/>
                </a:moveTo>
                <a:lnTo>
                  <a:pt x="16365" y="0"/>
                </a:lnTo>
                <a:lnTo>
                  <a:pt x="16365" y="21"/>
                </a:lnTo>
                <a:lnTo>
                  <a:pt x="16325" y="21"/>
                </a:lnTo>
                <a:lnTo>
                  <a:pt x="16325" y="0"/>
                </a:lnTo>
                <a:moveTo>
                  <a:pt x="16406" y="0"/>
                </a:moveTo>
                <a:lnTo>
                  <a:pt x="16446" y="0"/>
                </a:lnTo>
                <a:lnTo>
                  <a:pt x="16446" y="21"/>
                </a:lnTo>
                <a:lnTo>
                  <a:pt x="16406" y="21"/>
                </a:lnTo>
                <a:lnTo>
                  <a:pt x="16406" y="0"/>
                </a:lnTo>
                <a:moveTo>
                  <a:pt x="16487" y="0"/>
                </a:moveTo>
                <a:lnTo>
                  <a:pt x="16527" y="0"/>
                </a:lnTo>
                <a:lnTo>
                  <a:pt x="16527" y="21"/>
                </a:lnTo>
                <a:lnTo>
                  <a:pt x="16487" y="21"/>
                </a:lnTo>
                <a:lnTo>
                  <a:pt x="16487" y="0"/>
                </a:lnTo>
                <a:moveTo>
                  <a:pt x="16568" y="0"/>
                </a:moveTo>
                <a:lnTo>
                  <a:pt x="16608" y="0"/>
                </a:lnTo>
                <a:lnTo>
                  <a:pt x="16608" y="21"/>
                </a:lnTo>
                <a:lnTo>
                  <a:pt x="16568" y="21"/>
                </a:lnTo>
                <a:lnTo>
                  <a:pt x="16568" y="0"/>
                </a:lnTo>
                <a:moveTo>
                  <a:pt x="16648" y="0"/>
                </a:moveTo>
                <a:lnTo>
                  <a:pt x="16689" y="0"/>
                </a:lnTo>
                <a:lnTo>
                  <a:pt x="16689" y="21"/>
                </a:lnTo>
                <a:lnTo>
                  <a:pt x="16648" y="21"/>
                </a:lnTo>
                <a:lnTo>
                  <a:pt x="16648" y="0"/>
                </a:lnTo>
                <a:moveTo>
                  <a:pt x="16729" y="0"/>
                </a:moveTo>
                <a:lnTo>
                  <a:pt x="16770" y="0"/>
                </a:lnTo>
                <a:lnTo>
                  <a:pt x="16770" y="21"/>
                </a:lnTo>
                <a:lnTo>
                  <a:pt x="16729" y="21"/>
                </a:lnTo>
                <a:lnTo>
                  <a:pt x="16729" y="0"/>
                </a:lnTo>
                <a:moveTo>
                  <a:pt x="16810" y="0"/>
                </a:moveTo>
                <a:lnTo>
                  <a:pt x="16850" y="0"/>
                </a:lnTo>
                <a:lnTo>
                  <a:pt x="16850" y="21"/>
                </a:lnTo>
                <a:lnTo>
                  <a:pt x="16810" y="21"/>
                </a:lnTo>
                <a:lnTo>
                  <a:pt x="16810" y="0"/>
                </a:lnTo>
                <a:moveTo>
                  <a:pt x="16891" y="0"/>
                </a:moveTo>
                <a:lnTo>
                  <a:pt x="16931" y="0"/>
                </a:lnTo>
                <a:lnTo>
                  <a:pt x="16931" y="21"/>
                </a:lnTo>
                <a:lnTo>
                  <a:pt x="16891" y="21"/>
                </a:lnTo>
                <a:lnTo>
                  <a:pt x="16891" y="0"/>
                </a:lnTo>
                <a:moveTo>
                  <a:pt x="16972" y="0"/>
                </a:moveTo>
                <a:lnTo>
                  <a:pt x="17012" y="0"/>
                </a:lnTo>
                <a:lnTo>
                  <a:pt x="17012" y="21"/>
                </a:lnTo>
                <a:lnTo>
                  <a:pt x="16972" y="21"/>
                </a:lnTo>
                <a:lnTo>
                  <a:pt x="16972" y="0"/>
                </a:lnTo>
                <a:moveTo>
                  <a:pt x="17052" y="0"/>
                </a:moveTo>
                <a:lnTo>
                  <a:pt x="17093" y="0"/>
                </a:lnTo>
                <a:lnTo>
                  <a:pt x="17093" y="21"/>
                </a:lnTo>
                <a:lnTo>
                  <a:pt x="17052" y="21"/>
                </a:lnTo>
                <a:lnTo>
                  <a:pt x="17052" y="0"/>
                </a:lnTo>
                <a:moveTo>
                  <a:pt x="17133" y="0"/>
                </a:moveTo>
                <a:lnTo>
                  <a:pt x="17174" y="0"/>
                </a:lnTo>
                <a:lnTo>
                  <a:pt x="17174" y="21"/>
                </a:lnTo>
                <a:lnTo>
                  <a:pt x="17133" y="21"/>
                </a:lnTo>
                <a:lnTo>
                  <a:pt x="17133" y="0"/>
                </a:lnTo>
                <a:moveTo>
                  <a:pt x="17214" y="0"/>
                </a:moveTo>
                <a:lnTo>
                  <a:pt x="17254" y="0"/>
                </a:lnTo>
                <a:lnTo>
                  <a:pt x="17254" y="21"/>
                </a:lnTo>
                <a:lnTo>
                  <a:pt x="17214" y="21"/>
                </a:lnTo>
                <a:lnTo>
                  <a:pt x="17214" y="0"/>
                </a:lnTo>
                <a:moveTo>
                  <a:pt x="17295" y="0"/>
                </a:moveTo>
                <a:lnTo>
                  <a:pt x="17335" y="0"/>
                </a:lnTo>
                <a:lnTo>
                  <a:pt x="17335" y="21"/>
                </a:lnTo>
                <a:lnTo>
                  <a:pt x="17295" y="21"/>
                </a:lnTo>
                <a:lnTo>
                  <a:pt x="17295" y="0"/>
                </a:lnTo>
                <a:moveTo>
                  <a:pt x="17376" y="0"/>
                </a:moveTo>
                <a:lnTo>
                  <a:pt x="17416" y="0"/>
                </a:lnTo>
                <a:lnTo>
                  <a:pt x="17416" y="21"/>
                </a:lnTo>
                <a:lnTo>
                  <a:pt x="17376" y="21"/>
                </a:lnTo>
                <a:lnTo>
                  <a:pt x="17376" y="0"/>
                </a:lnTo>
                <a:moveTo>
                  <a:pt x="17456" y="0"/>
                </a:moveTo>
                <a:lnTo>
                  <a:pt x="17497" y="0"/>
                </a:lnTo>
                <a:lnTo>
                  <a:pt x="17497" y="21"/>
                </a:lnTo>
                <a:lnTo>
                  <a:pt x="17456" y="21"/>
                </a:lnTo>
                <a:lnTo>
                  <a:pt x="17456" y="0"/>
                </a:lnTo>
                <a:moveTo>
                  <a:pt x="17537" y="0"/>
                </a:moveTo>
                <a:lnTo>
                  <a:pt x="17578" y="0"/>
                </a:lnTo>
                <a:lnTo>
                  <a:pt x="17578" y="21"/>
                </a:lnTo>
                <a:lnTo>
                  <a:pt x="17537" y="21"/>
                </a:lnTo>
                <a:lnTo>
                  <a:pt x="17537" y="0"/>
                </a:lnTo>
                <a:moveTo>
                  <a:pt x="17618" y="0"/>
                </a:moveTo>
                <a:lnTo>
                  <a:pt x="17659" y="0"/>
                </a:lnTo>
                <a:lnTo>
                  <a:pt x="17659" y="21"/>
                </a:lnTo>
                <a:lnTo>
                  <a:pt x="17618" y="21"/>
                </a:lnTo>
                <a:lnTo>
                  <a:pt x="17618" y="0"/>
                </a:lnTo>
                <a:moveTo>
                  <a:pt x="17699" y="0"/>
                </a:moveTo>
                <a:lnTo>
                  <a:pt x="17739" y="0"/>
                </a:lnTo>
                <a:lnTo>
                  <a:pt x="17739" y="21"/>
                </a:lnTo>
                <a:lnTo>
                  <a:pt x="17699" y="21"/>
                </a:lnTo>
                <a:lnTo>
                  <a:pt x="17699" y="0"/>
                </a:lnTo>
                <a:moveTo>
                  <a:pt x="17780" y="0"/>
                </a:moveTo>
                <a:lnTo>
                  <a:pt x="17820" y="0"/>
                </a:lnTo>
                <a:lnTo>
                  <a:pt x="17820" y="21"/>
                </a:lnTo>
                <a:lnTo>
                  <a:pt x="17780" y="21"/>
                </a:lnTo>
                <a:lnTo>
                  <a:pt x="17780" y="0"/>
                </a:lnTo>
                <a:moveTo>
                  <a:pt x="17861" y="0"/>
                </a:moveTo>
                <a:lnTo>
                  <a:pt x="17901" y="0"/>
                </a:lnTo>
                <a:lnTo>
                  <a:pt x="17901" y="21"/>
                </a:lnTo>
                <a:lnTo>
                  <a:pt x="17861" y="21"/>
                </a:lnTo>
                <a:lnTo>
                  <a:pt x="17861" y="0"/>
                </a:lnTo>
                <a:moveTo>
                  <a:pt x="17941" y="0"/>
                </a:moveTo>
                <a:lnTo>
                  <a:pt x="17982" y="0"/>
                </a:lnTo>
                <a:lnTo>
                  <a:pt x="17982" y="21"/>
                </a:lnTo>
                <a:lnTo>
                  <a:pt x="17941" y="21"/>
                </a:lnTo>
                <a:lnTo>
                  <a:pt x="17941" y="0"/>
                </a:lnTo>
                <a:moveTo>
                  <a:pt x="18022" y="0"/>
                </a:moveTo>
                <a:lnTo>
                  <a:pt x="18063" y="0"/>
                </a:lnTo>
                <a:lnTo>
                  <a:pt x="18063" y="21"/>
                </a:lnTo>
                <a:lnTo>
                  <a:pt x="18022" y="21"/>
                </a:lnTo>
                <a:lnTo>
                  <a:pt x="18022" y="0"/>
                </a:lnTo>
                <a:moveTo>
                  <a:pt x="18103" y="0"/>
                </a:moveTo>
                <a:lnTo>
                  <a:pt x="18143" y="0"/>
                </a:lnTo>
                <a:lnTo>
                  <a:pt x="18143" y="21"/>
                </a:lnTo>
                <a:lnTo>
                  <a:pt x="18103" y="21"/>
                </a:lnTo>
                <a:lnTo>
                  <a:pt x="18103" y="0"/>
                </a:lnTo>
                <a:moveTo>
                  <a:pt x="18184" y="0"/>
                </a:moveTo>
                <a:lnTo>
                  <a:pt x="18224" y="0"/>
                </a:lnTo>
                <a:lnTo>
                  <a:pt x="18224" y="21"/>
                </a:lnTo>
                <a:lnTo>
                  <a:pt x="18184" y="21"/>
                </a:lnTo>
                <a:lnTo>
                  <a:pt x="18184" y="0"/>
                </a:lnTo>
                <a:moveTo>
                  <a:pt x="18265" y="0"/>
                </a:moveTo>
                <a:lnTo>
                  <a:pt x="18305" y="0"/>
                </a:lnTo>
                <a:lnTo>
                  <a:pt x="18305" y="21"/>
                </a:lnTo>
                <a:lnTo>
                  <a:pt x="18265" y="21"/>
                </a:lnTo>
                <a:lnTo>
                  <a:pt x="18265" y="0"/>
                </a:lnTo>
                <a:moveTo>
                  <a:pt x="18345" y="0"/>
                </a:moveTo>
                <a:lnTo>
                  <a:pt x="18386" y="0"/>
                </a:lnTo>
                <a:lnTo>
                  <a:pt x="18386" y="21"/>
                </a:lnTo>
                <a:lnTo>
                  <a:pt x="18345" y="21"/>
                </a:lnTo>
                <a:lnTo>
                  <a:pt x="18345" y="0"/>
                </a:lnTo>
                <a:moveTo>
                  <a:pt x="18426" y="0"/>
                </a:moveTo>
                <a:lnTo>
                  <a:pt x="18467" y="0"/>
                </a:lnTo>
                <a:lnTo>
                  <a:pt x="18467" y="21"/>
                </a:lnTo>
                <a:lnTo>
                  <a:pt x="18426" y="21"/>
                </a:lnTo>
                <a:lnTo>
                  <a:pt x="18426" y="0"/>
                </a:lnTo>
                <a:moveTo>
                  <a:pt x="18507" y="0"/>
                </a:moveTo>
                <a:lnTo>
                  <a:pt x="18547" y="0"/>
                </a:lnTo>
                <a:lnTo>
                  <a:pt x="18547" y="21"/>
                </a:lnTo>
                <a:lnTo>
                  <a:pt x="18507" y="21"/>
                </a:lnTo>
                <a:lnTo>
                  <a:pt x="18507" y="0"/>
                </a:lnTo>
                <a:moveTo>
                  <a:pt x="18588" y="0"/>
                </a:moveTo>
                <a:lnTo>
                  <a:pt x="18628" y="0"/>
                </a:lnTo>
                <a:lnTo>
                  <a:pt x="18628" y="21"/>
                </a:lnTo>
                <a:lnTo>
                  <a:pt x="18588" y="21"/>
                </a:lnTo>
                <a:lnTo>
                  <a:pt x="18588" y="0"/>
                </a:lnTo>
                <a:moveTo>
                  <a:pt x="18669" y="0"/>
                </a:moveTo>
                <a:lnTo>
                  <a:pt x="18709" y="0"/>
                </a:lnTo>
                <a:lnTo>
                  <a:pt x="18709" y="21"/>
                </a:lnTo>
                <a:lnTo>
                  <a:pt x="18669" y="21"/>
                </a:lnTo>
                <a:lnTo>
                  <a:pt x="18669" y="0"/>
                </a:lnTo>
                <a:moveTo>
                  <a:pt x="18750" y="0"/>
                </a:moveTo>
                <a:lnTo>
                  <a:pt x="18790" y="0"/>
                </a:lnTo>
                <a:lnTo>
                  <a:pt x="18790" y="21"/>
                </a:lnTo>
                <a:lnTo>
                  <a:pt x="18750" y="21"/>
                </a:lnTo>
                <a:lnTo>
                  <a:pt x="18750" y="0"/>
                </a:lnTo>
                <a:moveTo>
                  <a:pt x="18830" y="0"/>
                </a:moveTo>
                <a:lnTo>
                  <a:pt x="18871" y="0"/>
                </a:lnTo>
                <a:lnTo>
                  <a:pt x="18871" y="21"/>
                </a:lnTo>
                <a:lnTo>
                  <a:pt x="18830" y="21"/>
                </a:lnTo>
                <a:lnTo>
                  <a:pt x="18830" y="0"/>
                </a:lnTo>
                <a:moveTo>
                  <a:pt x="18911" y="0"/>
                </a:moveTo>
                <a:lnTo>
                  <a:pt x="18952" y="0"/>
                </a:lnTo>
                <a:lnTo>
                  <a:pt x="18952" y="21"/>
                </a:lnTo>
                <a:lnTo>
                  <a:pt x="18911" y="21"/>
                </a:lnTo>
                <a:lnTo>
                  <a:pt x="1891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406400" y="3800880"/>
            <a:ext cx="2225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conﬁrm: Appointment booked, Slot busy, Task in-progress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775800" y="4007880"/>
            <a:ext cx="2232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[Task s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1039680" y="4258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1068480" y="4283640"/>
            <a:ext cx="3207240" cy="7560"/>
          </a:xfrm>
          <a:custGeom>
            <a:avLst/>
            <a:gdLst/>
            <a:ahLst/>
            <a:rect l="0" t="0" r="r" b="b"/>
            <a:pathLst>
              <a:path w="8909" h="21">
                <a:moveTo>
                  <a:pt x="0" y="0"/>
                </a:moveTo>
                <a:lnTo>
                  <a:pt x="41" y="0"/>
                </a:lnTo>
                <a:lnTo>
                  <a:pt x="41" y="21"/>
                </a:lnTo>
                <a:lnTo>
                  <a:pt x="0" y="21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1"/>
                </a:lnTo>
                <a:lnTo>
                  <a:pt x="81" y="21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1"/>
                </a:lnTo>
                <a:lnTo>
                  <a:pt x="162" y="21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1"/>
                </a:lnTo>
                <a:lnTo>
                  <a:pt x="243" y="21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1"/>
                </a:lnTo>
                <a:lnTo>
                  <a:pt x="324" y="21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1"/>
                </a:lnTo>
                <a:lnTo>
                  <a:pt x="485" y="21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1"/>
                </a:lnTo>
                <a:lnTo>
                  <a:pt x="566" y="21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1"/>
                </a:lnTo>
                <a:lnTo>
                  <a:pt x="647" y="21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1"/>
                </a:lnTo>
                <a:lnTo>
                  <a:pt x="728" y="21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1"/>
                </a:lnTo>
                <a:lnTo>
                  <a:pt x="809" y="21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1"/>
                </a:lnTo>
                <a:lnTo>
                  <a:pt x="889" y="21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1"/>
                </a:lnTo>
                <a:lnTo>
                  <a:pt x="970" y="21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1"/>
                </a:lnTo>
                <a:lnTo>
                  <a:pt x="1051" y="21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1"/>
                </a:lnTo>
                <a:lnTo>
                  <a:pt x="1132" y="21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1"/>
                </a:lnTo>
                <a:lnTo>
                  <a:pt x="1213" y="21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1"/>
                </a:lnTo>
                <a:lnTo>
                  <a:pt x="1293" y="21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1"/>
                </a:lnTo>
                <a:lnTo>
                  <a:pt x="1374" y="21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1"/>
                </a:lnTo>
                <a:lnTo>
                  <a:pt x="1455" y="21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1"/>
                </a:lnTo>
                <a:lnTo>
                  <a:pt x="1537" y="21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1"/>
                </a:lnTo>
                <a:lnTo>
                  <a:pt x="1618" y="21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1"/>
                </a:lnTo>
                <a:lnTo>
                  <a:pt x="1699" y="21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1"/>
                </a:lnTo>
                <a:lnTo>
                  <a:pt x="1779" y="21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1"/>
                </a:lnTo>
                <a:lnTo>
                  <a:pt x="1860" y="21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1"/>
                </a:lnTo>
                <a:lnTo>
                  <a:pt x="1941" y="21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1"/>
                </a:lnTo>
                <a:lnTo>
                  <a:pt x="2022" y="21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1"/>
                </a:lnTo>
                <a:lnTo>
                  <a:pt x="2103" y="21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1"/>
                </a:lnTo>
                <a:lnTo>
                  <a:pt x="2183" y="21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1"/>
                </a:lnTo>
                <a:lnTo>
                  <a:pt x="2264" y="21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1"/>
                </a:lnTo>
                <a:lnTo>
                  <a:pt x="2345" y="21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1"/>
                </a:lnTo>
                <a:lnTo>
                  <a:pt x="2426" y="21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1"/>
                </a:lnTo>
                <a:lnTo>
                  <a:pt x="2507" y="21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1"/>
                </a:lnTo>
                <a:lnTo>
                  <a:pt x="2587" y="21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1"/>
                </a:lnTo>
                <a:lnTo>
                  <a:pt x="2668" y="21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1"/>
                </a:lnTo>
                <a:lnTo>
                  <a:pt x="2749" y="21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1"/>
                </a:lnTo>
                <a:lnTo>
                  <a:pt x="2830" y="21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1"/>
                </a:lnTo>
                <a:lnTo>
                  <a:pt x="2911" y="21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1"/>
                </a:lnTo>
                <a:lnTo>
                  <a:pt x="2992" y="21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1"/>
                </a:lnTo>
                <a:lnTo>
                  <a:pt x="3072" y="21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1"/>
                </a:lnTo>
                <a:lnTo>
                  <a:pt x="3153" y="21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1"/>
                </a:lnTo>
                <a:lnTo>
                  <a:pt x="3234" y="21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1"/>
                </a:lnTo>
                <a:lnTo>
                  <a:pt x="3315" y="21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1"/>
                </a:lnTo>
                <a:lnTo>
                  <a:pt x="3396" y="21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1"/>
                </a:lnTo>
                <a:lnTo>
                  <a:pt x="3476" y="21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1"/>
                </a:lnTo>
                <a:lnTo>
                  <a:pt x="3557" y="21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1"/>
                </a:lnTo>
                <a:lnTo>
                  <a:pt x="3638" y="21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1"/>
                </a:lnTo>
                <a:lnTo>
                  <a:pt x="3719" y="21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1"/>
                </a:lnTo>
                <a:lnTo>
                  <a:pt x="3800" y="21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1"/>
                </a:lnTo>
                <a:lnTo>
                  <a:pt x="3880" y="21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1"/>
                </a:lnTo>
                <a:lnTo>
                  <a:pt x="3961" y="21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1"/>
                </a:lnTo>
                <a:lnTo>
                  <a:pt x="4042" y="21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1"/>
                </a:lnTo>
                <a:lnTo>
                  <a:pt x="4123" y="21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1"/>
                </a:lnTo>
                <a:lnTo>
                  <a:pt x="4204" y="21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1"/>
                </a:lnTo>
                <a:lnTo>
                  <a:pt x="4285" y="21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1"/>
                </a:lnTo>
                <a:lnTo>
                  <a:pt x="4365" y="21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1"/>
                </a:lnTo>
                <a:lnTo>
                  <a:pt x="4446" y="21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1"/>
                </a:lnTo>
                <a:lnTo>
                  <a:pt x="4527" y="21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1"/>
                </a:lnTo>
                <a:lnTo>
                  <a:pt x="4608" y="21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1"/>
                </a:lnTo>
                <a:lnTo>
                  <a:pt x="4689" y="21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1"/>
                </a:lnTo>
                <a:lnTo>
                  <a:pt x="4769" y="21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1"/>
                </a:lnTo>
                <a:lnTo>
                  <a:pt x="4850" y="21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1"/>
                </a:lnTo>
                <a:lnTo>
                  <a:pt x="4931" y="21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1"/>
                </a:lnTo>
                <a:lnTo>
                  <a:pt x="5012" y="21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1"/>
                </a:lnTo>
                <a:lnTo>
                  <a:pt x="5093" y="21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1"/>
                </a:lnTo>
                <a:lnTo>
                  <a:pt x="5174" y="21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1"/>
                </a:lnTo>
                <a:lnTo>
                  <a:pt x="5254" y="21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1"/>
                </a:lnTo>
                <a:lnTo>
                  <a:pt x="5335" y="21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1"/>
                </a:lnTo>
                <a:lnTo>
                  <a:pt x="5416" y="21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1"/>
                </a:lnTo>
                <a:lnTo>
                  <a:pt x="5497" y="21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1"/>
                </a:lnTo>
                <a:lnTo>
                  <a:pt x="5578" y="21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1"/>
                </a:lnTo>
                <a:lnTo>
                  <a:pt x="5658" y="21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1"/>
                </a:lnTo>
                <a:lnTo>
                  <a:pt x="5739" y="21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1"/>
                </a:lnTo>
                <a:lnTo>
                  <a:pt x="5820" y="21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1"/>
                </a:lnTo>
                <a:lnTo>
                  <a:pt x="5901" y="21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1"/>
                </a:lnTo>
                <a:lnTo>
                  <a:pt x="5982" y="21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1"/>
                </a:lnTo>
                <a:lnTo>
                  <a:pt x="6062" y="21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1"/>
                </a:lnTo>
                <a:lnTo>
                  <a:pt x="6143" y="21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1"/>
                </a:lnTo>
                <a:lnTo>
                  <a:pt x="6224" y="21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1"/>
                </a:lnTo>
                <a:lnTo>
                  <a:pt x="6305" y="21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1"/>
                </a:lnTo>
                <a:lnTo>
                  <a:pt x="6386" y="21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1"/>
                </a:lnTo>
                <a:lnTo>
                  <a:pt x="6467" y="21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1"/>
                </a:lnTo>
                <a:lnTo>
                  <a:pt x="6547" y="21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1"/>
                </a:lnTo>
                <a:lnTo>
                  <a:pt x="6628" y="21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1"/>
                </a:lnTo>
                <a:lnTo>
                  <a:pt x="6709" y="21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1"/>
                </a:lnTo>
                <a:lnTo>
                  <a:pt x="6790" y="21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1"/>
                </a:lnTo>
                <a:lnTo>
                  <a:pt x="6871" y="21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1"/>
                </a:lnTo>
                <a:lnTo>
                  <a:pt x="6951" y="21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1"/>
                </a:lnTo>
                <a:lnTo>
                  <a:pt x="7032" y="21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1"/>
                </a:lnTo>
                <a:lnTo>
                  <a:pt x="7113" y="21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1"/>
                </a:lnTo>
                <a:lnTo>
                  <a:pt x="7194" y="21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1"/>
                </a:lnTo>
                <a:lnTo>
                  <a:pt x="7275" y="21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1"/>
                </a:lnTo>
                <a:lnTo>
                  <a:pt x="7356" y="21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1"/>
                </a:lnTo>
                <a:lnTo>
                  <a:pt x="7436" y="21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1"/>
                </a:lnTo>
                <a:lnTo>
                  <a:pt x="7517" y="21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1"/>
                </a:lnTo>
                <a:lnTo>
                  <a:pt x="7598" y="21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1"/>
                </a:lnTo>
                <a:lnTo>
                  <a:pt x="7679" y="21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1"/>
                </a:lnTo>
                <a:lnTo>
                  <a:pt x="7760" y="21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1"/>
                </a:lnTo>
                <a:lnTo>
                  <a:pt x="7840" y="21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1"/>
                </a:lnTo>
                <a:lnTo>
                  <a:pt x="7921" y="21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1"/>
                </a:lnTo>
                <a:lnTo>
                  <a:pt x="8002" y="21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1"/>
                </a:lnTo>
                <a:lnTo>
                  <a:pt x="8083" y="21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1"/>
                </a:lnTo>
                <a:lnTo>
                  <a:pt x="8164" y="21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1"/>
                </a:lnTo>
                <a:lnTo>
                  <a:pt x="8244" y="21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1"/>
                </a:lnTo>
                <a:lnTo>
                  <a:pt x="8325" y="21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1"/>
                </a:lnTo>
                <a:lnTo>
                  <a:pt x="8406" y="21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1"/>
                </a:lnTo>
                <a:lnTo>
                  <a:pt x="8487" y="21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1"/>
                </a:lnTo>
                <a:lnTo>
                  <a:pt x="8568" y="21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1"/>
                </a:lnTo>
                <a:lnTo>
                  <a:pt x="8649" y="21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1"/>
                </a:lnTo>
                <a:lnTo>
                  <a:pt x="8729" y="21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1"/>
                </a:lnTo>
                <a:lnTo>
                  <a:pt x="8810" y="21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1"/>
                </a:lnTo>
                <a:lnTo>
                  <a:pt x="8891" y="21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093680" y="4007880"/>
            <a:ext cx="13892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ll requested / on-hold — not yet acted on]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fill="none"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fill="none"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1155960" y="4155120"/>
            <a:ext cx="15764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 / on-hold, statusReason)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110240" y="4429440"/>
            <a:ext cx="1713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keep watching the Task; retry once accepted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66720" y="5774400"/>
            <a:ext cx="7582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Monitor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this referral's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to know when it has been acted on, then book.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66720" y="1161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715320" y="1928880"/>
            <a:ext cx="2084760" cy="879480"/>
          </a:xfrm>
          <a:custGeom>
            <a:avLst/>
            <a:gdLst/>
            <a:ahLst/>
            <a:rect l="0" t="0" r="r" b="b"/>
            <a:pathLst>
              <a:path w="5791" h="2443">
                <a:moveTo>
                  <a:pt x="0" y="0"/>
                </a:moveTo>
                <a:lnTo>
                  <a:pt x="5791" y="0"/>
                </a:lnTo>
                <a:lnTo>
                  <a:pt x="5791" y="2443"/>
                </a:lnTo>
                <a:lnTo>
                  <a:pt x="0" y="2443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763920" y="2059200"/>
            <a:ext cx="1987560" cy="405720"/>
          </a:xfrm>
          <a:custGeom>
            <a:avLst/>
            <a:gdLst/>
            <a:ahLst/>
            <a:rect l="0" t="0" r="r" b="b"/>
            <a:pathLst>
              <a:path w="5521" h="1127">
                <a:moveTo>
                  <a:pt x="0" y="0"/>
                </a:moveTo>
                <a:lnTo>
                  <a:pt x="5521" y="0"/>
                </a:lnTo>
                <a:lnTo>
                  <a:pt x="5521" y="1127"/>
                </a:lnTo>
                <a:lnTo>
                  <a:pt x="0" y="1127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763920" y="2876400"/>
            <a:ext cx="1987560" cy="1252440"/>
          </a:xfrm>
          <a:custGeom>
            <a:avLst/>
            <a:gdLst/>
            <a:ahLst/>
            <a:rect l="0" t="0" r="r" b="b"/>
            <a:pathLst>
              <a:path w="5521" h="3479">
                <a:moveTo>
                  <a:pt x="0" y="0"/>
                </a:moveTo>
                <a:lnTo>
                  <a:pt x="5521" y="0"/>
                </a:lnTo>
                <a:lnTo>
                  <a:pt x="5521" y="3479"/>
                </a:lnTo>
                <a:lnTo>
                  <a:pt x="0" y="347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940680" y="1846080"/>
            <a:ext cx="39240" cy="1608840"/>
          </a:xfrm>
          <a:custGeom>
            <a:avLst/>
            <a:gdLst/>
            <a:ahLst/>
            <a:rect l="0" t="0" r="r" b="b"/>
            <a:pathLst>
              <a:path w="109" h="4469">
                <a:moveTo>
                  <a:pt x="0" y="0"/>
                </a:moveTo>
                <a:lnTo>
                  <a:pt x="109" y="0"/>
                </a:lnTo>
                <a:lnTo>
                  <a:pt x="109" y="4469"/>
                </a:lnTo>
                <a:lnTo>
                  <a:pt x="0" y="446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957600" y="1846080"/>
            <a:ext cx="3240" cy="1585800"/>
          </a:xfrm>
          <a:custGeom>
            <a:avLst/>
            <a:gdLst/>
            <a:ahLst/>
            <a:rect l="0" t="0" r="r" b="b"/>
            <a:pathLst>
              <a:path w="9" h="4405">
                <a:moveTo>
                  <a:pt x="9" y="0"/>
                </a:moveTo>
                <a:lnTo>
                  <a:pt x="9" y="67"/>
                </a:lnTo>
                <a:lnTo>
                  <a:pt x="0" y="67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8"/>
                </a:lnTo>
                <a:lnTo>
                  <a:pt x="0" y="338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1"/>
                </a:moveTo>
                <a:lnTo>
                  <a:pt x="9" y="1559"/>
                </a:lnTo>
                <a:lnTo>
                  <a:pt x="0" y="1559"/>
                </a:lnTo>
                <a:lnTo>
                  <a:pt x="0" y="1491"/>
                </a:lnTo>
                <a:lnTo>
                  <a:pt x="9" y="1491"/>
                </a:lnTo>
                <a:moveTo>
                  <a:pt x="9" y="1627"/>
                </a:moveTo>
                <a:lnTo>
                  <a:pt x="9" y="1695"/>
                </a:lnTo>
                <a:lnTo>
                  <a:pt x="0" y="1695"/>
                </a:lnTo>
                <a:lnTo>
                  <a:pt x="0" y="1627"/>
                </a:lnTo>
                <a:lnTo>
                  <a:pt x="9" y="1627"/>
                </a:lnTo>
                <a:moveTo>
                  <a:pt x="9" y="1762"/>
                </a:moveTo>
                <a:lnTo>
                  <a:pt x="9" y="1830"/>
                </a:lnTo>
                <a:lnTo>
                  <a:pt x="0" y="1830"/>
                </a:lnTo>
                <a:lnTo>
                  <a:pt x="0" y="1762"/>
                </a:lnTo>
                <a:lnTo>
                  <a:pt x="9" y="1762"/>
                </a:lnTo>
                <a:moveTo>
                  <a:pt x="9" y="1898"/>
                </a:moveTo>
                <a:lnTo>
                  <a:pt x="9" y="1966"/>
                </a:lnTo>
                <a:lnTo>
                  <a:pt x="0" y="1966"/>
                </a:lnTo>
                <a:lnTo>
                  <a:pt x="0" y="1898"/>
                </a:lnTo>
                <a:lnTo>
                  <a:pt x="9" y="1898"/>
                </a:lnTo>
                <a:moveTo>
                  <a:pt x="9" y="2033"/>
                </a:moveTo>
                <a:lnTo>
                  <a:pt x="9" y="2101"/>
                </a:lnTo>
                <a:lnTo>
                  <a:pt x="0" y="2101"/>
                </a:lnTo>
                <a:lnTo>
                  <a:pt x="0" y="2033"/>
                </a:lnTo>
                <a:lnTo>
                  <a:pt x="9" y="2033"/>
                </a:lnTo>
                <a:moveTo>
                  <a:pt x="9" y="2169"/>
                </a:moveTo>
                <a:lnTo>
                  <a:pt x="9" y="2237"/>
                </a:lnTo>
                <a:lnTo>
                  <a:pt x="0" y="2237"/>
                </a:lnTo>
                <a:lnTo>
                  <a:pt x="0" y="2169"/>
                </a:lnTo>
                <a:lnTo>
                  <a:pt x="9" y="2169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5"/>
                </a:moveTo>
                <a:lnTo>
                  <a:pt x="9" y="2643"/>
                </a:lnTo>
                <a:lnTo>
                  <a:pt x="0" y="2643"/>
                </a:lnTo>
                <a:lnTo>
                  <a:pt x="0" y="2575"/>
                </a:lnTo>
                <a:lnTo>
                  <a:pt x="9" y="2575"/>
                </a:lnTo>
                <a:moveTo>
                  <a:pt x="9" y="2711"/>
                </a:moveTo>
                <a:lnTo>
                  <a:pt x="9" y="2779"/>
                </a:lnTo>
                <a:lnTo>
                  <a:pt x="0" y="2779"/>
                </a:lnTo>
                <a:lnTo>
                  <a:pt x="0" y="2711"/>
                </a:lnTo>
                <a:lnTo>
                  <a:pt x="9" y="2711"/>
                </a:lnTo>
                <a:moveTo>
                  <a:pt x="9" y="2846"/>
                </a:moveTo>
                <a:lnTo>
                  <a:pt x="9" y="2914"/>
                </a:lnTo>
                <a:lnTo>
                  <a:pt x="0" y="2914"/>
                </a:lnTo>
                <a:lnTo>
                  <a:pt x="0" y="2846"/>
                </a:lnTo>
                <a:lnTo>
                  <a:pt x="9" y="2846"/>
                </a:lnTo>
                <a:moveTo>
                  <a:pt x="9" y="2982"/>
                </a:moveTo>
                <a:lnTo>
                  <a:pt x="9" y="3050"/>
                </a:lnTo>
                <a:lnTo>
                  <a:pt x="0" y="3050"/>
                </a:lnTo>
                <a:lnTo>
                  <a:pt x="0" y="2982"/>
                </a:lnTo>
                <a:lnTo>
                  <a:pt x="9" y="2982"/>
                </a:lnTo>
                <a:moveTo>
                  <a:pt x="9" y="3117"/>
                </a:moveTo>
                <a:lnTo>
                  <a:pt x="9" y="3185"/>
                </a:lnTo>
                <a:lnTo>
                  <a:pt x="0" y="3185"/>
                </a:lnTo>
                <a:lnTo>
                  <a:pt x="0" y="3117"/>
                </a:lnTo>
                <a:lnTo>
                  <a:pt x="9" y="3117"/>
                </a:lnTo>
                <a:moveTo>
                  <a:pt x="9" y="3253"/>
                </a:moveTo>
                <a:lnTo>
                  <a:pt x="9" y="3321"/>
                </a:lnTo>
                <a:lnTo>
                  <a:pt x="0" y="3321"/>
                </a:lnTo>
                <a:lnTo>
                  <a:pt x="0" y="3253"/>
                </a:lnTo>
                <a:lnTo>
                  <a:pt x="9" y="3253"/>
                </a:lnTo>
                <a:moveTo>
                  <a:pt x="9" y="3388"/>
                </a:moveTo>
                <a:lnTo>
                  <a:pt x="9" y="3456"/>
                </a:lnTo>
                <a:lnTo>
                  <a:pt x="0" y="3456"/>
                </a:lnTo>
                <a:lnTo>
                  <a:pt x="0" y="3388"/>
                </a:lnTo>
                <a:lnTo>
                  <a:pt x="9" y="3388"/>
                </a:lnTo>
                <a:moveTo>
                  <a:pt x="9" y="3524"/>
                </a:moveTo>
                <a:lnTo>
                  <a:pt x="9" y="3592"/>
                </a:lnTo>
                <a:lnTo>
                  <a:pt x="0" y="3592"/>
                </a:lnTo>
                <a:lnTo>
                  <a:pt x="0" y="3524"/>
                </a:lnTo>
                <a:lnTo>
                  <a:pt x="9" y="3524"/>
                </a:lnTo>
                <a:moveTo>
                  <a:pt x="9" y="3659"/>
                </a:moveTo>
                <a:lnTo>
                  <a:pt x="9" y="3727"/>
                </a:lnTo>
                <a:lnTo>
                  <a:pt x="0" y="3727"/>
                </a:lnTo>
                <a:lnTo>
                  <a:pt x="0" y="3659"/>
                </a:lnTo>
                <a:lnTo>
                  <a:pt x="9" y="3659"/>
                </a:lnTo>
                <a:moveTo>
                  <a:pt x="9" y="3795"/>
                </a:moveTo>
                <a:lnTo>
                  <a:pt x="9" y="3863"/>
                </a:lnTo>
                <a:lnTo>
                  <a:pt x="0" y="3863"/>
                </a:lnTo>
                <a:lnTo>
                  <a:pt x="0" y="3795"/>
                </a:lnTo>
                <a:lnTo>
                  <a:pt x="9" y="3795"/>
                </a:lnTo>
                <a:moveTo>
                  <a:pt x="9" y="3931"/>
                </a:moveTo>
                <a:lnTo>
                  <a:pt x="9" y="3998"/>
                </a:lnTo>
                <a:lnTo>
                  <a:pt x="0" y="3998"/>
                </a:lnTo>
                <a:lnTo>
                  <a:pt x="0" y="3931"/>
                </a:lnTo>
                <a:lnTo>
                  <a:pt x="9" y="3931"/>
                </a:lnTo>
                <a:moveTo>
                  <a:pt x="9" y="4066"/>
                </a:moveTo>
                <a:lnTo>
                  <a:pt x="9" y="4134"/>
                </a:lnTo>
                <a:lnTo>
                  <a:pt x="0" y="4134"/>
                </a:lnTo>
                <a:lnTo>
                  <a:pt x="0" y="4066"/>
                </a:lnTo>
                <a:lnTo>
                  <a:pt x="9" y="4066"/>
                </a:lnTo>
                <a:moveTo>
                  <a:pt x="9" y="4202"/>
                </a:moveTo>
                <a:lnTo>
                  <a:pt x="9" y="4269"/>
                </a:lnTo>
                <a:lnTo>
                  <a:pt x="0" y="4269"/>
                </a:lnTo>
                <a:lnTo>
                  <a:pt x="0" y="4202"/>
                </a:lnTo>
                <a:lnTo>
                  <a:pt x="9" y="4202"/>
                </a:lnTo>
                <a:moveTo>
                  <a:pt x="9" y="4337"/>
                </a:moveTo>
                <a:lnTo>
                  <a:pt x="9" y="4405"/>
                </a:lnTo>
                <a:lnTo>
                  <a:pt x="0" y="4405"/>
                </a:lnTo>
                <a:lnTo>
                  <a:pt x="0" y="4337"/>
                </a:lnTo>
                <a:lnTo>
                  <a:pt x="9" y="4337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957600" y="3454560"/>
            <a:ext cx="3240" cy="200520"/>
          </a:xfrm>
          <a:custGeom>
            <a:avLst/>
            <a:gdLst/>
            <a:ahLst/>
            <a:rect l="0" t="0" r="r" b="b"/>
            <a:pathLst>
              <a:path w="9" h="557">
                <a:moveTo>
                  <a:pt x="9" y="0"/>
                </a:moveTo>
                <a:lnTo>
                  <a:pt x="9" y="14"/>
                </a:lnTo>
                <a:lnTo>
                  <a:pt x="0" y="14"/>
                </a:lnTo>
                <a:lnTo>
                  <a:pt x="0" y="0"/>
                </a:lnTo>
                <a:lnTo>
                  <a:pt x="9" y="0"/>
                </a:lnTo>
                <a:moveTo>
                  <a:pt x="9" y="68"/>
                </a:moveTo>
                <a:lnTo>
                  <a:pt x="9" y="82"/>
                </a:lnTo>
                <a:lnTo>
                  <a:pt x="0" y="82"/>
                </a:lnTo>
                <a:lnTo>
                  <a:pt x="0" y="68"/>
                </a:lnTo>
                <a:lnTo>
                  <a:pt x="9" y="68"/>
                </a:lnTo>
                <a:moveTo>
                  <a:pt x="9" y="137"/>
                </a:moveTo>
                <a:lnTo>
                  <a:pt x="9" y="150"/>
                </a:lnTo>
                <a:lnTo>
                  <a:pt x="0" y="150"/>
                </a:lnTo>
                <a:lnTo>
                  <a:pt x="0" y="137"/>
                </a:lnTo>
                <a:lnTo>
                  <a:pt x="9" y="137"/>
                </a:lnTo>
                <a:moveTo>
                  <a:pt x="9" y="205"/>
                </a:moveTo>
                <a:lnTo>
                  <a:pt x="9" y="218"/>
                </a:lnTo>
                <a:lnTo>
                  <a:pt x="0" y="218"/>
                </a:lnTo>
                <a:lnTo>
                  <a:pt x="0" y="205"/>
                </a:lnTo>
                <a:lnTo>
                  <a:pt x="9" y="205"/>
                </a:lnTo>
                <a:moveTo>
                  <a:pt x="9" y="272"/>
                </a:moveTo>
                <a:lnTo>
                  <a:pt x="9" y="286"/>
                </a:lnTo>
                <a:lnTo>
                  <a:pt x="0" y="286"/>
                </a:lnTo>
                <a:lnTo>
                  <a:pt x="0" y="272"/>
                </a:lnTo>
                <a:lnTo>
                  <a:pt x="9" y="272"/>
                </a:lnTo>
                <a:moveTo>
                  <a:pt x="9" y="340"/>
                </a:moveTo>
                <a:lnTo>
                  <a:pt x="9" y="354"/>
                </a:lnTo>
                <a:lnTo>
                  <a:pt x="0" y="354"/>
                </a:lnTo>
                <a:lnTo>
                  <a:pt x="0" y="340"/>
                </a:lnTo>
                <a:lnTo>
                  <a:pt x="9" y="340"/>
                </a:lnTo>
                <a:moveTo>
                  <a:pt x="9" y="408"/>
                </a:moveTo>
                <a:lnTo>
                  <a:pt x="9" y="421"/>
                </a:lnTo>
                <a:lnTo>
                  <a:pt x="0" y="421"/>
                </a:lnTo>
                <a:lnTo>
                  <a:pt x="0" y="408"/>
                </a:lnTo>
                <a:lnTo>
                  <a:pt x="9" y="408"/>
                </a:lnTo>
                <a:moveTo>
                  <a:pt x="9" y="476"/>
                </a:moveTo>
                <a:lnTo>
                  <a:pt x="9" y="489"/>
                </a:lnTo>
                <a:lnTo>
                  <a:pt x="0" y="489"/>
                </a:lnTo>
                <a:lnTo>
                  <a:pt x="0" y="476"/>
                </a:lnTo>
                <a:lnTo>
                  <a:pt x="9" y="476"/>
                </a:lnTo>
                <a:moveTo>
                  <a:pt x="9" y="543"/>
                </a:moveTo>
                <a:lnTo>
                  <a:pt x="9" y="557"/>
                </a:lnTo>
                <a:lnTo>
                  <a:pt x="0" y="557"/>
                </a:lnTo>
                <a:lnTo>
                  <a:pt x="0" y="543"/>
                </a:lnTo>
                <a:lnTo>
                  <a:pt x="9" y="54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940680" y="3664440"/>
            <a:ext cx="39240" cy="990360"/>
          </a:xfrm>
          <a:custGeom>
            <a:avLst/>
            <a:gdLst/>
            <a:ahLst/>
            <a:rect l="0" t="0" r="r" b="b"/>
            <a:pathLst>
              <a:path w="109" h="2751">
                <a:moveTo>
                  <a:pt x="0" y="0"/>
                </a:moveTo>
                <a:lnTo>
                  <a:pt x="109" y="0"/>
                </a:lnTo>
                <a:lnTo>
                  <a:pt x="109" y="2751"/>
                </a:lnTo>
                <a:lnTo>
                  <a:pt x="0" y="275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957600" y="3664440"/>
            <a:ext cx="3240" cy="990360"/>
          </a:xfrm>
          <a:custGeom>
            <a:avLst/>
            <a:gdLst/>
            <a:ahLst/>
            <a:rect l="0" t="0" r="r" b="b"/>
            <a:pathLst>
              <a:path w="9" h="2751">
                <a:moveTo>
                  <a:pt x="9" y="0"/>
                </a:moveTo>
                <a:lnTo>
                  <a:pt x="9" y="68"/>
                </a:lnTo>
                <a:lnTo>
                  <a:pt x="0" y="68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9"/>
                </a:lnTo>
                <a:lnTo>
                  <a:pt x="0" y="339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0"/>
                </a:moveTo>
                <a:lnTo>
                  <a:pt x="9" y="1558"/>
                </a:lnTo>
                <a:lnTo>
                  <a:pt x="0" y="1558"/>
                </a:lnTo>
                <a:lnTo>
                  <a:pt x="0" y="1490"/>
                </a:lnTo>
                <a:lnTo>
                  <a:pt x="9" y="1490"/>
                </a:lnTo>
                <a:moveTo>
                  <a:pt x="9" y="1626"/>
                </a:moveTo>
                <a:lnTo>
                  <a:pt x="9" y="1694"/>
                </a:lnTo>
                <a:lnTo>
                  <a:pt x="0" y="1694"/>
                </a:lnTo>
                <a:lnTo>
                  <a:pt x="0" y="1626"/>
                </a:lnTo>
                <a:lnTo>
                  <a:pt x="9" y="1626"/>
                </a:lnTo>
                <a:moveTo>
                  <a:pt x="9" y="1761"/>
                </a:moveTo>
                <a:lnTo>
                  <a:pt x="9" y="1829"/>
                </a:lnTo>
                <a:lnTo>
                  <a:pt x="0" y="1829"/>
                </a:lnTo>
                <a:lnTo>
                  <a:pt x="0" y="1761"/>
                </a:lnTo>
                <a:lnTo>
                  <a:pt x="9" y="1761"/>
                </a:lnTo>
                <a:moveTo>
                  <a:pt x="9" y="1897"/>
                </a:moveTo>
                <a:lnTo>
                  <a:pt x="9" y="1965"/>
                </a:lnTo>
                <a:lnTo>
                  <a:pt x="0" y="1965"/>
                </a:lnTo>
                <a:lnTo>
                  <a:pt x="0" y="1897"/>
                </a:lnTo>
                <a:lnTo>
                  <a:pt x="9" y="1897"/>
                </a:lnTo>
                <a:moveTo>
                  <a:pt x="9" y="2032"/>
                </a:moveTo>
                <a:lnTo>
                  <a:pt x="9" y="2100"/>
                </a:lnTo>
                <a:lnTo>
                  <a:pt x="0" y="2100"/>
                </a:lnTo>
                <a:lnTo>
                  <a:pt x="0" y="2032"/>
                </a:lnTo>
                <a:lnTo>
                  <a:pt x="9" y="2032"/>
                </a:lnTo>
                <a:moveTo>
                  <a:pt x="9" y="2168"/>
                </a:moveTo>
                <a:lnTo>
                  <a:pt x="9" y="2237"/>
                </a:lnTo>
                <a:lnTo>
                  <a:pt x="0" y="2237"/>
                </a:lnTo>
                <a:lnTo>
                  <a:pt x="0" y="2168"/>
                </a:lnTo>
                <a:lnTo>
                  <a:pt x="9" y="2168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6"/>
                </a:moveTo>
                <a:lnTo>
                  <a:pt x="9" y="2643"/>
                </a:lnTo>
                <a:lnTo>
                  <a:pt x="0" y="2643"/>
                </a:lnTo>
                <a:lnTo>
                  <a:pt x="0" y="2576"/>
                </a:lnTo>
                <a:lnTo>
                  <a:pt x="9" y="2576"/>
                </a:lnTo>
                <a:moveTo>
                  <a:pt x="9" y="2711"/>
                </a:moveTo>
                <a:lnTo>
                  <a:pt x="9" y="2751"/>
                </a:lnTo>
                <a:lnTo>
                  <a:pt x="0" y="2751"/>
                </a:lnTo>
                <a:lnTo>
                  <a:pt x="0" y="2711"/>
                </a:lnTo>
                <a:lnTo>
                  <a:pt x="9" y="271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2521080" y="1846080"/>
            <a:ext cx="39600" cy="1608840"/>
          </a:xfrm>
          <a:custGeom>
            <a:avLst/>
            <a:gdLst/>
            <a:ahLst/>
            <a:rect l="0" t="0" r="r" b="b"/>
            <a:pathLst>
              <a:path w="110" h="4469">
                <a:moveTo>
                  <a:pt x="0" y="0"/>
                </a:moveTo>
                <a:lnTo>
                  <a:pt x="110" y="0"/>
                </a:lnTo>
                <a:lnTo>
                  <a:pt x="110" y="4469"/>
                </a:lnTo>
                <a:lnTo>
                  <a:pt x="0" y="446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2538720" y="1846080"/>
            <a:ext cx="3240" cy="1585800"/>
          </a:xfrm>
          <a:custGeom>
            <a:avLst/>
            <a:gdLst/>
            <a:ahLst/>
            <a:rect l="0" t="0" r="r" b="b"/>
            <a:pathLst>
              <a:path w="9" h="4405">
                <a:moveTo>
                  <a:pt x="9" y="0"/>
                </a:moveTo>
                <a:lnTo>
                  <a:pt x="9" y="67"/>
                </a:lnTo>
                <a:lnTo>
                  <a:pt x="0" y="67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8"/>
                </a:lnTo>
                <a:lnTo>
                  <a:pt x="0" y="338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1"/>
                </a:moveTo>
                <a:lnTo>
                  <a:pt x="9" y="1559"/>
                </a:lnTo>
                <a:lnTo>
                  <a:pt x="0" y="1559"/>
                </a:lnTo>
                <a:lnTo>
                  <a:pt x="0" y="1491"/>
                </a:lnTo>
                <a:lnTo>
                  <a:pt x="9" y="1491"/>
                </a:lnTo>
                <a:moveTo>
                  <a:pt x="9" y="1627"/>
                </a:moveTo>
                <a:lnTo>
                  <a:pt x="9" y="1695"/>
                </a:lnTo>
                <a:lnTo>
                  <a:pt x="0" y="1695"/>
                </a:lnTo>
                <a:lnTo>
                  <a:pt x="0" y="1627"/>
                </a:lnTo>
                <a:lnTo>
                  <a:pt x="9" y="1627"/>
                </a:lnTo>
                <a:moveTo>
                  <a:pt x="9" y="1762"/>
                </a:moveTo>
                <a:lnTo>
                  <a:pt x="9" y="1830"/>
                </a:lnTo>
                <a:lnTo>
                  <a:pt x="0" y="1830"/>
                </a:lnTo>
                <a:lnTo>
                  <a:pt x="0" y="1762"/>
                </a:lnTo>
                <a:lnTo>
                  <a:pt x="9" y="1762"/>
                </a:lnTo>
                <a:moveTo>
                  <a:pt x="9" y="1898"/>
                </a:moveTo>
                <a:lnTo>
                  <a:pt x="9" y="1966"/>
                </a:lnTo>
                <a:lnTo>
                  <a:pt x="0" y="1966"/>
                </a:lnTo>
                <a:lnTo>
                  <a:pt x="0" y="1898"/>
                </a:lnTo>
                <a:lnTo>
                  <a:pt x="9" y="1898"/>
                </a:lnTo>
                <a:moveTo>
                  <a:pt x="9" y="2033"/>
                </a:moveTo>
                <a:lnTo>
                  <a:pt x="9" y="2101"/>
                </a:lnTo>
                <a:lnTo>
                  <a:pt x="0" y="2101"/>
                </a:lnTo>
                <a:lnTo>
                  <a:pt x="0" y="2033"/>
                </a:lnTo>
                <a:lnTo>
                  <a:pt x="9" y="2033"/>
                </a:lnTo>
                <a:moveTo>
                  <a:pt x="9" y="2169"/>
                </a:moveTo>
                <a:lnTo>
                  <a:pt x="9" y="2237"/>
                </a:lnTo>
                <a:lnTo>
                  <a:pt x="0" y="2237"/>
                </a:lnTo>
                <a:lnTo>
                  <a:pt x="0" y="2169"/>
                </a:lnTo>
                <a:lnTo>
                  <a:pt x="9" y="2169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5"/>
                </a:moveTo>
                <a:lnTo>
                  <a:pt x="9" y="2643"/>
                </a:lnTo>
                <a:lnTo>
                  <a:pt x="0" y="2643"/>
                </a:lnTo>
                <a:lnTo>
                  <a:pt x="0" y="2575"/>
                </a:lnTo>
                <a:lnTo>
                  <a:pt x="9" y="2575"/>
                </a:lnTo>
                <a:moveTo>
                  <a:pt x="9" y="2711"/>
                </a:moveTo>
                <a:lnTo>
                  <a:pt x="9" y="2779"/>
                </a:lnTo>
                <a:lnTo>
                  <a:pt x="0" y="2779"/>
                </a:lnTo>
                <a:lnTo>
                  <a:pt x="0" y="2711"/>
                </a:lnTo>
                <a:lnTo>
                  <a:pt x="9" y="2711"/>
                </a:lnTo>
                <a:moveTo>
                  <a:pt x="9" y="2846"/>
                </a:moveTo>
                <a:lnTo>
                  <a:pt x="9" y="2914"/>
                </a:lnTo>
                <a:lnTo>
                  <a:pt x="0" y="2914"/>
                </a:lnTo>
                <a:lnTo>
                  <a:pt x="0" y="2846"/>
                </a:lnTo>
                <a:lnTo>
                  <a:pt x="9" y="2846"/>
                </a:lnTo>
                <a:moveTo>
                  <a:pt x="9" y="2982"/>
                </a:moveTo>
                <a:lnTo>
                  <a:pt x="9" y="3050"/>
                </a:lnTo>
                <a:lnTo>
                  <a:pt x="0" y="3050"/>
                </a:lnTo>
                <a:lnTo>
                  <a:pt x="0" y="2982"/>
                </a:lnTo>
                <a:lnTo>
                  <a:pt x="9" y="2982"/>
                </a:lnTo>
                <a:moveTo>
                  <a:pt x="9" y="3117"/>
                </a:moveTo>
                <a:lnTo>
                  <a:pt x="9" y="3185"/>
                </a:lnTo>
                <a:lnTo>
                  <a:pt x="0" y="3185"/>
                </a:lnTo>
                <a:lnTo>
                  <a:pt x="0" y="3117"/>
                </a:lnTo>
                <a:lnTo>
                  <a:pt x="9" y="3117"/>
                </a:lnTo>
                <a:moveTo>
                  <a:pt x="9" y="3253"/>
                </a:moveTo>
                <a:lnTo>
                  <a:pt x="9" y="3321"/>
                </a:lnTo>
                <a:lnTo>
                  <a:pt x="0" y="3321"/>
                </a:lnTo>
                <a:lnTo>
                  <a:pt x="0" y="3253"/>
                </a:lnTo>
                <a:lnTo>
                  <a:pt x="9" y="3253"/>
                </a:lnTo>
                <a:moveTo>
                  <a:pt x="9" y="3388"/>
                </a:moveTo>
                <a:lnTo>
                  <a:pt x="9" y="3456"/>
                </a:lnTo>
                <a:lnTo>
                  <a:pt x="0" y="3456"/>
                </a:lnTo>
                <a:lnTo>
                  <a:pt x="0" y="3388"/>
                </a:lnTo>
                <a:lnTo>
                  <a:pt x="9" y="3388"/>
                </a:lnTo>
                <a:moveTo>
                  <a:pt x="9" y="3524"/>
                </a:moveTo>
                <a:lnTo>
                  <a:pt x="9" y="3592"/>
                </a:lnTo>
                <a:lnTo>
                  <a:pt x="0" y="3592"/>
                </a:lnTo>
                <a:lnTo>
                  <a:pt x="0" y="3524"/>
                </a:lnTo>
                <a:lnTo>
                  <a:pt x="9" y="3524"/>
                </a:lnTo>
                <a:moveTo>
                  <a:pt x="9" y="3659"/>
                </a:moveTo>
                <a:lnTo>
                  <a:pt x="9" y="3727"/>
                </a:lnTo>
                <a:lnTo>
                  <a:pt x="0" y="3727"/>
                </a:lnTo>
                <a:lnTo>
                  <a:pt x="0" y="3659"/>
                </a:lnTo>
                <a:lnTo>
                  <a:pt x="9" y="3659"/>
                </a:lnTo>
                <a:moveTo>
                  <a:pt x="9" y="3795"/>
                </a:moveTo>
                <a:lnTo>
                  <a:pt x="9" y="3863"/>
                </a:lnTo>
                <a:lnTo>
                  <a:pt x="0" y="3863"/>
                </a:lnTo>
                <a:lnTo>
                  <a:pt x="0" y="3795"/>
                </a:lnTo>
                <a:lnTo>
                  <a:pt x="9" y="3795"/>
                </a:lnTo>
                <a:moveTo>
                  <a:pt x="9" y="3931"/>
                </a:moveTo>
                <a:lnTo>
                  <a:pt x="9" y="3998"/>
                </a:lnTo>
                <a:lnTo>
                  <a:pt x="0" y="3998"/>
                </a:lnTo>
                <a:lnTo>
                  <a:pt x="0" y="3931"/>
                </a:lnTo>
                <a:lnTo>
                  <a:pt x="9" y="3931"/>
                </a:lnTo>
                <a:moveTo>
                  <a:pt x="9" y="4066"/>
                </a:moveTo>
                <a:lnTo>
                  <a:pt x="9" y="4134"/>
                </a:lnTo>
                <a:lnTo>
                  <a:pt x="0" y="4134"/>
                </a:lnTo>
                <a:lnTo>
                  <a:pt x="0" y="4066"/>
                </a:lnTo>
                <a:lnTo>
                  <a:pt x="9" y="4066"/>
                </a:lnTo>
                <a:moveTo>
                  <a:pt x="9" y="4202"/>
                </a:moveTo>
                <a:lnTo>
                  <a:pt x="9" y="4269"/>
                </a:lnTo>
                <a:lnTo>
                  <a:pt x="0" y="4269"/>
                </a:lnTo>
                <a:lnTo>
                  <a:pt x="0" y="4202"/>
                </a:lnTo>
                <a:lnTo>
                  <a:pt x="9" y="4202"/>
                </a:lnTo>
                <a:moveTo>
                  <a:pt x="9" y="4337"/>
                </a:moveTo>
                <a:lnTo>
                  <a:pt x="9" y="4405"/>
                </a:lnTo>
                <a:lnTo>
                  <a:pt x="0" y="4405"/>
                </a:lnTo>
                <a:lnTo>
                  <a:pt x="0" y="4337"/>
                </a:lnTo>
                <a:lnTo>
                  <a:pt x="9" y="4337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2538720" y="3454560"/>
            <a:ext cx="3240" cy="200520"/>
          </a:xfrm>
          <a:custGeom>
            <a:avLst/>
            <a:gdLst/>
            <a:ahLst/>
            <a:rect l="0" t="0" r="r" b="b"/>
            <a:pathLst>
              <a:path w="9" h="557">
                <a:moveTo>
                  <a:pt x="9" y="0"/>
                </a:moveTo>
                <a:lnTo>
                  <a:pt x="9" y="14"/>
                </a:lnTo>
                <a:lnTo>
                  <a:pt x="0" y="14"/>
                </a:lnTo>
                <a:lnTo>
                  <a:pt x="0" y="0"/>
                </a:lnTo>
                <a:lnTo>
                  <a:pt x="9" y="0"/>
                </a:lnTo>
                <a:moveTo>
                  <a:pt x="9" y="68"/>
                </a:moveTo>
                <a:lnTo>
                  <a:pt x="9" y="82"/>
                </a:lnTo>
                <a:lnTo>
                  <a:pt x="0" y="82"/>
                </a:lnTo>
                <a:lnTo>
                  <a:pt x="0" y="68"/>
                </a:lnTo>
                <a:lnTo>
                  <a:pt x="9" y="68"/>
                </a:lnTo>
                <a:moveTo>
                  <a:pt x="9" y="137"/>
                </a:moveTo>
                <a:lnTo>
                  <a:pt x="9" y="150"/>
                </a:lnTo>
                <a:lnTo>
                  <a:pt x="0" y="150"/>
                </a:lnTo>
                <a:lnTo>
                  <a:pt x="0" y="137"/>
                </a:lnTo>
                <a:lnTo>
                  <a:pt x="9" y="137"/>
                </a:lnTo>
                <a:moveTo>
                  <a:pt x="9" y="205"/>
                </a:moveTo>
                <a:lnTo>
                  <a:pt x="9" y="218"/>
                </a:lnTo>
                <a:lnTo>
                  <a:pt x="0" y="218"/>
                </a:lnTo>
                <a:lnTo>
                  <a:pt x="0" y="205"/>
                </a:lnTo>
                <a:lnTo>
                  <a:pt x="9" y="205"/>
                </a:lnTo>
                <a:moveTo>
                  <a:pt x="9" y="272"/>
                </a:moveTo>
                <a:lnTo>
                  <a:pt x="9" y="286"/>
                </a:lnTo>
                <a:lnTo>
                  <a:pt x="0" y="286"/>
                </a:lnTo>
                <a:lnTo>
                  <a:pt x="0" y="272"/>
                </a:lnTo>
                <a:lnTo>
                  <a:pt x="9" y="272"/>
                </a:lnTo>
                <a:moveTo>
                  <a:pt x="9" y="340"/>
                </a:moveTo>
                <a:lnTo>
                  <a:pt x="9" y="354"/>
                </a:lnTo>
                <a:lnTo>
                  <a:pt x="0" y="354"/>
                </a:lnTo>
                <a:lnTo>
                  <a:pt x="0" y="340"/>
                </a:lnTo>
                <a:lnTo>
                  <a:pt x="9" y="340"/>
                </a:lnTo>
                <a:moveTo>
                  <a:pt x="9" y="408"/>
                </a:moveTo>
                <a:lnTo>
                  <a:pt x="9" y="421"/>
                </a:lnTo>
                <a:lnTo>
                  <a:pt x="0" y="421"/>
                </a:lnTo>
                <a:lnTo>
                  <a:pt x="0" y="408"/>
                </a:lnTo>
                <a:lnTo>
                  <a:pt x="9" y="408"/>
                </a:lnTo>
                <a:moveTo>
                  <a:pt x="9" y="476"/>
                </a:moveTo>
                <a:lnTo>
                  <a:pt x="9" y="489"/>
                </a:lnTo>
                <a:lnTo>
                  <a:pt x="0" y="489"/>
                </a:lnTo>
                <a:lnTo>
                  <a:pt x="0" y="476"/>
                </a:lnTo>
                <a:lnTo>
                  <a:pt x="9" y="476"/>
                </a:lnTo>
                <a:moveTo>
                  <a:pt x="9" y="543"/>
                </a:moveTo>
                <a:lnTo>
                  <a:pt x="9" y="557"/>
                </a:lnTo>
                <a:lnTo>
                  <a:pt x="0" y="557"/>
                </a:lnTo>
                <a:lnTo>
                  <a:pt x="0" y="543"/>
                </a:lnTo>
                <a:lnTo>
                  <a:pt x="9" y="54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2521080" y="3664440"/>
            <a:ext cx="39600" cy="990360"/>
          </a:xfrm>
          <a:custGeom>
            <a:avLst/>
            <a:gdLst/>
            <a:ahLst/>
            <a:rect l="0" t="0" r="r" b="b"/>
            <a:pathLst>
              <a:path w="110" h="2751">
                <a:moveTo>
                  <a:pt x="0" y="0"/>
                </a:moveTo>
                <a:lnTo>
                  <a:pt x="110" y="0"/>
                </a:lnTo>
                <a:lnTo>
                  <a:pt x="110" y="2751"/>
                </a:lnTo>
                <a:lnTo>
                  <a:pt x="0" y="275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2538720" y="3664440"/>
            <a:ext cx="3240" cy="990360"/>
          </a:xfrm>
          <a:custGeom>
            <a:avLst/>
            <a:gdLst/>
            <a:ahLst/>
            <a:rect l="0" t="0" r="r" b="b"/>
            <a:pathLst>
              <a:path w="9" h="2751">
                <a:moveTo>
                  <a:pt x="9" y="0"/>
                </a:moveTo>
                <a:lnTo>
                  <a:pt x="9" y="68"/>
                </a:lnTo>
                <a:lnTo>
                  <a:pt x="0" y="68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9"/>
                </a:lnTo>
                <a:lnTo>
                  <a:pt x="0" y="339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0"/>
                </a:moveTo>
                <a:lnTo>
                  <a:pt x="9" y="1558"/>
                </a:lnTo>
                <a:lnTo>
                  <a:pt x="0" y="1558"/>
                </a:lnTo>
                <a:lnTo>
                  <a:pt x="0" y="1490"/>
                </a:lnTo>
                <a:lnTo>
                  <a:pt x="9" y="1490"/>
                </a:lnTo>
                <a:moveTo>
                  <a:pt x="9" y="1626"/>
                </a:moveTo>
                <a:lnTo>
                  <a:pt x="9" y="1694"/>
                </a:lnTo>
                <a:lnTo>
                  <a:pt x="0" y="1694"/>
                </a:lnTo>
                <a:lnTo>
                  <a:pt x="0" y="1626"/>
                </a:lnTo>
                <a:lnTo>
                  <a:pt x="9" y="1626"/>
                </a:lnTo>
                <a:moveTo>
                  <a:pt x="9" y="1761"/>
                </a:moveTo>
                <a:lnTo>
                  <a:pt x="9" y="1829"/>
                </a:lnTo>
                <a:lnTo>
                  <a:pt x="0" y="1829"/>
                </a:lnTo>
                <a:lnTo>
                  <a:pt x="0" y="1761"/>
                </a:lnTo>
                <a:lnTo>
                  <a:pt x="9" y="1761"/>
                </a:lnTo>
                <a:moveTo>
                  <a:pt x="9" y="1897"/>
                </a:moveTo>
                <a:lnTo>
                  <a:pt x="9" y="1965"/>
                </a:lnTo>
                <a:lnTo>
                  <a:pt x="0" y="1965"/>
                </a:lnTo>
                <a:lnTo>
                  <a:pt x="0" y="1897"/>
                </a:lnTo>
                <a:lnTo>
                  <a:pt x="9" y="1897"/>
                </a:lnTo>
                <a:moveTo>
                  <a:pt x="9" y="2032"/>
                </a:moveTo>
                <a:lnTo>
                  <a:pt x="9" y="2100"/>
                </a:lnTo>
                <a:lnTo>
                  <a:pt x="0" y="2100"/>
                </a:lnTo>
                <a:lnTo>
                  <a:pt x="0" y="2032"/>
                </a:lnTo>
                <a:lnTo>
                  <a:pt x="9" y="2032"/>
                </a:lnTo>
                <a:moveTo>
                  <a:pt x="9" y="2168"/>
                </a:moveTo>
                <a:lnTo>
                  <a:pt x="9" y="2237"/>
                </a:lnTo>
                <a:lnTo>
                  <a:pt x="0" y="2237"/>
                </a:lnTo>
                <a:lnTo>
                  <a:pt x="0" y="2168"/>
                </a:lnTo>
                <a:lnTo>
                  <a:pt x="9" y="2168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6"/>
                </a:moveTo>
                <a:lnTo>
                  <a:pt x="9" y="2643"/>
                </a:lnTo>
                <a:lnTo>
                  <a:pt x="0" y="2643"/>
                </a:lnTo>
                <a:lnTo>
                  <a:pt x="0" y="2576"/>
                </a:lnTo>
                <a:lnTo>
                  <a:pt x="9" y="2576"/>
                </a:lnTo>
                <a:moveTo>
                  <a:pt x="9" y="2711"/>
                </a:moveTo>
                <a:lnTo>
                  <a:pt x="9" y="2751"/>
                </a:lnTo>
                <a:lnTo>
                  <a:pt x="0" y="2751"/>
                </a:lnTo>
                <a:lnTo>
                  <a:pt x="0" y="2711"/>
                </a:lnTo>
                <a:lnTo>
                  <a:pt x="9" y="271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666720" y="701280"/>
            <a:ext cx="35121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Tracking: poll vs subscribe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812880" y="1668240"/>
            <a:ext cx="232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921240" y="1369800"/>
            <a:ext cx="78120" cy="78120"/>
          </a:xfrm>
          <a:custGeom>
            <a:avLst/>
            <a:gdLst/>
            <a:ahLst/>
            <a:rect l="0" t="0" r="r" b="b"/>
            <a:pathLst>
              <a:path w="217" h="217">
                <a:moveTo>
                  <a:pt x="217" y="108"/>
                </a:moveTo>
                <a:cubicBezTo>
                  <a:pt x="217" y="122"/>
                  <a:pt x="214" y="136"/>
                  <a:pt x="209" y="150"/>
                </a:cubicBezTo>
                <a:cubicBezTo>
                  <a:pt x="203" y="163"/>
                  <a:pt x="196" y="175"/>
                  <a:pt x="186" y="185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7"/>
                  <a:pt x="108" y="217"/>
                </a:cubicBezTo>
                <a:cubicBezTo>
                  <a:pt x="94" y="217"/>
                  <a:pt x="80" y="215"/>
                  <a:pt x="67" y="209"/>
                </a:cubicBezTo>
                <a:cubicBezTo>
                  <a:pt x="53" y="204"/>
                  <a:pt x="42" y="196"/>
                  <a:pt x="31" y="185"/>
                </a:cubicBezTo>
                <a:cubicBezTo>
                  <a:pt x="21" y="175"/>
                  <a:pt x="13" y="163"/>
                  <a:pt x="8" y="150"/>
                </a:cubicBezTo>
                <a:cubicBezTo>
                  <a:pt x="3" y="136"/>
                  <a:pt x="0" y="122"/>
                  <a:pt x="0" y="108"/>
                </a:cubicBezTo>
                <a:cubicBezTo>
                  <a:pt x="0" y="94"/>
                  <a:pt x="3" y="80"/>
                  <a:pt x="8" y="67"/>
                </a:cubicBezTo>
                <a:cubicBezTo>
                  <a:pt x="13" y="53"/>
                  <a:pt x="21" y="42"/>
                  <a:pt x="31" y="31"/>
                </a:cubicBezTo>
                <a:cubicBezTo>
                  <a:pt x="42" y="21"/>
                  <a:pt x="53" y="13"/>
                  <a:pt x="67" y="8"/>
                </a:cubicBezTo>
                <a:cubicBezTo>
                  <a:pt x="80" y="2"/>
                  <a:pt x="94" y="0"/>
                  <a:pt x="108" y="0"/>
                </a:cubicBezTo>
                <a:cubicBezTo>
                  <a:pt x="122" y="0"/>
                  <a:pt x="136" y="2"/>
                  <a:pt x="150" y="8"/>
                </a:cubicBezTo>
                <a:cubicBezTo>
                  <a:pt x="164" y="13"/>
                  <a:pt x="175" y="21"/>
                  <a:pt x="186" y="31"/>
                </a:cubicBezTo>
                <a:cubicBezTo>
                  <a:pt x="196" y="42"/>
                  <a:pt x="203" y="53"/>
                  <a:pt x="209" y="67"/>
                </a:cubicBezTo>
                <a:cubicBezTo>
                  <a:pt x="214" y="80"/>
                  <a:pt x="217" y="94"/>
                  <a:pt x="217" y="108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921240" y="1369800"/>
            <a:ext cx="78120" cy="78120"/>
          </a:xfrm>
          <a:custGeom>
            <a:avLst/>
            <a:gdLst/>
            <a:ahLst/>
            <a:rect l="0" t="0" r="r" b="b"/>
            <a:pathLst>
              <a:path w="217" h="217">
                <a:moveTo>
                  <a:pt x="217" y="108"/>
                </a:moveTo>
                <a:cubicBezTo>
                  <a:pt x="217" y="122"/>
                  <a:pt x="214" y="136"/>
                  <a:pt x="209" y="150"/>
                </a:cubicBezTo>
                <a:cubicBezTo>
                  <a:pt x="203" y="163"/>
                  <a:pt x="196" y="175"/>
                  <a:pt x="186" y="185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7"/>
                  <a:pt x="108" y="217"/>
                </a:cubicBezTo>
                <a:cubicBezTo>
                  <a:pt x="94" y="217"/>
                  <a:pt x="80" y="215"/>
                  <a:pt x="67" y="209"/>
                </a:cubicBezTo>
                <a:cubicBezTo>
                  <a:pt x="53" y="204"/>
                  <a:pt x="42" y="196"/>
                  <a:pt x="31" y="185"/>
                </a:cubicBezTo>
                <a:cubicBezTo>
                  <a:pt x="21" y="175"/>
                  <a:pt x="13" y="163"/>
                  <a:pt x="8" y="150"/>
                </a:cubicBezTo>
                <a:cubicBezTo>
                  <a:pt x="3" y="136"/>
                  <a:pt x="0" y="122"/>
                  <a:pt x="0" y="108"/>
                </a:cubicBezTo>
                <a:cubicBezTo>
                  <a:pt x="0" y="94"/>
                  <a:pt x="3" y="80"/>
                  <a:pt x="8" y="67"/>
                </a:cubicBezTo>
                <a:cubicBezTo>
                  <a:pt x="13" y="53"/>
                  <a:pt x="21" y="42"/>
                  <a:pt x="31" y="31"/>
                </a:cubicBezTo>
                <a:cubicBezTo>
                  <a:pt x="42" y="21"/>
                  <a:pt x="53" y="13"/>
                  <a:pt x="67" y="8"/>
                </a:cubicBezTo>
                <a:cubicBezTo>
                  <a:pt x="80" y="2"/>
                  <a:pt x="94" y="0"/>
                  <a:pt x="108" y="0"/>
                </a:cubicBezTo>
                <a:cubicBezTo>
                  <a:pt x="122" y="0"/>
                  <a:pt x="136" y="2"/>
                  <a:pt x="150" y="8"/>
                </a:cubicBezTo>
                <a:cubicBezTo>
                  <a:pt x="164" y="13"/>
                  <a:pt x="175" y="21"/>
                  <a:pt x="186" y="31"/>
                </a:cubicBezTo>
                <a:cubicBezTo>
                  <a:pt x="196" y="42"/>
                  <a:pt x="203" y="53"/>
                  <a:pt x="209" y="67"/>
                </a:cubicBezTo>
                <a:cubicBezTo>
                  <a:pt x="214" y="80"/>
                  <a:pt x="217" y="94"/>
                  <a:pt x="217" y="108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896760" y="1447560"/>
            <a:ext cx="127080" cy="205560"/>
          </a:xfrm>
          <a:custGeom>
            <a:avLst/>
            <a:gdLst/>
            <a:ahLst/>
            <a:rect l="0" t="0" r="r" b="b"/>
            <a:pathLst>
              <a:path fill="none" w="353" h="571">
                <a:moveTo>
                  <a:pt x="177" y="0"/>
                </a:moveTo>
                <a:lnTo>
                  <a:pt x="177" y="367"/>
                </a:lnTo>
                <a:moveTo>
                  <a:pt x="0" y="109"/>
                </a:moveTo>
                <a:lnTo>
                  <a:pt x="353" y="109"/>
                </a:lnTo>
                <a:moveTo>
                  <a:pt x="177" y="367"/>
                </a:moveTo>
                <a:lnTo>
                  <a:pt x="0" y="571"/>
                </a:lnTo>
                <a:moveTo>
                  <a:pt x="177" y="367"/>
                </a:moveTo>
                <a:lnTo>
                  <a:pt x="353" y="571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826920" y="1761120"/>
            <a:ext cx="212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812880" y="4657680"/>
            <a:ext cx="232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921240" y="4838040"/>
            <a:ext cx="78120" cy="78480"/>
          </a:xfrm>
          <a:custGeom>
            <a:avLst/>
            <a:gdLst/>
            <a:ahLst/>
            <a:rect l="0" t="0" r="r" b="b"/>
            <a:pathLst>
              <a:path w="217" h="218">
                <a:moveTo>
                  <a:pt x="217" y="109"/>
                </a:moveTo>
                <a:cubicBezTo>
                  <a:pt x="217" y="124"/>
                  <a:pt x="214" y="138"/>
                  <a:pt x="209" y="151"/>
                </a:cubicBezTo>
                <a:cubicBezTo>
                  <a:pt x="203" y="164"/>
                  <a:pt x="196" y="176"/>
                  <a:pt x="186" y="186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8"/>
                  <a:pt x="108" y="218"/>
                </a:cubicBezTo>
                <a:cubicBezTo>
                  <a:pt x="94" y="218"/>
                  <a:pt x="80" y="215"/>
                  <a:pt x="67" y="209"/>
                </a:cubicBezTo>
                <a:cubicBezTo>
                  <a:pt x="53" y="204"/>
                  <a:pt x="42" y="196"/>
                  <a:pt x="31" y="186"/>
                </a:cubicBezTo>
                <a:cubicBezTo>
                  <a:pt x="21" y="176"/>
                  <a:pt x="13" y="164"/>
                  <a:pt x="8" y="151"/>
                </a:cubicBezTo>
                <a:cubicBezTo>
                  <a:pt x="3" y="138"/>
                  <a:pt x="0" y="124"/>
                  <a:pt x="0" y="109"/>
                </a:cubicBezTo>
                <a:cubicBezTo>
                  <a:pt x="0" y="95"/>
                  <a:pt x="3" y="81"/>
                  <a:pt x="8" y="68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1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ubicBezTo>
                  <a:pt x="122" y="0"/>
                  <a:pt x="136" y="3"/>
                  <a:pt x="150" y="8"/>
                </a:cubicBezTo>
                <a:cubicBezTo>
                  <a:pt x="164" y="14"/>
                  <a:pt x="175" y="21"/>
                  <a:pt x="186" y="32"/>
                </a:cubicBezTo>
                <a:cubicBezTo>
                  <a:pt x="196" y="42"/>
                  <a:pt x="203" y="54"/>
                  <a:pt x="209" y="68"/>
                </a:cubicBezTo>
                <a:cubicBezTo>
                  <a:pt x="214" y="81"/>
                  <a:pt x="217" y="95"/>
                  <a:pt x="217" y="109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921240" y="4838040"/>
            <a:ext cx="78120" cy="78480"/>
          </a:xfrm>
          <a:custGeom>
            <a:avLst/>
            <a:gdLst/>
            <a:ahLst/>
            <a:rect l="0" t="0" r="r" b="b"/>
            <a:pathLst>
              <a:path w="217" h="218">
                <a:moveTo>
                  <a:pt x="217" y="109"/>
                </a:moveTo>
                <a:cubicBezTo>
                  <a:pt x="217" y="124"/>
                  <a:pt x="214" y="138"/>
                  <a:pt x="209" y="151"/>
                </a:cubicBezTo>
                <a:cubicBezTo>
                  <a:pt x="203" y="164"/>
                  <a:pt x="196" y="176"/>
                  <a:pt x="186" y="186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8"/>
                  <a:pt x="108" y="218"/>
                </a:cubicBezTo>
                <a:cubicBezTo>
                  <a:pt x="94" y="218"/>
                  <a:pt x="80" y="215"/>
                  <a:pt x="67" y="209"/>
                </a:cubicBezTo>
                <a:cubicBezTo>
                  <a:pt x="53" y="204"/>
                  <a:pt x="42" y="196"/>
                  <a:pt x="31" y="186"/>
                </a:cubicBezTo>
                <a:cubicBezTo>
                  <a:pt x="21" y="176"/>
                  <a:pt x="13" y="164"/>
                  <a:pt x="8" y="151"/>
                </a:cubicBezTo>
                <a:cubicBezTo>
                  <a:pt x="3" y="138"/>
                  <a:pt x="0" y="124"/>
                  <a:pt x="0" y="109"/>
                </a:cubicBezTo>
                <a:cubicBezTo>
                  <a:pt x="0" y="95"/>
                  <a:pt x="3" y="81"/>
                  <a:pt x="8" y="68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1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ubicBezTo>
                  <a:pt x="122" y="0"/>
                  <a:pt x="136" y="3"/>
                  <a:pt x="150" y="8"/>
                </a:cubicBezTo>
                <a:cubicBezTo>
                  <a:pt x="164" y="14"/>
                  <a:pt x="175" y="21"/>
                  <a:pt x="186" y="32"/>
                </a:cubicBezTo>
                <a:cubicBezTo>
                  <a:pt x="196" y="42"/>
                  <a:pt x="203" y="54"/>
                  <a:pt x="209" y="68"/>
                </a:cubicBezTo>
                <a:cubicBezTo>
                  <a:pt x="214" y="81"/>
                  <a:pt x="217" y="95"/>
                  <a:pt x="217" y="109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896760" y="4916160"/>
            <a:ext cx="127080" cy="205200"/>
          </a:xfrm>
          <a:custGeom>
            <a:avLst/>
            <a:gdLst/>
            <a:ahLst/>
            <a:rect l="0" t="0" r="r" b="b"/>
            <a:pathLst>
              <a:path fill="none" w="353" h="570">
                <a:moveTo>
                  <a:pt x="177" y="0"/>
                </a:moveTo>
                <a:lnTo>
                  <a:pt x="177" y="367"/>
                </a:lnTo>
                <a:moveTo>
                  <a:pt x="0" y="108"/>
                </a:moveTo>
                <a:lnTo>
                  <a:pt x="353" y="108"/>
                </a:lnTo>
                <a:moveTo>
                  <a:pt x="177" y="367"/>
                </a:moveTo>
                <a:lnTo>
                  <a:pt x="0" y="570"/>
                </a:lnTo>
                <a:moveTo>
                  <a:pt x="177" y="367"/>
                </a:moveTo>
                <a:lnTo>
                  <a:pt x="353" y="570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2379240" y="1586880"/>
            <a:ext cx="323280" cy="254520"/>
          </a:xfrm>
          <a:custGeom>
            <a:avLst/>
            <a:gdLst/>
            <a:ahLst/>
            <a:rect l="0" t="0" r="r" b="b"/>
            <a:pathLst>
              <a:path w="898" h="707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3"/>
                  <a:pt x="888" y="10"/>
                </a:cubicBezTo>
                <a:cubicBezTo>
                  <a:pt x="895" y="16"/>
                  <a:pt x="898" y="24"/>
                  <a:pt x="898" y="34"/>
                </a:cubicBezTo>
                <a:lnTo>
                  <a:pt x="898" y="673"/>
                </a:lnTo>
                <a:cubicBezTo>
                  <a:pt x="898" y="683"/>
                  <a:pt x="895" y="691"/>
                  <a:pt x="888" y="697"/>
                </a:cubicBezTo>
                <a:cubicBezTo>
                  <a:pt x="882" y="704"/>
                  <a:pt x="874" y="707"/>
                  <a:pt x="864" y="707"/>
                </a:cubicBezTo>
                <a:lnTo>
                  <a:pt x="34" y="707"/>
                </a:lnTo>
                <a:cubicBezTo>
                  <a:pt x="24" y="707"/>
                  <a:pt x="16" y="704"/>
                  <a:pt x="10" y="697"/>
                </a:cubicBezTo>
                <a:cubicBezTo>
                  <a:pt x="3" y="691"/>
                  <a:pt x="0" y="683"/>
                  <a:pt x="0" y="673"/>
                </a:cubicBezTo>
                <a:lnTo>
                  <a:pt x="0" y="34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2379240" y="1586880"/>
            <a:ext cx="323280" cy="254520"/>
          </a:xfrm>
          <a:custGeom>
            <a:avLst/>
            <a:gdLst/>
            <a:ahLst/>
            <a:rect l="0" t="0" r="r" b="b"/>
            <a:pathLst>
              <a:path w="898" h="707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3"/>
                  <a:pt x="888" y="10"/>
                </a:cubicBezTo>
                <a:cubicBezTo>
                  <a:pt x="895" y="16"/>
                  <a:pt x="898" y="24"/>
                  <a:pt x="898" y="34"/>
                </a:cubicBezTo>
                <a:lnTo>
                  <a:pt x="898" y="673"/>
                </a:lnTo>
                <a:cubicBezTo>
                  <a:pt x="898" y="683"/>
                  <a:pt x="895" y="691"/>
                  <a:pt x="888" y="697"/>
                </a:cubicBezTo>
                <a:cubicBezTo>
                  <a:pt x="882" y="704"/>
                  <a:pt x="874" y="707"/>
                  <a:pt x="864" y="707"/>
                </a:cubicBezTo>
                <a:lnTo>
                  <a:pt x="34" y="707"/>
                </a:lnTo>
                <a:cubicBezTo>
                  <a:pt x="24" y="707"/>
                  <a:pt x="16" y="704"/>
                  <a:pt x="10" y="697"/>
                </a:cubicBezTo>
                <a:cubicBezTo>
                  <a:pt x="3" y="691"/>
                  <a:pt x="0" y="683"/>
                  <a:pt x="0" y="673"/>
                </a:cubicBezTo>
                <a:lnTo>
                  <a:pt x="0" y="34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826920" y="4750560"/>
            <a:ext cx="212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413440" y="1629000"/>
            <a:ext cx="223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2379240" y="4649400"/>
            <a:ext cx="323280" cy="254880"/>
          </a:xfrm>
          <a:custGeom>
            <a:avLst/>
            <a:gdLst/>
            <a:ahLst/>
            <a:rect l="0" t="0" r="r" b="b"/>
            <a:pathLst>
              <a:path w="898" h="708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4"/>
                  <a:pt x="888" y="10"/>
                </a:cubicBezTo>
                <a:cubicBezTo>
                  <a:pt x="895" y="17"/>
                  <a:pt x="898" y="25"/>
                  <a:pt x="898" y="34"/>
                </a:cubicBezTo>
                <a:lnTo>
                  <a:pt x="898" y="674"/>
                </a:lnTo>
                <a:cubicBezTo>
                  <a:pt x="898" y="683"/>
                  <a:pt x="895" y="691"/>
                  <a:pt x="888" y="698"/>
                </a:cubicBezTo>
                <a:cubicBezTo>
                  <a:pt x="882" y="705"/>
                  <a:pt x="874" y="708"/>
                  <a:pt x="864" y="708"/>
                </a:cubicBezTo>
                <a:lnTo>
                  <a:pt x="34" y="708"/>
                </a:lnTo>
                <a:cubicBezTo>
                  <a:pt x="24" y="708"/>
                  <a:pt x="16" y="705"/>
                  <a:pt x="10" y="698"/>
                </a:cubicBezTo>
                <a:cubicBezTo>
                  <a:pt x="3" y="691"/>
                  <a:pt x="0" y="683"/>
                  <a:pt x="0" y="674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4"/>
                  <a:pt x="24" y="0"/>
                  <a:pt x="3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2379240" y="4649400"/>
            <a:ext cx="323280" cy="254880"/>
          </a:xfrm>
          <a:custGeom>
            <a:avLst/>
            <a:gdLst/>
            <a:ahLst/>
            <a:rect l="0" t="0" r="r" b="b"/>
            <a:pathLst>
              <a:path w="898" h="708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4"/>
                  <a:pt x="888" y="10"/>
                </a:cubicBezTo>
                <a:cubicBezTo>
                  <a:pt x="895" y="17"/>
                  <a:pt x="898" y="25"/>
                  <a:pt x="898" y="34"/>
                </a:cubicBezTo>
                <a:lnTo>
                  <a:pt x="898" y="674"/>
                </a:lnTo>
                <a:cubicBezTo>
                  <a:pt x="898" y="683"/>
                  <a:pt x="895" y="691"/>
                  <a:pt x="888" y="698"/>
                </a:cubicBezTo>
                <a:cubicBezTo>
                  <a:pt x="882" y="705"/>
                  <a:pt x="874" y="708"/>
                  <a:pt x="864" y="708"/>
                </a:cubicBezTo>
                <a:lnTo>
                  <a:pt x="34" y="708"/>
                </a:lnTo>
                <a:cubicBezTo>
                  <a:pt x="24" y="708"/>
                  <a:pt x="16" y="705"/>
                  <a:pt x="10" y="698"/>
                </a:cubicBezTo>
                <a:cubicBezTo>
                  <a:pt x="3" y="691"/>
                  <a:pt x="0" y="683"/>
                  <a:pt x="0" y="674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4"/>
                  <a:pt x="24" y="0"/>
                  <a:pt x="34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2438280" y="1721880"/>
            <a:ext cx="194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2413440" y="4691880"/>
            <a:ext cx="223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715320" y="1928880"/>
            <a:ext cx="815400" cy="96480"/>
          </a:xfrm>
          <a:custGeom>
            <a:avLst/>
            <a:gdLst/>
            <a:ahLst/>
            <a:rect l="0" t="0" r="r" b="b"/>
            <a:pathLst>
              <a:path w="2265" h="268">
                <a:moveTo>
                  <a:pt x="0" y="0"/>
                </a:moveTo>
                <a:lnTo>
                  <a:pt x="2265" y="0"/>
                </a:lnTo>
                <a:lnTo>
                  <a:pt x="2265" y="133"/>
                </a:lnTo>
                <a:lnTo>
                  <a:pt x="2130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715320" y="1928880"/>
            <a:ext cx="815400" cy="96480"/>
          </a:xfrm>
          <a:custGeom>
            <a:avLst/>
            <a:gdLst/>
            <a:ahLst/>
            <a:rect l="0" t="0" r="r" b="b"/>
            <a:pathLst>
              <a:path fill="none" w="2265" h="268">
                <a:moveTo>
                  <a:pt x="0" y="0"/>
                </a:moveTo>
                <a:lnTo>
                  <a:pt x="2265" y="0"/>
                </a:lnTo>
                <a:lnTo>
                  <a:pt x="2265" y="133"/>
                </a:lnTo>
                <a:lnTo>
                  <a:pt x="2130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715320" y="1928880"/>
            <a:ext cx="2084760" cy="879480"/>
          </a:xfrm>
          <a:custGeom>
            <a:avLst/>
            <a:gdLst/>
            <a:ahLst/>
            <a:rect l="0" t="0" r="r" b="b"/>
            <a:pathLst>
              <a:path w="5791" h="2443">
                <a:moveTo>
                  <a:pt x="0" y="0"/>
                </a:moveTo>
                <a:lnTo>
                  <a:pt x="5791" y="0"/>
                </a:lnTo>
                <a:lnTo>
                  <a:pt x="5791" y="2443"/>
                </a:lnTo>
                <a:lnTo>
                  <a:pt x="0" y="2443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438280" y="4784760"/>
            <a:ext cx="194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763920" y="2059200"/>
            <a:ext cx="357480" cy="96480"/>
          </a:xfrm>
          <a:custGeom>
            <a:avLst/>
            <a:gdLst/>
            <a:ahLst/>
            <a:rect l="0" t="0" r="r" b="b"/>
            <a:pathLst>
              <a:path w="993" h="268">
                <a:moveTo>
                  <a:pt x="0" y="0"/>
                </a:moveTo>
                <a:lnTo>
                  <a:pt x="993" y="0"/>
                </a:lnTo>
                <a:lnTo>
                  <a:pt x="993" y="133"/>
                </a:lnTo>
                <a:lnTo>
                  <a:pt x="857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763920" y="2059200"/>
            <a:ext cx="357480" cy="96480"/>
          </a:xfrm>
          <a:custGeom>
            <a:avLst/>
            <a:gdLst/>
            <a:ahLst/>
            <a:rect l="0" t="0" r="r" b="b"/>
            <a:pathLst>
              <a:path fill="none" w="993" h="268">
                <a:moveTo>
                  <a:pt x="0" y="0"/>
                </a:moveTo>
                <a:lnTo>
                  <a:pt x="993" y="0"/>
                </a:lnTo>
                <a:lnTo>
                  <a:pt x="993" y="133"/>
                </a:lnTo>
                <a:lnTo>
                  <a:pt x="857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763920" y="2059200"/>
            <a:ext cx="1987560" cy="405720"/>
          </a:xfrm>
          <a:custGeom>
            <a:avLst/>
            <a:gdLst/>
            <a:ahLst/>
            <a:rect l="0" t="0" r="r" b="b"/>
            <a:pathLst>
              <a:path w="5521" h="1127">
                <a:moveTo>
                  <a:pt x="0" y="0"/>
                </a:moveTo>
                <a:lnTo>
                  <a:pt x="5521" y="0"/>
                </a:lnTo>
                <a:lnTo>
                  <a:pt x="5521" y="1127"/>
                </a:lnTo>
                <a:lnTo>
                  <a:pt x="0" y="1127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88400" y="1941480"/>
            <a:ext cx="4885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Polling — baseline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837000" y="2071800"/>
            <a:ext cx="1623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l o o p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194120" y="2075400"/>
            <a:ext cx="9828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[ u n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2482200" y="22514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0" y="0"/>
                </a:moveTo>
                <a:lnTo>
                  <a:pt x="136" y="54"/>
                </a:lnTo>
                <a:lnTo>
                  <a:pt x="0" y="109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960120" y="227088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320840" y="2075400"/>
            <a:ext cx="36792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l status changes]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965160" y="24062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984600" y="242316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94320" y="2182320"/>
            <a:ext cx="9457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2482200" y="259488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0" y="0"/>
                </a:moveTo>
                <a:lnTo>
                  <a:pt x="136" y="54"/>
                </a:lnTo>
                <a:lnTo>
                  <a:pt x="0" y="110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960120" y="261432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042920" y="2337120"/>
            <a:ext cx="5385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(still requested)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965160" y="274968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984600" y="276660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994320" y="2525760"/>
            <a:ext cx="9457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763920" y="2876400"/>
            <a:ext cx="1579680" cy="96480"/>
          </a:xfrm>
          <a:custGeom>
            <a:avLst/>
            <a:gdLst/>
            <a:ahLst/>
            <a:rect l="0" t="0" r="r" b="b"/>
            <a:pathLst>
              <a:path w="4388" h="268">
                <a:moveTo>
                  <a:pt x="0" y="0"/>
                </a:moveTo>
                <a:lnTo>
                  <a:pt x="4388" y="0"/>
                </a:lnTo>
                <a:lnTo>
                  <a:pt x="4388" y="132"/>
                </a:lnTo>
                <a:lnTo>
                  <a:pt x="4253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763920" y="2876400"/>
            <a:ext cx="1579680" cy="96480"/>
          </a:xfrm>
          <a:custGeom>
            <a:avLst/>
            <a:gdLst/>
            <a:ahLst/>
            <a:rect l="0" t="0" r="r" b="b"/>
            <a:pathLst>
              <a:path fill="none" w="4388" h="268">
                <a:moveTo>
                  <a:pt x="0" y="0"/>
                </a:moveTo>
                <a:lnTo>
                  <a:pt x="4388" y="0"/>
                </a:lnTo>
                <a:lnTo>
                  <a:pt x="4388" y="132"/>
                </a:lnTo>
                <a:lnTo>
                  <a:pt x="4253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763920" y="2876400"/>
            <a:ext cx="1987560" cy="1252440"/>
          </a:xfrm>
          <a:custGeom>
            <a:avLst/>
            <a:gdLst/>
            <a:ahLst/>
            <a:rect l="0" t="0" r="r" b="b"/>
            <a:pathLst>
              <a:path w="5521" h="3479">
                <a:moveTo>
                  <a:pt x="0" y="0"/>
                </a:moveTo>
                <a:lnTo>
                  <a:pt x="5521" y="0"/>
                </a:lnTo>
                <a:lnTo>
                  <a:pt x="5521" y="3479"/>
                </a:lnTo>
                <a:lnTo>
                  <a:pt x="0" y="347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042920" y="2680560"/>
            <a:ext cx="7506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— now book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837000" y="2889000"/>
            <a:ext cx="3618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FHIR Subscrip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2482200" y="324144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0" y="0"/>
                </a:moveTo>
                <a:lnTo>
                  <a:pt x="136" y="55"/>
                </a:lnTo>
                <a:lnTo>
                  <a:pt x="0" y="110"/>
                </a:lnTo>
                <a:lnTo>
                  <a:pt x="54" y="55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960120" y="326088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1316880" y="2889000"/>
            <a:ext cx="7351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on — stretch (R4 rest-hook)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994320" y="2999520"/>
            <a:ext cx="4730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POST Subscription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994320" y="3086280"/>
            <a:ext cx="10796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(criteria: Task?focus=ServiceRequest/{id},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965160" y="33962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5"/>
                </a:lnTo>
                <a:lnTo>
                  <a:pt x="136" y="109"/>
                </a:lnTo>
                <a:lnTo>
                  <a:pt x="81" y="55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984600" y="341316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994320" y="3172320"/>
            <a:ext cx="5065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channel: rest-hook)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042920" y="3327120"/>
            <a:ext cx="8708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201 Created (requested -&gt; active)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965160" y="376056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984600" y="378000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1485000" y="3529440"/>
            <a:ext cx="45792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ﬁller acts on the Task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2482200" y="391536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0" y="0"/>
                </a:moveTo>
                <a:lnTo>
                  <a:pt x="136" y="54"/>
                </a:lnTo>
                <a:lnTo>
                  <a:pt x="0" y="109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960120" y="393480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1042920" y="3691440"/>
            <a:ext cx="12823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notiﬁcation (rest-hook POST) — matching change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965160" y="406980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136" y="0"/>
                </a:moveTo>
                <a:lnTo>
                  <a:pt x="0" y="54"/>
                </a:lnTo>
                <a:lnTo>
                  <a:pt x="136" y="110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984600" y="4087080"/>
            <a:ext cx="1548720" cy="5040"/>
          </a:xfrm>
          <a:custGeom>
            <a:avLst/>
            <a:gdLst/>
            <a:ahLst/>
            <a:rect l="0" t="0" r="r" b="b"/>
            <a:pathLst>
              <a:path w="4302" h="14">
                <a:moveTo>
                  <a:pt x="0" y="0"/>
                </a:moveTo>
                <a:lnTo>
                  <a:pt x="27" y="0"/>
                </a:lnTo>
                <a:lnTo>
                  <a:pt x="27" y="14"/>
                </a:lnTo>
                <a:lnTo>
                  <a:pt x="0" y="14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4"/>
                </a:lnTo>
                <a:lnTo>
                  <a:pt x="54" y="14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4"/>
                </a:lnTo>
                <a:lnTo>
                  <a:pt x="108" y="14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4"/>
                </a:lnTo>
                <a:lnTo>
                  <a:pt x="162" y="14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4"/>
                </a:lnTo>
                <a:lnTo>
                  <a:pt x="216" y="14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4"/>
                </a:lnTo>
                <a:lnTo>
                  <a:pt x="270" y="14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4"/>
                </a:lnTo>
                <a:lnTo>
                  <a:pt x="324" y="14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4"/>
                </a:lnTo>
                <a:lnTo>
                  <a:pt x="378" y="14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4"/>
                </a:lnTo>
                <a:lnTo>
                  <a:pt x="432" y="14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4"/>
                </a:lnTo>
                <a:lnTo>
                  <a:pt x="487" y="14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4"/>
                </a:lnTo>
                <a:lnTo>
                  <a:pt x="541" y="14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4"/>
                </a:lnTo>
                <a:lnTo>
                  <a:pt x="595" y="14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4"/>
                </a:lnTo>
                <a:lnTo>
                  <a:pt x="649" y="14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4"/>
                </a:lnTo>
                <a:lnTo>
                  <a:pt x="703" y="14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4"/>
                </a:lnTo>
                <a:lnTo>
                  <a:pt x="757" y="14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4"/>
                </a:lnTo>
                <a:lnTo>
                  <a:pt x="811" y="14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4"/>
                </a:lnTo>
                <a:lnTo>
                  <a:pt x="865" y="14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4"/>
                </a:lnTo>
                <a:lnTo>
                  <a:pt x="919" y="14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4"/>
                </a:lnTo>
                <a:lnTo>
                  <a:pt x="974" y="14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4"/>
                </a:lnTo>
                <a:lnTo>
                  <a:pt x="1028" y="14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4"/>
                </a:lnTo>
                <a:lnTo>
                  <a:pt x="1082" y="14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4"/>
                </a:lnTo>
                <a:lnTo>
                  <a:pt x="1136" y="14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4"/>
                </a:lnTo>
                <a:lnTo>
                  <a:pt x="1190" y="14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4"/>
                </a:lnTo>
                <a:lnTo>
                  <a:pt x="1244" y="14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4"/>
                </a:lnTo>
                <a:lnTo>
                  <a:pt x="1298" y="14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4"/>
                </a:lnTo>
                <a:lnTo>
                  <a:pt x="1352" y="14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4"/>
                </a:lnTo>
                <a:lnTo>
                  <a:pt x="1406" y="14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4"/>
                </a:lnTo>
                <a:lnTo>
                  <a:pt x="1461" y="14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4"/>
                </a:lnTo>
                <a:lnTo>
                  <a:pt x="1515" y="14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4"/>
                </a:lnTo>
                <a:lnTo>
                  <a:pt x="1569" y="14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4"/>
                </a:lnTo>
                <a:lnTo>
                  <a:pt x="1623" y="14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4"/>
                </a:lnTo>
                <a:lnTo>
                  <a:pt x="1677" y="14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4"/>
                </a:lnTo>
                <a:lnTo>
                  <a:pt x="1731" y="14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4"/>
                </a:lnTo>
                <a:lnTo>
                  <a:pt x="1785" y="14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4"/>
                </a:lnTo>
                <a:lnTo>
                  <a:pt x="1839" y="14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4"/>
                </a:lnTo>
                <a:lnTo>
                  <a:pt x="1893" y="14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4"/>
                </a:lnTo>
                <a:lnTo>
                  <a:pt x="1948" y="14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4"/>
                </a:lnTo>
                <a:lnTo>
                  <a:pt x="2002" y="14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4"/>
                </a:lnTo>
                <a:lnTo>
                  <a:pt x="2056" y="14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4"/>
                </a:lnTo>
                <a:lnTo>
                  <a:pt x="2110" y="14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4"/>
                </a:lnTo>
                <a:lnTo>
                  <a:pt x="2164" y="14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4"/>
                </a:lnTo>
                <a:lnTo>
                  <a:pt x="2218" y="14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4"/>
                </a:lnTo>
                <a:lnTo>
                  <a:pt x="2272" y="14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4"/>
                </a:lnTo>
                <a:lnTo>
                  <a:pt x="2326" y="14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4"/>
                </a:lnTo>
                <a:lnTo>
                  <a:pt x="2380" y="14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4"/>
                </a:lnTo>
                <a:lnTo>
                  <a:pt x="2435" y="14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4"/>
                </a:lnTo>
                <a:lnTo>
                  <a:pt x="2489" y="14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4"/>
                </a:lnTo>
                <a:lnTo>
                  <a:pt x="2543" y="14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4"/>
                </a:lnTo>
                <a:lnTo>
                  <a:pt x="2597" y="14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4"/>
                </a:lnTo>
                <a:lnTo>
                  <a:pt x="2651" y="14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4"/>
                </a:lnTo>
                <a:lnTo>
                  <a:pt x="2705" y="14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4"/>
                </a:lnTo>
                <a:lnTo>
                  <a:pt x="2759" y="14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4"/>
                </a:lnTo>
                <a:lnTo>
                  <a:pt x="2813" y="14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4"/>
                </a:lnTo>
                <a:lnTo>
                  <a:pt x="2867" y="14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4"/>
                </a:lnTo>
                <a:lnTo>
                  <a:pt x="2921" y="14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4"/>
                </a:lnTo>
                <a:lnTo>
                  <a:pt x="2976" y="14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4"/>
                </a:lnTo>
                <a:lnTo>
                  <a:pt x="3030" y="14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4"/>
                </a:lnTo>
                <a:lnTo>
                  <a:pt x="3084" y="14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4"/>
                </a:lnTo>
                <a:lnTo>
                  <a:pt x="3138" y="14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4"/>
                </a:lnTo>
                <a:lnTo>
                  <a:pt x="3192" y="14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4"/>
                </a:lnTo>
                <a:lnTo>
                  <a:pt x="3246" y="14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4"/>
                </a:lnTo>
                <a:lnTo>
                  <a:pt x="3300" y="14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4"/>
                </a:lnTo>
                <a:lnTo>
                  <a:pt x="3354" y="14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4"/>
                </a:lnTo>
                <a:lnTo>
                  <a:pt x="3408" y="14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4"/>
                </a:lnTo>
                <a:lnTo>
                  <a:pt x="3463" y="14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4"/>
                </a:lnTo>
                <a:lnTo>
                  <a:pt x="3517" y="14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4"/>
                </a:lnTo>
                <a:lnTo>
                  <a:pt x="3571" y="14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4"/>
                </a:lnTo>
                <a:lnTo>
                  <a:pt x="3625" y="14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4"/>
                </a:lnTo>
                <a:lnTo>
                  <a:pt x="3679" y="14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4"/>
                </a:lnTo>
                <a:lnTo>
                  <a:pt x="3734" y="14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4"/>
                </a:lnTo>
                <a:lnTo>
                  <a:pt x="3788" y="14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4"/>
                </a:lnTo>
                <a:lnTo>
                  <a:pt x="3842" y="14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4"/>
                </a:lnTo>
                <a:lnTo>
                  <a:pt x="3896" y="14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4"/>
                </a:lnTo>
                <a:lnTo>
                  <a:pt x="3951" y="14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4"/>
                </a:lnTo>
                <a:lnTo>
                  <a:pt x="4005" y="14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4"/>
                </a:lnTo>
                <a:lnTo>
                  <a:pt x="4059" y="14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4"/>
                </a:lnTo>
                <a:lnTo>
                  <a:pt x="4113" y="14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4"/>
                </a:lnTo>
                <a:lnTo>
                  <a:pt x="4167" y="14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4"/>
                </a:lnTo>
                <a:lnTo>
                  <a:pt x="4221" y="14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4"/>
                </a:lnTo>
                <a:lnTo>
                  <a:pt x="4275" y="14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994320" y="3846240"/>
            <a:ext cx="3466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817560" y="4186800"/>
            <a:ext cx="1865520" cy="390600"/>
          </a:xfrm>
          <a:custGeom>
            <a:avLst/>
            <a:gdLst/>
            <a:ahLst/>
            <a:rect l="0" t="0" r="r" b="b"/>
            <a:pathLst>
              <a:path w="5182" h="1085">
                <a:moveTo>
                  <a:pt x="0" y="0"/>
                </a:moveTo>
                <a:lnTo>
                  <a:pt x="0" y="1085"/>
                </a:lnTo>
                <a:lnTo>
                  <a:pt x="5182" y="1085"/>
                </a:lnTo>
                <a:lnTo>
                  <a:pt x="5182" y="136"/>
                </a:lnTo>
                <a:lnTo>
                  <a:pt x="5047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817560" y="4186800"/>
            <a:ext cx="1865520" cy="390600"/>
          </a:xfrm>
          <a:custGeom>
            <a:avLst/>
            <a:gdLst/>
            <a:ahLst/>
            <a:rect l="0" t="0" r="r" b="b"/>
            <a:pathLst>
              <a:path fill="none" w="5182" h="1085">
                <a:moveTo>
                  <a:pt x="0" y="0"/>
                </a:moveTo>
                <a:lnTo>
                  <a:pt x="0" y="1085"/>
                </a:lnTo>
                <a:lnTo>
                  <a:pt x="5182" y="1085"/>
                </a:lnTo>
                <a:lnTo>
                  <a:pt x="5182" y="136"/>
                </a:lnTo>
                <a:lnTo>
                  <a:pt x="5047" y="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2634120" y="4186800"/>
            <a:ext cx="48960" cy="49320"/>
          </a:xfrm>
          <a:custGeom>
            <a:avLst/>
            <a:gdLst/>
            <a:ahLst/>
            <a:rect l="0" t="0" r="r" b="b"/>
            <a:pathLst>
              <a:path w="136" h="137">
                <a:moveTo>
                  <a:pt x="0" y="0"/>
                </a:moveTo>
                <a:lnTo>
                  <a:pt x="0" y="137"/>
                </a:lnTo>
                <a:lnTo>
                  <a:pt x="136" y="137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2634120" y="4186800"/>
            <a:ext cx="48960" cy="49320"/>
          </a:xfrm>
          <a:custGeom>
            <a:avLst/>
            <a:gdLst/>
            <a:ahLst/>
            <a:rect l="0" t="0" r="r" b="b"/>
            <a:pathLst>
              <a:path fill="none" w="136" h="137">
                <a:moveTo>
                  <a:pt x="0" y="0"/>
                </a:moveTo>
                <a:lnTo>
                  <a:pt x="0" y="137"/>
                </a:lnTo>
                <a:lnTo>
                  <a:pt x="136" y="137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042920" y="4000680"/>
            <a:ext cx="7506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— now book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045080" y="4218840"/>
            <a:ext cx="10108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Baseline: poll the Task for</a:t>
            </a:r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 this request</a:t>
            </a:r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045080" y="4305240"/>
            <a:ext cx="11574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Stretch: subscribe and be notiﬁed on change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045080" y="4391640"/>
            <a:ext cx="12106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(R4 rest-hook; topic-based / R5 backport is the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045080" y="4478040"/>
            <a:ext cx="500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direction of travel).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666720" y="5441040"/>
            <a:ext cx="6801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Baseline: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poll the Task for this request.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Stretch: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Subscription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66720" y="5812560"/>
            <a:ext cx="608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(R4 rest-hook) pushes a notiﬁcation on change — no polling.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666720" y="13525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10886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11203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3055680" y="2473560"/>
            <a:ext cx="73080" cy="1934640"/>
          </a:xfrm>
          <a:custGeom>
            <a:avLst/>
            <a:gdLst/>
            <a:ahLst/>
            <a:rect l="0" t="0" r="r" b="b"/>
            <a:pathLst>
              <a:path w="203" h="5374">
                <a:moveTo>
                  <a:pt x="0" y="0"/>
                </a:moveTo>
                <a:lnTo>
                  <a:pt x="203" y="0"/>
                </a:lnTo>
                <a:lnTo>
                  <a:pt x="203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308808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63410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63727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66720" y="882360"/>
            <a:ext cx="46566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3. Conﬁrm &amp; complete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848880" y="214092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1006560" y="1729440"/>
            <a:ext cx="237600" cy="383040"/>
          </a:xfrm>
          <a:custGeom>
            <a:avLst/>
            <a:gdLst/>
            <a:ahLst/>
            <a:rect l="0" t="0" r="r" b="b"/>
            <a:pathLst>
              <a:path fill="none" w="660" h="1064">
                <a:moveTo>
                  <a:pt x="330" y="0"/>
                </a:moveTo>
                <a:lnTo>
                  <a:pt x="330" y="683"/>
                </a:lnTo>
                <a:moveTo>
                  <a:pt x="0" y="202"/>
                </a:moveTo>
                <a:lnTo>
                  <a:pt x="660" y="202"/>
                </a:lnTo>
                <a:moveTo>
                  <a:pt x="330" y="683"/>
                </a:moveTo>
                <a:lnTo>
                  <a:pt x="0" y="1064"/>
                </a:lnTo>
                <a:moveTo>
                  <a:pt x="330" y="683"/>
                </a:moveTo>
                <a:lnTo>
                  <a:pt x="660" y="106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875520" y="231480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848880" y="441396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1006560" y="4896720"/>
            <a:ext cx="237600" cy="383400"/>
          </a:xfrm>
          <a:custGeom>
            <a:avLst/>
            <a:gdLst/>
            <a:ahLst/>
            <a:rect l="0" t="0" r="r" b="b"/>
            <a:pathLst>
              <a:path fill="none" w="660" h="1065">
                <a:moveTo>
                  <a:pt x="330" y="0"/>
                </a:moveTo>
                <a:lnTo>
                  <a:pt x="330" y="684"/>
                </a:lnTo>
                <a:moveTo>
                  <a:pt x="0" y="203"/>
                </a:moveTo>
                <a:lnTo>
                  <a:pt x="660" y="203"/>
                </a:lnTo>
                <a:moveTo>
                  <a:pt x="330" y="684"/>
                </a:moveTo>
                <a:lnTo>
                  <a:pt x="0" y="1065"/>
                </a:lnTo>
                <a:moveTo>
                  <a:pt x="330" y="684"/>
                </a:moveTo>
                <a:lnTo>
                  <a:pt x="660" y="1065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875520" y="458784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2853360" y="206784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2899800" y="224172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2853360" y="447768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2899800" y="46515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5855400" y="206784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6194520" y="224172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855400" y="447768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2982600" y="274428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0" y="0"/>
                </a:moveTo>
                <a:lnTo>
                  <a:pt x="254" y="101"/>
                </a:lnTo>
                <a:lnTo>
                  <a:pt x="0" y="203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1125000" y="278064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6194520" y="46515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134360" y="303300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254" y="0"/>
                </a:moveTo>
                <a:lnTo>
                  <a:pt x="0" y="102"/>
                </a:lnTo>
                <a:lnTo>
                  <a:pt x="254" y="204"/>
                </a:lnTo>
                <a:lnTo>
                  <a:pt x="153" y="102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1170720" y="30650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1189080" y="2615040"/>
            <a:ext cx="15231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read Task / Appointment status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fill="none"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</a:path>
            </a:pathLst>
          </a:custGeom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280160" y="2904120"/>
            <a:ext cx="14349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businessStatus = Booked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894600" y="3229560"/>
            <a:ext cx="2232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o p 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3101040" y="35654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255" y="0"/>
                </a:moveTo>
                <a:lnTo>
                  <a:pt x="0" y="103"/>
                </a:lnTo>
                <a:lnTo>
                  <a:pt x="255" y="204"/>
                </a:lnTo>
                <a:lnTo>
                  <a:pt x="153" y="103"/>
                </a:lnTo>
                <a:lnTo>
                  <a:pt x="255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3137760" y="3602160"/>
            <a:ext cx="323064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505160" y="3236400"/>
            <a:ext cx="995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790" spc="-1" strike="noStrike">
                <a:solidFill>
                  <a:srgbClr val="000000"/>
                </a:solidFill>
                <a:latin typeface="Calibri"/>
                <a:ea typeface="Calibri"/>
              </a:rPr>
              <a:t>[report return (stretch)]</a:t>
            </a:r>
            <a:endParaRPr b="0" lang="en-AU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2982600" y="385452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0" y="0"/>
                </a:moveTo>
                <a:lnTo>
                  <a:pt x="254" y="102"/>
                </a:lnTo>
                <a:lnTo>
                  <a:pt x="0" y="204"/>
                </a:lnTo>
                <a:lnTo>
                  <a:pt x="101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1125000" y="389088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3247200" y="3436560"/>
            <a:ext cx="264492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post DiagnosticReport / ImagingStudy; Task completed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1134360" y="414360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254" y="0"/>
                </a:moveTo>
                <a:lnTo>
                  <a:pt x="0" y="101"/>
                </a:lnTo>
                <a:lnTo>
                  <a:pt x="254" y="203"/>
                </a:lnTo>
                <a:lnTo>
                  <a:pt x="153" y="101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1170720" y="41756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189080" y="3725280"/>
            <a:ext cx="4626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read Task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1280160" y="4014360"/>
            <a:ext cx="11649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status = completed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666720" y="5631480"/>
            <a:ext cx="71924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Track status through to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Booked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; report return closes the Task (stretch).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666720" y="18475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66720" y="4724280"/>
            <a:ext cx="57240" cy="743400"/>
          </a:xfrm>
          <a:custGeom>
            <a:avLst/>
            <a:gdLst/>
            <a:ahLst/>
            <a:rect l="0" t="0" r="r" b="b"/>
            <a:pathLst>
              <a:path w="159" h="2065">
                <a:moveTo>
                  <a:pt x="0" y="0"/>
                </a:moveTo>
                <a:lnTo>
                  <a:pt x="159" y="0"/>
                </a:lnTo>
                <a:lnTo>
                  <a:pt x="159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942840" y="21808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666720" y="1387080"/>
            <a:ext cx="2532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Standards in scope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942840" y="2619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162080" y="2059920"/>
            <a:ext cx="8825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Core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Patient, Practitioner, PractitionerRole, Organization, Condition,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942840" y="30477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1162080" y="2498040"/>
            <a:ext cx="9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eRequesting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imaging ServiceRequest, Group + fulﬁlment Task (baseline to align with)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942840" y="34858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1162080" y="2926440"/>
            <a:ext cx="989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QH FHIR Referrals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QH extensions: referral category, urgency, facility identiﬁers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(version TBC)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942840" y="39146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1162080" y="3364560"/>
            <a:ext cx="7939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/ Provider Directory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directory resources and search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(spec pending)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942840" y="43527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1162080" y="3793320"/>
            <a:ext cx="518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FHIR R4 Scheduling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Schedule, Slot, Appointment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4086000" y="4248000"/>
            <a:ext cx="1048320" cy="324000"/>
          </a:xfrm>
          <a:custGeom>
            <a:avLst/>
            <a:gdLst/>
            <a:ahLst/>
            <a:rect l="0" t="0" r="r" b="b"/>
            <a:pathLst>
              <a:path w="2912" h="900">
                <a:moveTo>
                  <a:pt x="0" y="74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53" y="0"/>
                </a:lnTo>
                <a:cubicBezTo>
                  <a:pt x="2763" y="0"/>
                  <a:pt x="2774" y="1"/>
                  <a:pt x="2784" y="3"/>
                </a:cubicBezTo>
                <a:cubicBezTo>
                  <a:pt x="2794" y="5"/>
                  <a:pt x="2804" y="8"/>
                  <a:pt x="2814" y="12"/>
                </a:cubicBezTo>
                <a:cubicBezTo>
                  <a:pt x="2823" y="16"/>
                  <a:pt x="2832" y="21"/>
                  <a:pt x="2841" y="27"/>
                </a:cubicBezTo>
                <a:cubicBezTo>
                  <a:pt x="2850" y="32"/>
                  <a:pt x="2858" y="39"/>
                  <a:pt x="2865" y="46"/>
                </a:cubicBezTo>
                <a:cubicBezTo>
                  <a:pt x="2872" y="54"/>
                  <a:pt x="2879" y="62"/>
                  <a:pt x="2885" y="70"/>
                </a:cubicBezTo>
                <a:cubicBezTo>
                  <a:pt x="2891" y="79"/>
                  <a:pt x="2895" y="88"/>
                  <a:pt x="2899" y="98"/>
                </a:cubicBezTo>
                <a:cubicBezTo>
                  <a:pt x="2903" y="108"/>
                  <a:pt x="2906" y="117"/>
                  <a:pt x="2908" y="128"/>
                </a:cubicBezTo>
                <a:cubicBezTo>
                  <a:pt x="2911" y="138"/>
                  <a:pt x="2912" y="148"/>
                  <a:pt x="2912" y="159"/>
                </a:cubicBezTo>
                <a:lnTo>
                  <a:pt x="2912" y="742"/>
                </a:lnTo>
                <a:cubicBezTo>
                  <a:pt x="2912" y="752"/>
                  <a:pt x="2911" y="762"/>
                  <a:pt x="2908" y="773"/>
                </a:cubicBezTo>
                <a:cubicBezTo>
                  <a:pt x="2906" y="783"/>
                  <a:pt x="2903" y="793"/>
                  <a:pt x="2899" y="802"/>
                </a:cubicBezTo>
                <a:cubicBezTo>
                  <a:pt x="2895" y="812"/>
                  <a:pt x="2891" y="821"/>
                  <a:pt x="2885" y="830"/>
                </a:cubicBezTo>
                <a:cubicBezTo>
                  <a:pt x="2879" y="839"/>
                  <a:pt x="2872" y="847"/>
                  <a:pt x="2865" y="854"/>
                </a:cubicBezTo>
                <a:cubicBezTo>
                  <a:pt x="2858" y="861"/>
                  <a:pt x="2850" y="868"/>
                  <a:pt x="2841" y="874"/>
                </a:cubicBezTo>
                <a:cubicBezTo>
                  <a:pt x="2832" y="880"/>
                  <a:pt x="2823" y="884"/>
                  <a:pt x="2814" y="888"/>
                </a:cubicBezTo>
                <a:cubicBezTo>
                  <a:pt x="2804" y="892"/>
                  <a:pt x="2794" y="895"/>
                  <a:pt x="2784" y="897"/>
                </a:cubicBezTo>
                <a:cubicBezTo>
                  <a:pt x="2774" y="899"/>
                  <a:pt x="2763" y="900"/>
                  <a:pt x="2753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80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1162080" y="4231440"/>
            <a:ext cx="293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Bulk Data Access IG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HCPD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166280" y="4286160"/>
            <a:ext cx="883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$export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134320" y="4231440"/>
            <a:ext cx="91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7743600" y="4781520"/>
            <a:ext cx="4582080" cy="314640"/>
          </a:xfrm>
          <a:custGeom>
            <a:avLst/>
            <a:gdLst/>
            <a:ahLst/>
            <a:rect l="0" t="0" r="r" b="b"/>
            <a:pathLst>
              <a:path w="12728" h="874">
                <a:moveTo>
                  <a:pt x="0" y="715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2728" y="0"/>
                </a:lnTo>
                <a:lnTo>
                  <a:pt x="12728" y="874"/>
                </a:ln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7"/>
                </a:cubicBezTo>
                <a:cubicBezTo>
                  <a:pt x="62" y="841"/>
                  <a:pt x="54" y="835"/>
                  <a:pt x="47" y="827"/>
                </a:cubicBezTo>
                <a:cubicBezTo>
                  <a:pt x="39" y="820"/>
                  <a:pt x="33" y="812"/>
                  <a:pt x="27" y="803"/>
                </a:cubicBezTo>
                <a:cubicBezTo>
                  <a:pt x="21" y="794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971640" y="4755240"/>
            <a:ext cx="6813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Proﬁles for this scenario: the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Radiology Referral and Booking IG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-2524320" y="5152680"/>
            <a:ext cx="4591440" cy="315000"/>
          </a:xfrm>
          <a:custGeom>
            <a:avLst/>
            <a:gdLst/>
            <a:ahLst/>
            <a:rect l="0" t="0" r="r" b="b"/>
            <a:pathLst>
              <a:path w="12754" h="875">
                <a:moveTo>
                  <a:pt x="0" y="875"/>
                </a:moveTo>
                <a:lnTo>
                  <a:pt x="0" y="0"/>
                </a:lnTo>
                <a:lnTo>
                  <a:pt x="12595" y="0"/>
                </a:lnTo>
                <a:cubicBezTo>
                  <a:pt x="12606" y="0"/>
                  <a:pt x="12616" y="1"/>
                  <a:pt x="12626" y="4"/>
                </a:cubicBezTo>
                <a:cubicBezTo>
                  <a:pt x="12636" y="6"/>
                  <a:pt x="12646" y="9"/>
                  <a:pt x="12656" y="13"/>
                </a:cubicBezTo>
                <a:cubicBezTo>
                  <a:pt x="12666" y="17"/>
                  <a:pt x="12675" y="21"/>
                  <a:pt x="12683" y="27"/>
                </a:cubicBezTo>
                <a:cubicBezTo>
                  <a:pt x="12692" y="33"/>
                  <a:pt x="12700" y="40"/>
                  <a:pt x="12707" y="47"/>
                </a:cubicBezTo>
                <a:cubicBezTo>
                  <a:pt x="12715" y="54"/>
                  <a:pt x="12721" y="62"/>
                  <a:pt x="12727" y="71"/>
                </a:cubicBezTo>
                <a:cubicBezTo>
                  <a:pt x="12733" y="80"/>
                  <a:pt x="12738" y="89"/>
                  <a:pt x="12742" y="99"/>
                </a:cubicBezTo>
                <a:cubicBezTo>
                  <a:pt x="12746" y="109"/>
                  <a:pt x="12749" y="119"/>
                  <a:pt x="12751" y="129"/>
                </a:cubicBezTo>
                <a:cubicBezTo>
                  <a:pt x="12753" y="139"/>
                  <a:pt x="12754" y="150"/>
                  <a:pt x="12754" y="160"/>
                </a:cubicBezTo>
                <a:lnTo>
                  <a:pt x="12754" y="716"/>
                </a:lnTo>
                <a:cubicBezTo>
                  <a:pt x="12754" y="726"/>
                  <a:pt x="12753" y="737"/>
                  <a:pt x="12751" y="747"/>
                </a:cubicBezTo>
                <a:cubicBezTo>
                  <a:pt x="12749" y="757"/>
                  <a:pt x="12746" y="767"/>
                  <a:pt x="12742" y="777"/>
                </a:cubicBezTo>
                <a:cubicBezTo>
                  <a:pt x="12738" y="786"/>
                  <a:pt x="12733" y="795"/>
                  <a:pt x="12727" y="804"/>
                </a:cubicBezTo>
                <a:cubicBezTo>
                  <a:pt x="12721" y="813"/>
                  <a:pt x="12715" y="821"/>
                  <a:pt x="12707" y="828"/>
                </a:cubicBezTo>
                <a:cubicBezTo>
                  <a:pt x="12700" y="835"/>
                  <a:pt x="12692" y="842"/>
                  <a:pt x="12683" y="848"/>
                </a:cubicBezTo>
                <a:cubicBezTo>
                  <a:pt x="12675" y="854"/>
                  <a:pt x="12666" y="859"/>
                  <a:pt x="12656" y="862"/>
                </a:cubicBezTo>
                <a:cubicBezTo>
                  <a:pt x="12646" y="866"/>
                  <a:pt x="12636" y="869"/>
                  <a:pt x="12626" y="872"/>
                </a:cubicBezTo>
                <a:cubicBezTo>
                  <a:pt x="12616" y="874"/>
                  <a:pt x="12606" y="875"/>
                  <a:pt x="12595" y="875"/>
                </a:cubicBezTo>
                <a:lnTo>
                  <a:pt x="0" y="875"/>
                </a:ln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7823880" y="4819680"/>
            <a:ext cx="34070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github.com/aehrc/radiology-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971640" y="5191200"/>
            <a:ext cx="10094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referral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2066040" y="5126760"/>
            <a:ext cx="3412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(builds on AU eRequesting 1.0.1).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666720" y="21240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666720" y="1663200"/>
            <a:ext cx="3758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Two streams, run in parallel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942840" y="3019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66720" y="2384640"/>
            <a:ext cx="203688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Browser core path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942840" y="3457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1162080" y="2898000"/>
            <a:ext cx="892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HCPD queries, referral creation and booking via a client (Postman / Bruno / test harness)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1162080" y="3336120"/>
            <a:ext cx="7453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Right for less-technical participants and anyone with locked-down laptops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666720" y="3908520"/>
            <a:ext cx="374220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Developer deep dive (~10 people)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942840" y="4971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162080" y="4421880"/>
            <a:ext cx="7309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Local tooling, extending the workﬂow, validation and state management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162080" y="4850640"/>
            <a:ext cx="6285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Laptop permissions and prerequisites shared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before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the event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666720" y="2428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676080" y="3047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1990440" y="304776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676080" y="3485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1990440" y="348588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676080" y="3924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1990440" y="392400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66672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1990440" y="26096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2000160" y="260964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998208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666720" y="304776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2000160" y="304776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66672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1990440" y="3057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998208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66672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666720" y="3485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1990440" y="3495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2000160" y="348588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998208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66672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666720" y="392400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1990440" y="3933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2000160" y="392400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998208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666720" y="43621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2000160" y="436212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666720" y="1958760"/>
            <a:ext cx="4010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1 — Thursday 29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117440" y="270576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745240" y="270576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799920" y="3143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11:30–13:00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2123640" y="3143880"/>
            <a:ext cx="775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Kick-oﬀ &amp; environment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scenario intro, roles, HCPD connectivity, seed data; split streams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799920" y="3582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14:00–15:00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2123640" y="3582000"/>
            <a:ext cx="4958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Discovery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HCPD queries; resolve the receiving Endpoint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799920" y="402012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15:30–17:00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6467400" y="4028760"/>
            <a:ext cx="1105200" cy="276840"/>
          </a:xfrm>
          <a:custGeom>
            <a:avLst/>
            <a:gdLst/>
            <a:ahLst/>
            <a:rect l="0" t="0" r="r" b="b"/>
            <a:pathLst>
              <a:path w="307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2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2" y="16"/>
                  <a:pt x="2991" y="21"/>
                  <a:pt x="2999" y="27"/>
                </a:cubicBezTo>
                <a:cubicBezTo>
                  <a:pt x="3008" y="33"/>
                  <a:pt x="3016" y="40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80"/>
                  <a:pt x="3054" y="89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9"/>
                  <a:pt x="3070" y="159"/>
                </a:cubicBezTo>
                <a:lnTo>
                  <a:pt x="3070" y="609"/>
                </a:lnTo>
                <a:cubicBezTo>
                  <a:pt x="3070" y="619"/>
                  <a:pt x="3069" y="630"/>
                  <a:pt x="3067" y="640"/>
                </a:cubicBezTo>
                <a:cubicBezTo>
                  <a:pt x="3065" y="650"/>
                  <a:pt x="3062" y="660"/>
                  <a:pt x="3058" y="670"/>
                </a:cubicBezTo>
                <a:cubicBezTo>
                  <a:pt x="3054" y="679"/>
                  <a:pt x="3049" y="688"/>
                  <a:pt x="3043" y="697"/>
                </a:cubicBezTo>
                <a:cubicBezTo>
                  <a:pt x="3037" y="707"/>
                  <a:pt x="3031" y="715"/>
                  <a:pt x="3023" y="722"/>
                </a:cubicBezTo>
                <a:cubicBezTo>
                  <a:pt x="3016" y="730"/>
                  <a:pt x="3008" y="736"/>
                  <a:pt x="2999" y="742"/>
                </a:cubicBezTo>
                <a:cubicBezTo>
                  <a:pt x="2991" y="748"/>
                  <a:pt x="2982" y="753"/>
                  <a:pt x="2972" y="757"/>
                </a:cubicBezTo>
                <a:cubicBezTo>
                  <a:pt x="2962" y="761"/>
                  <a:pt x="2952" y="764"/>
                  <a:pt x="2942" y="766"/>
                </a:cubicBezTo>
                <a:cubicBezTo>
                  <a:pt x="2932" y="768"/>
                  <a:pt x="2922" y="769"/>
                  <a:pt x="2911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7"/>
                </a:cubicBezTo>
                <a:cubicBezTo>
                  <a:pt x="21" y="688"/>
                  <a:pt x="16" y="679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2123640" y="4020120"/>
            <a:ext cx="4364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creation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ServiceRequest + Task Bundle; 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6536880" y="4068720"/>
            <a:ext cx="9622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1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7569720" y="4020120"/>
            <a:ext cx="724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on HAPI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666720" y="4555440"/>
            <a:ext cx="771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(Plenaries 9:00–10:30, morning tea 11:00, lunch 13:00, afternoon tea 15:00.)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676080" y="2828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1990440" y="282888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676080" y="3267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1990440" y="326700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676080" y="370512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1990440" y="370512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676080" y="41432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1990440" y="414324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666720" y="2390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19904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2000160" y="23907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794376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666720" y="2828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000160" y="282888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19904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794376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66672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19904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000160" y="326700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794376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666720" y="3705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19904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000160" y="370512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794376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666720" y="4143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19904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000160" y="414324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794376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666720" y="45813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2000160" y="45813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66720" y="1739520"/>
            <a:ext cx="36003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2 — Friday 30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117440" y="248652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4725720" y="248652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799920" y="2924640"/>
            <a:ext cx="956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9:30–10:30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2123640" y="2924640"/>
            <a:ext cx="568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Filler triage &amp; availability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accept / reject / on-hold; publish Slots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799920" y="33627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11:00–12:30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2123640" y="3362760"/>
            <a:ext cx="5627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Appointment, conﬁrm, cancel &amp; rebook, negative 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799920" y="3800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13:30–15:00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2123640" y="3800880"/>
            <a:ext cx="3568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end-to-end + stretch goals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99920" y="4239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15:30–16:30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2123640" y="4239000"/>
            <a:ext cx="3117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Show and Tell!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demo the full ﬂow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66720" y="4774320"/>
            <a:ext cx="796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(Recap 9:00, morning tea 10:30, lunch 12:30, afternoon tea 15:00, close 16:30.)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666720" y="2263320"/>
            <a:ext cx="2029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Getting started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1162080" y="2945520"/>
            <a:ext cx="905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Servers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(conﬁrm 2026 URLs)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secured &amp; open FHIR endpoints on the shared HAPI server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4647960" y="3400200"/>
            <a:ext cx="3076920" cy="324360"/>
          </a:xfrm>
          <a:custGeom>
            <a:avLst/>
            <a:gdLst/>
            <a:ahLst/>
            <a:rect l="0" t="0" r="r" b="b"/>
            <a:pathLst>
              <a:path w="8547" h="901">
                <a:moveTo>
                  <a:pt x="0" y="74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8" y="1"/>
                  <a:pt x="8418" y="3"/>
                </a:cubicBezTo>
                <a:cubicBezTo>
                  <a:pt x="8429" y="5"/>
                  <a:pt x="8439" y="8"/>
                  <a:pt x="8448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5" y="33"/>
                  <a:pt x="8493" y="39"/>
                  <a:pt x="8501" y="47"/>
                </a:cubicBezTo>
                <a:cubicBezTo>
                  <a:pt x="8508" y="54"/>
                  <a:pt x="8515" y="62"/>
                  <a:pt x="8520" y="71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8"/>
                  <a:pt x="8542" y="118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741"/>
                </a:lnTo>
                <a:cubicBezTo>
                  <a:pt x="8547" y="751"/>
                  <a:pt x="8546" y="762"/>
                  <a:pt x="8544" y="772"/>
                </a:cubicBezTo>
                <a:cubicBezTo>
                  <a:pt x="8542" y="782"/>
                  <a:pt x="8539" y="792"/>
                  <a:pt x="8535" y="802"/>
                </a:cubicBezTo>
                <a:cubicBezTo>
                  <a:pt x="8531" y="811"/>
                  <a:pt x="8526" y="820"/>
                  <a:pt x="8520" y="829"/>
                </a:cubicBezTo>
                <a:cubicBezTo>
                  <a:pt x="8515" y="838"/>
                  <a:pt x="8508" y="846"/>
                  <a:pt x="8501" y="853"/>
                </a:cubicBezTo>
                <a:cubicBezTo>
                  <a:pt x="8493" y="861"/>
                  <a:pt x="8485" y="867"/>
                  <a:pt x="8477" y="873"/>
                </a:cubicBezTo>
                <a:cubicBezTo>
                  <a:pt x="8468" y="879"/>
                  <a:pt x="8459" y="884"/>
                  <a:pt x="8448" y="888"/>
                </a:cubicBezTo>
                <a:cubicBezTo>
                  <a:pt x="8439" y="892"/>
                  <a:pt x="8429" y="896"/>
                  <a:pt x="8418" y="898"/>
                </a:cubicBezTo>
                <a:cubicBezTo>
                  <a:pt x="8408" y="900"/>
                  <a:pt x="8398" y="901"/>
                  <a:pt x="8387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2"/>
                  <a:pt x="98" y="888"/>
                </a:cubicBezTo>
                <a:cubicBezTo>
                  <a:pt x="89" y="884"/>
                  <a:pt x="79" y="879"/>
                  <a:pt x="71" y="873"/>
                </a:cubicBezTo>
                <a:cubicBezTo>
                  <a:pt x="62" y="867"/>
                  <a:pt x="54" y="861"/>
                  <a:pt x="47" y="853"/>
                </a:cubicBezTo>
                <a:cubicBezTo>
                  <a:pt x="39" y="846"/>
                  <a:pt x="33" y="838"/>
                  <a:pt x="27" y="829"/>
                </a:cubicBezTo>
                <a:cubicBezTo>
                  <a:pt x="21" y="820"/>
                  <a:pt x="16" y="811"/>
                  <a:pt x="12" y="802"/>
                </a:cubicBezTo>
                <a:cubicBezTo>
                  <a:pt x="8" y="792"/>
                  <a:pt x="5" y="782"/>
                  <a:pt x="3" y="772"/>
                </a:cubicBezTo>
                <a:cubicBezTo>
                  <a:pt x="1" y="762"/>
                  <a:pt x="0" y="751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162080" y="3374280"/>
            <a:ext cx="3509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Every HCPD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sends header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4732920" y="3438360"/>
            <a:ext cx="2902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X-Request-ID: &lt;UUID v4&gt;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6143400" y="3838320"/>
            <a:ext cx="1305360" cy="314640"/>
          </a:xfrm>
          <a:custGeom>
            <a:avLst/>
            <a:gdLst/>
            <a:ahLst/>
            <a:rect l="0" t="0" r="r" b="b"/>
            <a:pathLst>
              <a:path w="362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8" y="5"/>
                  <a:pt x="3518" y="8"/>
                  <a:pt x="3528" y="12"/>
                </a:cubicBezTo>
                <a:cubicBezTo>
                  <a:pt x="3538" y="16"/>
                  <a:pt x="3547" y="21"/>
                  <a:pt x="3555" y="27"/>
                </a:cubicBezTo>
                <a:cubicBezTo>
                  <a:pt x="3564" y="33"/>
                  <a:pt x="3572" y="39"/>
                  <a:pt x="3579" y="47"/>
                </a:cubicBezTo>
                <a:cubicBezTo>
                  <a:pt x="3587" y="54"/>
                  <a:pt x="3593" y="62"/>
                  <a:pt x="3599" y="71"/>
                </a:cubicBezTo>
                <a:cubicBezTo>
                  <a:pt x="3605" y="79"/>
                  <a:pt x="3610" y="89"/>
                  <a:pt x="3614" y="98"/>
                </a:cubicBezTo>
                <a:cubicBezTo>
                  <a:pt x="3618" y="108"/>
                  <a:pt x="3621" y="118"/>
                  <a:pt x="3623" y="128"/>
                </a:cubicBezTo>
                <a:cubicBezTo>
                  <a:pt x="3625" y="138"/>
                  <a:pt x="3626" y="149"/>
                  <a:pt x="3626" y="159"/>
                </a:cubicBezTo>
                <a:lnTo>
                  <a:pt x="3626" y="716"/>
                </a:lnTo>
                <a:cubicBezTo>
                  <a:pt x="3626" y="726"/>
                  <a:pt x="3625" y="736"/>
                  <a:pt x="3623" y="747"/>
                </a:cubicBezTo>
                <a:cubicBezTo>
                  <a:pt x="3621" y="757"/>
                  <a:pt x="3618" y="767"/>
                  <a:pt x="3614" y="776"/>
                </a:cubicBezTo>
                <a:cubicBezTo>
                  <a:pt x="3610" y="786"/>
                  <a:pt x="3605" y="795"/>
                  <a:pt x="3599" y="804"/>
                </a:cubicBezTo>
                <a:cubicBezTo>
                  <a:pt x="3593" y="812"/>
                  <a:pt x="3587" y="820"/>
                  <a:pt x="3579" y="828"/>
                </a:cubicBezTo>
                <a:cubicBezTo>
                  <a:pt x="3572" y="835"/>
                  <a:pt x="3564" y="842"/>
                  <a:pt x="3555" y="848"/>
                </a:cubicBezTo>
                <a:cubicBezTo>
                  <a:pt x="3547" y="853"/>
                  <a:pt x="3538" y="858"/>
                  <a:pt x="3528" y="862"/>
                </a:cubicBezTo>
                <a:cubicBezTo>
                  <a:pt x="3518" y="866"/>
                  <a:pt x="3508" y="869"/>
                  <a:pt x="3498" y="871"/>
                </a:cubicBezTo>
                <a:cubicBezTo>
                  <a:pt x="3488" y="873"/>
                  <a:pt x="3478" y="874"/>
                  <a:pt x="346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7" y="828"/>
                </a:cubicBezTo>
                <a:cubicBezTo>
                  <a:pt x="39" y="820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1162080" y="3812400"/>
            <a:ext cx="5034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Validate against the QH IG / AU eRequesting with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6227640" y="3876480"/>
            <a:ext cx="11361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162080" y="4250520"/>
            <a:ext cx="7029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Bring your laptop, synthetic data, and your ideas — nothing sensitive!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666720" y="2466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666720" y="447660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942840" y="2800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666720" y="2006280"/>
            <a:ext cx="4397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Open decisions (before we start)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162080" y="2678760"/>
            <a:ext cx="6136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access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SIT credentials &amp; onboarding for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2199960" y="313344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2220840" y="319536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2282760" y="32299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1162080" y="3116880"/>
            <a:ext cx="1017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Directory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942840" y="3666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2456280" y="3116880"/>
            <a:ext cx="593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test Endpoints in HCPD, or a local mirror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1162080" y="3545640"/>
            <a:ext cx="689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Who books?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referrer directly, or ﬁller after triage (support both?)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1162080" y="3983760"/>
            <a:ext cx="857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Transport &amp; security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shared HAPI vs push to discovered endpoint; open vs SMART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4200480" y="4533840"/>
            <a:ext cx="1933920" cy="314640"/>
          </a:xfrm>
          <a:custGeom>
            <a:avLst/>
            <a:gdLst/>
            <a:ahLst/>
            <a:rect l="0" t="0" r="r" b="b"/>
            <a:pathLst>
              <a:path w="5372" h="874">
                <a:moveTo>
                  <a:pt x="0" y="71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213" y="0"/>
                </a:lnTo>
                <a:cubicBezTo>
                  <a:pt x="5223" y="0"/>
                  <a:pt x="5234" y="1"/>
                  <a:pt x="5244" y="3"/>
                </a:cubicBezTo>
                <a:cubicBezTo>
                  <a:pt x="5254" y="5"/>
                  <a:pt x="5264" y="8"/>
                  <a:pt x="5274" y="12"/>
                </a:cubicBezTo>
                <a:cubicBezTo>
                  <a:pt x="5283" y="16"/>
                  <a:pt x="5292" y="21"/>
                  <a:pt x="5301" y="26"/>
                </a:cubicBezTo>
                <a:cubicBezTo>
                  <a:pt x="5310" y="32"/>
                  <a:pt x="5318" y="39"/>
                  <a:pt x="5325" y="46"/>
                </a:cubicBezTo>
                <a:cubicBezTo>
                  <a:pt x="5333" y="54"/>
                  <a:pt x="5339" y="62"/>
                  <a:pt x="5345" y="71"/>
                </a:cubicBezTo>
                <a:cubicBezTo>
                  <a:pt x="5351" y="80"/>
                  <a:pt x="5356" y="89"/>
                  <a:pt x="5360" y="99"/>
                </a:cubicBezTo>
                <a:cubicBezTo>
                  <a:pt x="5364" y="108"/>
                  <a:pt x="5367" y="118"/>
                  <a:pt x="5369" y="128"/>
                </a:cubicBezTo>
                <a:cubicBezTo>
                  <a:pt x="5371" y="139"/>
                  <a:pt x="5372" y="149"/>
                  <a:pt x="5372" y="159"/>
                </a:cubicBezTo>
                <a:lnTo>
                  <a:pt x="5372" y="715"/>
                </a:lnTo>
                <a:cubicBezTo>
                  <a:pt x="5372" y="725"/>
                  <a:pt x="5371" y="736"/>
                  <a:pt x="5369" y="746"/>
                </a:cubicBezTo>
                <a:cubicBezTo>
                  <a:pt x="5367" y="756"/>
                  <a:pt x="5364" y="766"/>
                  <a:pt x="5360" y="776"/>
                </a:cubicBezTo>
                <a:cubicBezTo>
                  <a:pt x="5356" y="785"/>
                  <a:pt x="5351" y="795"/>
                  <a:pt x="5345" y="803"/>
                </a:cubicBezTo>
                <a:cubicBezTo>
                  <a:pt x="5339" y="812"/>
                  <a:pt x="5333" y="820"/>
                  <a:pt x="5325" y="827"/>
                </a:cubicBezTo>
                <a:cubicBezTo>
                  <a:pt x="5318" y="835"/>
                  <a:pt x="5310" y="841"/>
                  <a:pt x="5301" y="847"/>
                </a:cubicBezTo>
                <a:cubicBezTo>
                  <a:pt x="5292" y="853"/>
                  <a:pt x="5283" y="858"/>
                  <a:pt x="5274" y="862"/>
                </a:cubicBezTo>
                <a:cubicBezTo>
                  <a:pt x="5264" y="866"/>
                  <a:pt x="5254" y="869"/>
                  <a:pt x="5244" y="871"/>
                </a:cubicBezTo>
                <a:cubicBezTo>
                  <a:pt x="5234" y="873"/>
                  <a:pt x="5223" y="874"/>
                  <a:pt x="5213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2" y="841"/>
                  <a:pt x="53" y="835"/>
                  <a:pt x="46" y="827"/>
                </a:cubicBezTo>
                <a:cubicBezTo>
                  <a:pt x="39" y="820"/>
                  <a:pt x="32" y="812"/>
                  <a:pt x="26" y="803"/>
                </a:cubicBezTo>
                <a:cubicBezTo>
                  <a:pt x="21" y="795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971640" y="4507560"/>
            <a:ext cx="3266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Tracked as GitHub issues on the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4283280" y="457200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track:services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6135480" y="4507560"/>
            <a:ext cx="604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label.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66720" y="1948680"/>
            <a:ext cx="260208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Let's build it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66720" y="2985480"/>
            <a:ext cx="4330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Questions, ideas, and let's FHIR it up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1771560" y="3600360"/>
            <a:ext cx="3886560" cy="295560"/>
          </a:xfrm>
          <a:custGeom>
            <a:avLst/>
            <a:gdLst/>
            <a:ahLst/>
            <a:rect l="0" t="0" r="r" b="b"/>
            <a:pathLst>
              <a:path w="107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10637" y="0"/>
                </a:lnTo>
                <a:cubicBezTo>
                  <a:pt x="10647" y="0"/>
                  <a:pt x="10658" y="1"/>
                  <a:pt x="10668" y="3"/>
                </a:cubicBezTo>
                <a:cubicBezTo>
                  <a:pt x="10678" y="5"/>
                  <a:pt x="10688" y="8"/>
                  <a:pt x="10698" y="12"/>
                </a:cubicBezTo>
                <a:cubicBezTo>
                  <a:pt x="10707" y="16"/>
                  <a:pt x="10717" y="21"/>
                  <a:pt x="10725" y="27"/>
                </a:cubicBezTo>
                <a:cubicBezTo>
                  <a:pt x="10734" y="32"/>
                  <a:pt x="10742" y="39"/>
                  <a:pt x="10749" y="46"/>
                </a:cubicBezTo>
                <a:cubicBezTo>
                  <a:pt x="10757" y="54"/>
                  <a:pt x="10763" y="62"/>
                  <a:pt x="10769" y="70"/>
                </a:cubicBezTo>
                <a:cubicBezTo>
                  <a:pt x="10775" y="79"/>
                  <a:pt x="10780" y="88"/>
                  <a:pt x="10784" y="98"/>
                </a:cubicBezTo>
                <a:cubicBezTo>
                  <a:pt x="10788" y="107"/>
                  <a:pt x="10791" y="117"/>
                  <a:pt x="10793" y="128"/>
                </a:cubicBezTo>
                <a:cubicBezTo>
                  <a:pt x="10795" y="138"/>
                  <a:pt x="10796" y="148"/>
                  <a:pt x="10796" y="158"/>
                </a:cubicBezTo>
                <a:lnTo>
                  <a:pt x="10796" y="662"/>
                </a:lnTo>
                <a:cubicBezTo>
                  <a:pt x="10796" y="673"/>
                  <a:pt x="10795" y="683"/>
                  <a:pt x="10793" y="693"/>
                </a:cubicBezTo>
                <a:cubicBezTo>
                  <a:pt x="10791" y="703"/>
                  <a:pt x="10788" y="713"/>
                  <a:pt x="10784" y="723"/>
                </a:cubicBezTo>
                <a:cubicBezTo>
                  <a:pt x="10780" y="733"/>
                  <a:pt x="10775" y="742"/>
                  <a:pt x="10769" y="750"/>
                </a:cubicBezTo>
                <a:cubicBezTo>
                  <a:pt x="10763" y="759"/>
                  <a:pt x="10757" y="767"/>
                  <a:pt x="10749" y="774"/>
                </a:cubicBezTo>
                <a:cubicBezTo>
                  <a:pt x="10742" y="782"/>
                  <a:pt x="10734" y="788"/>
                  <a:pt x="10725" y="794"/>
                </a:cubicBezTo>
                <a:cubicBezTo>
                  <a:pt x="10717" y="800"/>
                  <a:pt x="10707" y="805"/>
                  <a:pt x="10698" y="809"/>
                </a:cubicBezTo>
                <a:cubicBezTo>
                  <a:pt x="10688" y="813"/>
                  <a:pt x="10678" y="816"/>
                  <a:pt x="10668" y="818"/>
                </a:cubicBezTo>
                <a:cubicBezTo>
                  <a:pt x="10658" y="820"/>
                  <a:pt x="10647" y="821"/>
                  <a:pt x="10637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66720" y="3582720"/>
            <a:ext cx="1113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Repository: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1852920" y="3639240"/>
            <a:ext cx="37468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github.com/aehrc/qh-connectathon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5972040" y="3600360"/>
            <a:ext cx="3648240" cy="295560"/>
          </a:xfrm>
          <a:custGeom>
            <a:avLst/>
            <a:gdLst/>
            <a:ahLst/>
            <a:rect l="0" t="0" r="r" b="b"/>
            <a:pathLst>
              <a:path w="1013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976" y="0"/>
                </a:lnTo>
                <a:cubicBezTo>
                  <a:pt x="9986" y="0"/>
                  <a:pt x="9996" y="1"/>
                  <a:pt x="10007" y="3"/>
                </a:cubicBezTo>
                <a:cubicBezTo>
                  <a:pt x="10017" y="5"/>
                  <a:pt x="10027" y="8"/>
                  <a:pt x="10036" y="12"/>
                </a:cubicBezTo>
                <a:cubicBezTo>
                  <a:pt x="10046" y="16"/>
                  <a:pt x="10055" y="21"/>
                  <a:pt x="10064" y="27"/>
                </a:cubicBezTo>
                <a:cubicBezTo>
                  <a:pt x="10073" y="32"/>
                  <a:pt x="10081" y="39"/>
                  <a:pt x="10088" y="46"/>
                </a:cubicBezTo>
                <a:cubicBezTo>
                  <a:pt x="10095" y="54"/>
                  <a:pt x="10102" y="62"/>
                  <a:pt x="10108" y="70"/>
                </a:cubicBezTo>
                <a:cubicBezTo>
                  <a:pt x="10113" y="79"/>
                  <a:pt x="10118" y="88"/>
                  <a:pt x="10122" y="98"/>
                </a:cubicBezTo>
                <a:cubicBezTo>
                  <a:pt x="10126" y="107"/>
                  <a:pt x="10129" y="117"/>
                  <a:pt x="10131" y="128"/>
                </a:cubicBezTo>
                <a:cubicBezTo>
                  <a:pt x="10133" y="138"/>
                  <a:pt x="10134" y="148"/>
                  <a:pt x="10134" y="158"/>
                </a:cubicBezTo>
                <a:lnTo>
                  <a:pt x="10134" y="662"/>
                </a:lnTo>
                <a:cubicBezTo>
                  <a:pt x="10134" y="673"/>
                  <a:pt x="10133" y="683"/>
                  <a:pt x="10131" y="693"/>
                </a:cubicBezTo>
                <a:cubicBezTo>
                  <a:pt x="10129" y="703"/>
                  <a:pt x="10126" y="713"/>
                  <a:pt x="10122" y="723"/>
                </a:cubicBezTo>
                <a:cubicBezTo>
                  <a:pt x="10118" y="733"/>
                  <a:pt x="10113" y="742"/>
                  <a:pt x="10108" y="750"/>
                </a:cubicBezTo>
                <a:cubicBezTo>
                  <a:pt x="10102" y="759"/>
                  <a:pt x="10095" y="767"/>
                  <a:pt x="10088" y="774"/>
                </a:cubicBezTo>
                <a:cubicBezTo>
                  <a:pt x="10081" y="782"/>
                  <a:pt x="10073" y="788"/>
                  <a:pt x="10064" y="794"/>
                </a:cubicBezTo>
                <a:cubicBezTo>
                  <a:pt x="10055" y="800"/>
                  <a:pt x="10046" y="805"/>
                  <a:pt x="10036" y="809"/>
                </a:cubicBezTo>
                <a:cubicBezTo>
                  <a:pt x="10027" y="813"/>
                  <a:pt x="10017" y="816"/>
                  <a:pt x="10007" y="818"/>
                </a:cubicBezTo>
                <a:cubicBezTo>
                  <a:pt x="9996" y="820"/>
                  <a:pt x="9986" y="821"/>
                  <a:pt x="9976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5660280" y="3582720"/>
            <a:ext cx="309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→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6048360" y="3639240"/>
            <a:ext cx="3512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2026-10-29/1-FHIR-For-Services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981000" y="4095720"/>
            <a:ext cx="4239000" cy="295560"/>
          </a:xfrm>
          <a:custGeom>
            <a:avLst/>
            <a:gdLst/>
            <a:ahLst/>
            <a:rect l="0" t="0" r="r" b="b"/>
            <a:pathLst>
              <a:path w="11775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1616" y="0"/>
                </a:lnTo>
                <a:cubicBezTo>
                  <a:pt x="11626" y="0"/>
                  <a:pt x="11637" y="1"/>
                  <a:pt x="11647" y="3"/>
                </a:cubicBezTo>
                <a:cubicBezTo>
                  <a:pt x="11657" y="5"/>
                  <a:pt x="11667" y="8"/>
                  <a:pt x="11677" y="12"/>
                </a:cubicBezTo>
                <a:cubicBezTo>
                  <a:pt x="11686" y="16"/>
                  <a:pt x="11695" y="21"/>
                  <a:pt x="11704" y="26"/>
                </a:cubicBezTo>
                <a:cubicBezTo>
                  <a:pt x="11713" y="32"/>
                  <a:pt x="11721" y="39"/>
                  <a:pt x="11728" y="46"/>
                </a:cubicBezTo>
                <a:cubicBezTo>
                  <a:pt x="11736" y="53"/>
                  <a:pt x="11742" y="61"/>
                  <a:pt x="11748" y="70"/>
                </a:cubicBezTo>
                <a:cubicBezTo>
                  <a:pt x="11754" y="79"/>
                  <a:pt x="11759" y="88"/>
                  <a:pt x="11763" y="98"/>
                </a:cubicBezTo>
                <a:cubicBezTo>
                  <a:pt x="11767" y="107"/>
                  <a:pt x="11770" y="117"/>
                  <a:pt x="11772" y="127"/>
                </a:cubicBezTo>
                <a:cubicBezTo>
                  <a:pt x="11774" y="138"/>
                  <a:pt x="11775" y="148"/>
                  <a:pt x="11775" y="158"/>
                </a:cubicBezTo>
                <a:lnTo>
                  <a:pt x="11775" y="662"/>
                </a:lnTo>
                <a:cubicBezTo>
                  <a:pt x="11775" y="672"/>
                  <a:pt x="11774" y="683"/>
                  <a:pt x="11772" y="693"/>
                </a:cubicBezTo>
                <a:cubicBezTo>
                  <a:pt x="11770" y="703"/>
                  <a:pt x="11767" y="713"/>
                  <a:pt x="11763" y="723"/>
                </a:cubicBezTo>
                <a:cubicBezTo>
                  <a:pt x="11759" y="732"/>
                  <a:pt x="11754" y="742"/>
                  <a:pt x="11748" y="750"/>
                </a:cubicBezTo>
                <a:cubicBezTo>
                  <a:pt x="11742" y="759"/>
                  <a:pt x="11736" y="767"/>
                  <a:pt x="11728" y="774"/>
                </a:cubicBezTo>
                <a:cubicBezTo>
                  <a:pt x="11721" y="782"/>
                  <a:pt x="11713" y="788"/>
                  <a:pt x="11704" y="794"/>
                </a:cubicBezTo>
                <a:cubicBezTo>
                  <a:pt x="11695" y="800"/>
                  <a:pt x="11686" y="805"/>
                  <a:pt x="11677" y="809"/>
                </a:cubicBezTo>
                <a:cubicBezTo>
                  <a:pt x="11667" y="813"/>
                  <a:pt x="11657" y="816"/>
                  <a:pt x="11647" y="818"/>
                </a:cubicBezTo>
                <a:cubicBezTo>
                  <a:pt x="11637" y="820"/>
                  <a:pt x="11626" y="821"/>
                  <a:pt x="11616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7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6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666720" y="4078080"/>
            <a:ext cx="3146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IG: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1059120" y="4134600"/>
            <a:ext cx="4097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github.com/aehrc/radiology-referral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1942920" y="4600440"/>
            <a:ext cx="3534120" cy="295560"/>
          </a:xfrm>
          <a:custGeom>
            <a:avLst/>
            <a:gdLst/>
            <a:ahLst/>
            <a:rect l="0" t="0" r="r" b="b"/>
            <a:pathLst>
              <a:path w="9817" h="821">
                <a:moveTo>
                  <a:pt x="0" y="66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658" y="0"/>
                </a:lnTo>
                <a:cubicBezTo>
                  <a:pt x="9669" y="0"/>
                  <a:pt x="9679" y="1"/>
                  <a:pt x="9689" y="3"/>
                </a:cubicBezTo>
                <a:cubicBezTo>
                  <a:pt x="9699" y="5"/>
                  <a:pt x="9709" y="8"/>
                  <a:pt x="9719" y="12"/>
                </a:cubicBezTo>
                <a:cubicBezTo>
                  <a:pt x="9729" y="16"/>
                  <a:pt x="9738" y="21"/>
                  <a:pt x="9746" y="27"/>
                </a:cubicBezTo>
                <a:cubicBezTo>
                  <a:pt x="9755" y="32"/>
                  <a:pt x="9763" y="39"/>
                  <a:pt x="9771" y="46"/>
                </a:cubicBezTo>
                <a:cubicBezTo>
                  <a:pt x="9778" y="54"/>
                  <a:pt x="9784" y="62"/>
                  <a:pt x="9790" y="70"/>
                </a:cubicBezTo>
                <a:cubicBezTo>
                  <a:pt x="9796" y="79"/>
                  <a:pt x="9801" y="88"/>
                  <a:pt x="9805" y="98"/>
                </a:cubicBezTo>
                <a:cubicBezTo>
                  <a:pt x="9809" y="108"/>
                  <a:pt x="9812" y="117"/>
                  <a:pt x="9814" y="128"/>
                </a:cubicBezTo>
                <a:cubicBezTo>
                  <a:pt x="9816" y="138"/>
                  <a:pt x="9817" y="148"/>
                  <a:pt x="9817" y="159"/>
                </a:cubicBezTo>
                <a:lnTo>
                  <a:pt x="9817" y="661"/>
                </a:lnTo>
                <a:cubicBezTo>
                  <a:pt x="9817" y="672"/>
                  <a:pt x="9816" y="682"/>
                  <a:pt x="9814" y="692"/>
                </a:cubicBezTo>
                <a:cubicBezTo>
                  <a:pt x="9812" y="703"/>
                  <a:pt x="9809" y="712"/>
                  <a:pt x="9805" y="722"/>
                </a:cubicBezTo>
                <a:cubicBezTo>
                  <a:pt x="9801" y="732"/>
                  <a:pt x="9796" y="741"/>
                  <a:pt x="9790" y="750"/>
                </a:cubicBezTo>
                <a:cubicBezTo>
                  <a:pt x="9784" y="759"/>
                  <a:pt x="9778" y="767"/>
                  <a:pt x="9771" y="775"/>
                </a:cubicBezTo>
                <a:cubicBezTo>
                  <a:pt x="9763" y="782"/>
                  <a:pt x="9755" y="789"/>
                  <a:pt x="9746" y="794"/>
                </a:cubicBezTo>
                <a:cubicBezTo>
                  <a:pt x="9738" y="800"/>
                  <a:pt x="9729" y="805"/>
                  <a:pt x="9719" y="809"/>
                </a:cubicBezTo>
                <a:cubicBezTo>
                  <a:pt x="9709" y="813"/>
                  <a:pt x="9699" y="816"/>
                  <a:pt x="9689" y="818"/>
                </a:cubicBezTo>
                <a:cubicBezTo>
                  <a:pt x="9679" y="820"/>
                  <a:pt x="9669" y="821"/>
                  <a:pt x="9658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8" y="805"/>
                  <a:pt x="79" y="800"/>
                  <a:pt x="71" y="794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7"/>
                  <a:pt x="33" y="759"/>
                  <a:pt x="27" y="750"/>
                </a:cubicBezTo>
                <a:cubicBezTo>
                  <a:pt x="21" y="741"/>
                  <a:pt x="16" y="732"/>
                  <a:pt x="12" y="722"/>
                </a:cubicBezTo>
                <a:cubicBezTo>
                  <a:pt x="8" y="712"/>
                  <a:pt x="5" y="703"/>
                  <a:pt x="3" y="692"/>
                </a:cubicBezTo>
                <a:cubicBezTo>
                  <a:pt x="1" y="682"/>
                  <a:pt x="0" y="672"/>
                  <a:pt x="0" y="66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666720" y="4582800"/>
            <a:ext cx="12884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Referrer app: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2018160" y="4639320"/>
            <a:ext cx="339480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patient-referral.onrender.com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5600520" y="4600440"/>
            <a:ext cx="4581720" cy="295560"/>
          </a:xfrm>
          <a:custGeom>
            <a:avLst/>
            <a:gdLst/>
            <a:ahLst/>
            <a:rect l="0" t="0" r="r" b="b"/>
            <a:pathLst>
              <a:path w="12727" h="821">
                <a:moveTo>
                  <a:pt x="0" y="66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2569" y="0"/>
                </a:lnTo>
                <a:cubicBezTo>
                  <a:pt x="12579" y="0"/>
                  <a:pt x="12589" y="1"/>
                  <a:pt x="12600" y="3"/>
                </a:cubicBezTo>
                <a:cubicBezTo>
                  <a:pt x="12610" y="5"/>
                  <a:pt x="12620" y="8"/>
                  <a:pt x="12629" y="12"/>
                </a:cubicBezTo>
                <a:cubicBezTo>
                  <a:pt x="12639" y="16"/>
                  <a:pt x="12648" y="21"/>
                  <a:pt x="12657" y="27"/>
                </a:cubicBezTo>
                <a:cubicBezTo>
                  <a:pt x="12666" y="32"/>
                  <a:pt x="12674" y="39"/>
                  <a:pt x="12681" y="46"/>
                </a:cubicBezTo>
                <a:cubicBezTo>
                  <a:pt x="12688" y="54"/>
                  <a:pt x="12695" y="62"/>
                  <a:pt x="12701" y="70"/>
                </a:cubicBezTo>
                <a:cubicBezTo>
                  <a:pt x="12706" y="79"/>
                  <a:pt x="12711" y="88"/>
                  <a:pt x="12715" y="98"/>
                </a:cubicBezTo>
                <a:cubicBezTo>
                  <a:pt x="12719" y="108"/>
                  <a:pt x="12722" y="117"/>
                  <a:pt x="12724" y="128"/>
                </a:cubicBezTo>
                <a:cubicBezTo>
                  <a:pt x="12726" y="138"/>
                  <a:pt x="12727" y="148"/>
                  <a:pt x="12727" y="159"/>
                </a:cubicBezTo>
                <a:lnTo>
                  <a:pt x="12727" y="661"/>
                </a:lnTo>
                <a:cubicBezTo>
                  <a:pt x="12727" y="672"/>
                  <a:pt x="12726" y="682"/>
                  <a:pt x="12724" y="692"/>
                </a:cubicBezTo>
                <a:cubicBezTo>
                  <a:pt x="12722" y="703"/>
                  <a:pt x="12719" y="712"/>
                  <a:pt x="12715" y="722"/>
                </a:cubicBezTo>
                <a:cubicBezTo>
                  <a:pt x="12711" y="732"/>
                  <a:pt x="12706" y="741"/>
                  <a:pt x="12701" y="750"/>
                </a:cubicBezTo>
                <a:cubicBezTo>
                  <a:pt x="12695" y="759"/>
                  <a:pt x="12688" y="767"/>
                  <a:pt x="12681" y="775"/>
                </a:cubicBezTo>
                <a:cubicBezTo>
                  <a:pt x="12674" y="782"/>
                  <a:pt x="12666" y="789"/>
                  <a:pt x="12657" y="794"/>
                </a:cubicBezTo>
                <a:cubicBezTo>
                  <a:pt x="12648" y="800"/>
                  <a:pt x="12639" y="805"/>
                  <a:pt x="12629" y="809"/>
                </a:cubicBezTo>
                <a:cubicBezTo>
                  <a:pt x="12620" y="813"/>
                  <a:pt x="12610" y="816"/>
                  <a:pt x="12600" y="818"/>
                </a:cubicBezTo>
                <a:cubicBezTo>
                  <a:pt x="12589" y="820"/>
                  <a:pt x="12579" y="821"/>
                  <a:pt x="12569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8" y="805"/>
                  <a:pt x="79" y="800"/>
                  <a:pt x="71" y="794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7"/>
                  <a:pt x="33" y="759"/>
                  <a:pt x="27" y="750"/>
                </a:cubicBezTo>
                <a:cubicBezTo>
                  <a:pt x="21" y="741"/>
                  <a:pt x="16" y="732"/>
                  <a:pt x="12" y="722"/>
                </a:cubicBezTo>
                <a:cubicBezTo>
                  <a:pt x="8" y="712"/>
                  <a:pt x="5" y="703"/>
                  <a:pt x="3" y="692"/>
                </a:cubicBezTo>
                <a:cubicBezTo>
                  <a:pt x="1" y="682"/>
                  <a:pt x="0" y="672"/>
                  <a:pt x="0" y="66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5475960" y="45828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</a:t>
            </a:r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(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5674680" y="4639320"/>
            <a:ext cx="444780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github.com/mjosborne1/Patient-Referral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10181160" y="45828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)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